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97" r:id="rId5"/>
    <p:sldMasterId id="2147483695" r:id="rId6"/>
    <p:sldMasterId id="2147483684" r:id="rId7"/>
  </p:sldMasterIdLst>
  <p:notesMasterIdLst>
    <p:notesMasterId r:id="rId36"/>
  </p:notesMasterIdLst>
  <p:handoutMasterIdLst>
    <p:handoutMasterId r:id="rId37"/>
  </p:handoutMasterIdLst>
  <p:sldIdLst>
    <p:sldId id="272" r:id="rId8"/>
    <p:sldId id="259" r:id="rId9"/>
    <p:sldId id="269" r:id="rId10"/>
    <p:sldId id="270" r:id="rId11"/>
    <p:sldId id="273" r:id="rId12"/>
    <p:sldId id="261" r:id="rId13"/>
    <p:sldId id="267" r:id="rId14"/>
    <p:sldId id="260" r:id="rId15"/>
    <p:sldId id="285" r:id="rId16"/>
    <p:sldId id="284" r:id="rId17"/>
    <p:sldId id="291" r:id="rId18"/>
    <p:sldId id="275" r:id="rId19"/>
    <p:sldId id="281" r:id="rId20"/>
    <p:sldId id="286" r:id="rId21"/>
    <p:sldId id="276" r:id="rId22"/>
    <p:sldId id="278" r:id="rId23"/>
    <p:sldId id="279" r:id="rId24"/>
    <p:sldId id="277" r:id="rId25"/>
    <p:sldId id="290" r:id="rId26"/>
    <p:sldId id="280" r:id="rId27"/>
    <p:sldId id="283" r:id="rId28"/>
    <p:sldId id="288" r:id="rId29"/>
    <p:sldId id="282" r:id="rId30"/>
    <p:sldId id="264" r:id="rId31"/>
    <p:sldId id="287" r:id="rId32"/>
    <p:sldId id="292" r:id="rId33"/>
    <p:sldId id="265" r:id="rId34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session" id="{9248E0E9-B469-42C5-B521-34DBB63F9E0C}">
          <p14:sldIdLst>
            <p14:sldId id="272"/>
            <p14:sldId id="259"/>
            <p14:sldId id="269"/>
            <p14:sldId id="270"/>
          </p14:sldIdLst>
        </p14:section>
        <p14:section name="The session" id="{9BCE8471-468A-4538-82B3-E4E62B0A593E}">
          <p14:sldIdLst>
            <p14:sldId id="273"/>
            <p14:sldId id="261"/>
            <p14:sldId id="267"/>
            <p14:sldId id="260"/>
            <p14:sldId id="285"/>
            <p14:sldId id="284"/>
            <p14:sldId id="291"/>
            <p14:sldId id="275"/>
            <p14:sldId id="281"/>
            <p14:sldId id="286"/>
            <p14:sldId id="276"/>
            <p14:sldId id="278"/>
            <p14:sldId id="279"/>
            <p14:sldId id="277"/>
            <p14:sldId id="290"/>
            <p14:sldId id="280"/>
            <p14:sldId id="283"/>
            <p14:sldId id="288"/>
            <p14:sldId id="282"/>
            <p14:sldId id="264"/>
            <p14:sldId id="287"/>
            <p14:sldId id="292"/>
            <p14:sldId id="265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4ED"/>
    <a:srgbClr val="3B2A47"/>
    <a:srgbClr val="3B2B46"/>
    <a:srgbClr val="346297"/>
    <a:srgbClr val="000000"/>
    <a:srgbClr val="FFFFFF"/>
    <a:srgbClr val="346296"/>
    <a:srgbClr val="E646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9DF284-ECBD-EE42-323A-0CB3009BCB25}" v="1" dt="2026-03-15T16:37:1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1" autoAdjust="0"/>
    <p:restoredTop sz="94660"/>
  </p:normalViewPr>
  <p:slideViewPr>
    <p:cSldViewPr snapToGrid="0">
      <p:cViewPr>
        <p:scale>
          <a:sx n="94" d="100"/>
          <a:sy n="94" d="100"/>
        </p:scale>
        <p:origin x="24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viewProps" Target="viewProps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microsoft.com/office/2016/11/relationships/changesInfo" Target="changesInfos/changesInfo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microsoft.com/office/2015/10/relationships/revisionInfo" Target="revisionInfo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3fc23928-bba0-4562-a674-cd833cae88c5::" providerId="AD" clId="Web-{AE9DF284-ECBD-EE42-323A-0CB3009BCB25}"/>
    <pc:docChg chg="sldOrd">
      <pc:chgData name="Guest User" userId="S::urn:spo:tenantanon#3fc23928-bba0-4562-a674-cd833cae88c5::" providerId="AD" clId="Web-{AE9DF284-ECBD-EE42-323A-0CB3009BCB25}" dt="2026-03-15T16:37:15.482" v="0"/>
      <pc:docMkLst>
        <pc:docMk/>
      </pc:docMkLst>
      <pc:sldChg chg="ord">
        <pc:chgData name="Guest User" userId="S::urn:spo:tenantanon#3fc23928-bba0-4562-a674-cd833cae88c5::" providerId="AD" clId="Web-{AE9DF284-ECBD-EE42-323A-0CB3009BCB25}" dt="2026-03-15T16:37:15.482" v="0"/>
        <pc:sldMkLst>
          <pc:docMk/>
          <pc:sldMk cId="3315886587" sldId="272"/>
        </pc:sldMkLst>
      </pc:sldChg>
    </pc:docChg>
  </pc:docChgLst>
  <pc:docChgLst>
    <pc:chgData name="Thorsten Butz" userId="995738bf-6772-44af-a78c-76b53e4bf37d" providerId="ADAL" clId="{47724D17-2FBF-476D-95A4-639784F55674}"/>
    <pc:docChg chg="undo custSel mod modSld">
      <pc:chgData name="Thorsten Butz" userId="995738bf-6772-44af-a78c-76b53e4bf37d" providerId="ADAL" clId="{47724D17-2FBF-476D-95A4-639784F55674}" dt="2026-03-05T15:47:53.409" v="10" actId="692"/>
      <pc:docMkLst>
        <pc:docMk/>
      </pc:docMkLst>
      <pc:sldChg chg="addSp delSp modSp mod">
        <pc:chgData name="Thorsten Butz" userId="995738bf-6772-44af-a78c-76b53e4bf37d" providerId="ADAL" clId="{47724D17-2FBF-476D-95A4-639784F55674}" dt="2026-03-05T15:47:53.409" v="10" actId="692"/>
        <pc:sldMkLst>
          <pc:docMk/>
          <pc:sldMk cId="3984835757" sldId="261"/>
        </pc:sldMkLst>
        <pc:picChg chg="mod">
          <ac:chgData name="Thorsten Butz" userId="995738bf-6772-44af-a78c-76b53e4bf37d" providerId="ADAL" clId="{47724D17-2FBF-476D-95A4-639784F55674}" dt="2026-03-05T15:47:53.409" v="10" actId="692"/>
          <ac:picMkLst>
            <pc:docMk/>
            <pc:sldMk cId="3984835757" sldId="261"/>
            <ac:picMk id="8" creationId="{C4BDF3A9-64A1-2EA9-AABD-6B9AFBACBB04}"/>
          </ac:picMkLst>
        </pc:picChg>
      </pc:sldChg>
    </pc:docChg>
  </pc:docChgLst>
  <pc:docChgLst>
    <pc:chgData name="Geoffroy Dubreuil" userId="36186b9b-dc71-47e0-bff2-bd95e619117d" providerId="ADAL" clId="{77CD6894-02A7-403D-85B8-E33CDE72DEFB}"/>
    <pc:docChg chg="custSel modSld">
      <pc:chgData name="Geoffroy Dubreuil" userId="36186b9b-dc71-47e0-bff2-bd95e619117d" providerId="ADAL" clId="{77CD6894-02A7-403D-85B8-E33CDE72DEFB}" dt="2026-03-06T12:20:58.394" v="42" actId="113"/>
      <pc:docMkLst>
        <pc:docMk/>
      </pc:docMkLst>
      <pc:sldChg chg="addSp modSp mod">
        <pc:chgData name="Geoffroy Dubreuil" userId="36186b9b-dc71-47e0-bff2-bd95e619117d" providerId="ADAL" clId="{77CD6894-02A7-403D-85B8-E33CDE72DEFB}" dt="2026-03-06T12:20:58.394" v="42" actId="113"/>
        <pc:sldMkLst>
          <pc:docMk/>
          <pc:sldMk cId="1101361508" sldId="260"/>
        </pc:sldMkLst>
        <pc:spChg chg="add mod">
          <ac:chgData name="Geoffroy Dubreuil" userId="36186b9b-dc71-47e0-bff2-bd95e619117d" providerId="ADAL" clId="{77CD6894-02A7-403D-85B8-E33CDE72DEFB}" dt="2026-03-06T12:20:58.394" v="42" actId="113"/>
          <ac:spMkLst>
            <pc:docMk/>
            <pc:sldMk cId="1101361508" sldId="260"/>
            <ac:spMk id="4" creationId="{0EB8D984-3C84-80FA-2E8F-3981EC58C35C}"/>
          </ac:spMkLst>
        </pc:spChg>
      </pc:sldChg>
      <pc:sldChg chg="modSp mod">
        <pc:chgData name="Geoffroy Dubreuil" userId="36186b9b-dc71-47e0-bff2-bd95e619117d" providerId="ADAL" clId="{77CD6894-02A7-403D-85B8-E33CDE72DEFB}" dt="2026-03-05T15:46:09.927" v="29" actId="6549"/>
        <pc:sldMkLst>
          <pc:docMk/>
          <pc:sldMk cId="2831095747" sldId="271"/>
        </pc:sldMkLst>
        <pc:spChg chg="mod">
          <ac:chgData name="Geoffroy Dubreuil" userId="36186b9b-dc71-47e0-bff2-bd95e619117d" providerId="ADAL" clId="{77CD6894-02A7-403D-85B8-E33CDE72DEFB}" dt="2026-03-05T15:44:38.088" v="20" actId="255"/>
          <ac:spMkLst>
            <pc:docMk/>
            <pc:sldMk cId="2831095747" sldId="271"/>
            <ac:spMk id="2" creationId="{A196BBFD-A430-8F6F-DBB7-52C55DB3DA2F}"/>
          </ac:spMkLst>
        </pc:spChg>
        <pc:spChg chg="mod">
          <ac:chgData name="Geoffroy Dubreuil" userId="36186b9b-dc71-47e0-bff2-bd95e619117d" providerId="ADAL" clId="{77CD6894-02A7-403D-85B8-E33CDE72DEFB}" dt="2026-03-05T15:46:09.927" v="29" actId="6549"/>
          <ac:spMkLst>
            <pc:docMk/>
            <pc:sldMk cId="2831095747" sldId="271"/>
            <ac:spMk id="3" creationId="{A13D084F-E8FE-14E3-7A60-1AB8B95A44C2}"/>
          </ac:spMkLst>
        </pc:spChg>
      </pc:sldChg>
      <pc:sldChg chg="addSp modSp mod">
        <pc:chgData name="Geoffroy Dubreuil" userId="36186b9b-dc71-47e0-bff2-bd95e619117d" providerId="ADAL" clId="{77CD6894-02A7-403D-85B8-E33CDE72DEFB}" dt="2026-03-06T08:17:18.852" v="31" actId="1076"/>
        <pc:sldMkLst>
          <pc:docMk/>
          <pc:sldMk cId="923274605" sldId="274"/>
        </pc:sldMkLst>
        <pc:picChg chg="add mod">
          <ac:chgData name="Geoffroy Dubreuil" userId="36186b9b-dc71-47e0-bff2-bd95e619117d" providerId="ADAL" clId="{77CD6894-02A7-403D-85B8-E33CDE72DEFB}" dt="2026-03-06T08:17:18.852" v="31" actId="1076"/>
          <ac:picMkLst>
            <pc:docMk/>
            <pc:sldMk cId="923274605" sldId="274"/>
            <ac:picMk id="2" creationId="{8C7569A3-761E-DEAA-1C30-F448FEB741F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BDC4E67-8CB2-26CB-9842-22F9A691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31EB5F-53B0-CDA3-72A4-3FA9BE40D0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40670-43D7-400A-ABC5-B69E064DBB3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B1E06-E4F0-A1A2-1EFB-AD58FA1AF7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061963-6110-4C16-C593-C8C56E4881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274045-2E90-4839-9E75-1C1FCF04B5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183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1B03A4-75C9-4E3D-9183-2102CA9AEC33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39206-A81D-4F76-8486-302187992F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807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6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53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7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726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600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9542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7406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F4320-F425-B877-E5D7-20C69E2E5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64BF022-4165-8326-25E5-7D0D23E4D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7000411-B3A5-682F-5214-8F4967A8D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1F23B6-03B9-DBD8-2B30-49695B540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653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308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342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ue">
    <p:bg>
      <p:bgPr>
        <a:solidFill>
          <a:srgbClr val="3462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8615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1666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65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4C786-AD10-7D88-1933-9D7659D25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Your bio</a:t>
            </a:r>
            <a:endParaRPr lang="en-GB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1BA7B894-6BCA-2B29-BA04-8AAB1735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3" y="324853"/>
            <a:ext cx="78864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Speaker’s name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33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FF0C1-723F-8331-7203-2AD1CA308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00EBD9-8D5A-98D4-BC92-CE5E1C756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723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D202-8931-7832-6C93-86B82B686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BBC0C-D418-7F75-653D-7BD01A94C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02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93987-4D9C-734A-F0DD-FA7C5E5B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C8F2A-06F7-926F-11A3-0E18B5E0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60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D26B-2105-B752-1559-A5E7E3580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B2030-5E24-3C76-AF6E-BEABDB29D9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EF88D-DEBE-FA6D-7C2B-49DE203B9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0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F04B-2070-B32A-26F9-689ACEB1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72153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51C8F-389D-6D1D-529E-8F7B5D25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AB8FD-3AC0-420A-CD1A-4BB2C4DEB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E0881B-0B39-A9CB-08B8-7FA6C0D98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7CCB1-27F7-D503-AC18-183950FAE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728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4D49-1A5A-DFCF-8CA7-93B2889E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019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0470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1FA22-F0C4-1510-0E4C-953C802C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368D-1D41-F3F9-3D07-85EFF2CFB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3765E-1500-5380-7D29-9BED9AFAFC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4134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19606-9316-A7A0-65BC-635A494F0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637042-5D0D-C650-5659-376D12BF8F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F090A-47F3-1576-D5A3-105EE3376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48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3B042-3840-06BB-E1DF-E9094D81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C1C5E-7112-083E-8A66-4B30A4DD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36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7.sv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6B6AA1A-3151-3AC2-83FB-1C6A4D626C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38E8CAF-D224-9556-511F-8D65E9383F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91" y="137310"/>
            <a:ext cx="4166241" cy="1426795"/>
          </a:xfrm>
          <a:prstGeom prst="rect">
            <a:avLst/>
          </a:prstGeom>
        </p:spPr>
      </p:pic>
      <p:pic>
        <p:nvPicPr>
          <p:cNvPr id="8" name="Image 7" descr="Une image contenant Police, Graphique, typographie, graphisme&#10;&#10;Le contenu généré par l’IA peut être incorrect.">
            <a:extLst>
              <a:ext uri="{FF2B5EF4-FFF2-40B4-BE49-F238E27FC236}">
                <a16:creationId xmlns:a16="http://schemas.microsoft.com/office/drawing/2014/main" id="{B287398A-20D9-4E87-9997-CB57AB2CCEE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00" y="6074646"/>
            <a:ext cx="2471121" cy="37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427B60B6-58D4-7B9F-C29A-CE66AF93F596}"/>
              </a:ext>
            </a:extLst>
          </p:cNvPr>
          <p:cNvSpPr txBox="1">
            <a:spLocks/>
          </p:cNvSpPr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5000">
                <a:latin typeface="Stencil" panose="040409050D0802020404" pitchFamily="82" charset="0"/>
              </a:rPr>
              <a:t> 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87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E6A8F4F5-7628-E9E8-23A7-09169C6794F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FC40251A-A850-BFFB-8B10-8DF9490B82FC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4BA6D3-5703-2B33-8381-A6B521E4EF59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5940FBC8-A0C6-2B5F-1902-D32A817C99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31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5400" b="1" kern="1200" dirty="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3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1B01AB94-EEA2-3211-2551-34A16625A1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57010D-0C09-8FBA-F719-A4ED7C3F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054D6-CB61-3142-2199-DDEA2FD48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6122872C-58E4-4D8E-43AD-82C6D51A6C2A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  <a:p>
            <a:endParaRPr lang="en-GB" b="1" dirty="0">
              <a:solidFill>
                <a:srgbClr val="3B2B46"/>
              </a:solidFill>
            </a:endParaRP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59BD5C5E-FB1B-A32E-1927-AB6A3C9A66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22738" y="196674"/>
            <a:ext cx="1062038" cy="904875"/>
          </a:xfrm>
          <a:prstGeom prst="rect">
            <a:avLst/>
          </a:prstGeom>
        </p:spPr>
      </p:pic>
      <p:pic>
        <p:nvPicPr>
          <p:cNvPr id="12" name="Image 11" descr="Une image contenant Police, Graphique, capture d’écran, graphisme&#10;&#10;Le contenu généré par l’IA peut être incorrect.">
            <a:extLst>
              <a:ext uri="{FF2B5EF4-FFF2-40B4-BE49-F238E27FC236}">
                <a16:creationId xmlns:a16="http://schemas.microsoft.com/office/drawing/2014/main" id="{9DA822DC-EA6F-C834-636F-0CFA0983C12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716" y="1147469"/>
            <a:ext cx="1169451" cy="376843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E16A90F8-D789-E1FC-28F1-B2BFBC4CC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662" y="6335963"/>
            <a:ext cx="365125" cy="36512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26EC41D-2CB6-0B12-C26A-46F016046178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14057C36-7CA7-EB30-FD33-9F60CDAC50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99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3200" kern="1200">
          <a:solidFill>
            <a:srgbClr val="34629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12BD2B3-5213-AE89-B245-3E2067844782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>
                <a:latin typeface="Segoe UI" panose="020B0502040204020203" pitchFamily="34" charset="0"/>
                <a:cs typeface="Segoe UI" panose="020B0502040204020203" pitchFamily="34" charset="0"/>
              </a:rPr>
              <a:t>Bruce Payette</a:t>
            </a:r>
            <a:endParaRPr lang="en-GB" b="1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E9631884-5100-1BA8-2365-47609B2977D7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C34FE26-AFCF-2A09-DB2E-84FFA4D454A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3600" y="2672840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DE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</a:t>
            </a:r>
            <a:r>
              <a:rPr lang="en-US" sz="6000" b="1" err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ext</a:t>
            </a:r>
            <a:r>
              <a:rPr lang="en-US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Up:</a:t>
            </a:r>
            <a:endParaRPr lang="en-DE" sz="6000" b="1">
              <a:solidFill>
                <a:srgbClr val="346296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88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>
            <a:extLst>
              <a:ext uri="{FF2B5EF4-FFF2-40B4-BE49-F238E27FC236}">
                <a16:creationId xmlns:a16="http://schemas.microsoft.com/office/drawing/2014/main" id="{82643D59-896E-68AE-5BCA-3F8558F198E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3</a:t>
            </a:r>
            <a:endParaRPr lang="en-GB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3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04164"/>
      </p:ext>
    </p:extLst>
  </p:cSld>
  <p:clrMapOvr>
    <a:masterClrMapping/>
  </p:clrMapOvr>
  <p:transition spd="slow" advTm="1000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2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012733"/>
      </p:ext>
    </p:extLst>
  </p:cSld>
  <p:clrMapOvr>
    <a:masterClrMapping/>
  </p:clrMapOvr>
  <p:transition spd="slow" advTm="1000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latin typeface="Stencil" panose="040409050D0802020404" pitchFamily="82" charset="0"/>
              </a:rPr>
              <a:t>1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31530"/>
      </p:ext>
    </p:extLst>
  </p:cSld>
  <p:clrMapOvr>
    <a:masterClrMapping/>
  </p:clrMapOvr>
  <p:transition spd="slow" advTm="1000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FB22B504-146E-1966-17CE-BB797BC6083D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i="1" dirty="0"/>
              <a:t>Bruce Payette</a:t>
            </a:r>
            <a:endParaRPr lang="en-GB" b="1" i="1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A169C0FB-08C4-E3EC-573C-91852880EBAA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0E2348EB-2258-5792-670F-322202E63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666707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US" sz="6000" b="1" dirty="0">
                <a:solidFill>
                  <a:srgbClr val="346296"/>
                </a:solidFill>
                <a:latin typeface="+mn-lt"/>
              </a:rPr>
              <a:t>Leveraging Braid from PowerShell</a:t>
            </a:r>
            <a:endParaRPr lang="en-DE" sz="6000" b="1" dirty="0">
              <a:solidFill>
                <a:srgbClr val="346296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93816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531CB4D-40EE-4CEA-4C1F-A86C158A8A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009061" y="630961"/>
            <a:ext cx="9733280" cy="1325563"/>
          </a:xfrm>
        </p:spPr>
        <p:txBody>
          <a:bodyPr/>
          <a:lstStyle/>
          <a:p>
            <a:pPr rtl="0" eaLnBrk="1" latinLnBrk="0" hangingPunct="1"/>
            <a:r>
              <a:rPr lang="fr-FR" sz="4000" b="1" kern="1200" err="1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Many</a:t>
            </a:r>
            <a:r>
              <a:rPr lang="fr-FR" sz="4000" b="1" kern="1200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</a:t>
            </a:r>
            <a:r>
              <a:rPr lang="fr-FR" sz="4000" b="1" kern="1200" err="1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thanks</a:t>
            </a:r>
            <a:r>
              <a:rPr lang="fr-FR" sz="4000" b="1" kern="1200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to </a:t>
            </a:r>
            <a:r>
              <a:rPr lang="fr-FR" sz="4000" b="1" kern="1200" err="1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our</a:t>
            </a:r>
            <a:r>
              <a:rPr lang="fr-FR" sz="4000" b="1" kern="1200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sponsors:</a:t>
            </a:r>
            <a:endParaRPr lang="en-DE">
              <a:solidFill>
                <a:srgbClr val="3B2A47"/>
              </a:solidFill>
            </a:endParaRP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C4BDF3A9-64A1-2EA9-AABD-6B9AFBACBB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42212" y="2028538"/>
            <a:ext cx="8666978" cy="3146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835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312970-1382-905E-DF3A-5D367E6E7736}"/>
              </a:ext>
            </a:extLst>
          </p:cNvPr>
          <p:cNvSpPr txBox="1">
            <a:spLocks/>
          </p:cNvSpPr>
          <p:nvPr/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3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Founding member of the PowerShell team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Technical lead on the PowerShell language design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original PowerShell DSC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Braid language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Very interested in interactive programming languages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63F84C9-7486-D81C-EDE7-12CE856D5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2" y="324852"/>
            <a:ext cx="7886485" cy="1325563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3B2A47"/>
                </a:solidFill>
                <a:latin typeface="+mn-lt"/>
                <a:ea typeface="+mn-ea"/>
                <a:cs typeface="+mn-cs"/>
              </a:rPr>
              <a:t>Bruce Payette</a:t>
            </a:r>
            <a:endParaRPr lang="en-DE" sz="6600" dirty="0">
              <a:solidFill>
                <a:srgbClr val="3B2A47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Picture 8" descr="SPEAKER  AI-generated content may be incorrect.">
            <a:extLst>
              <a:ext uri="{FF2B5EF4-FFF2-40B4-BE49-F238E27FC236}">
                <a16:creationId xmlns:a16="http://schemas.microsoft.com/office/drawing/2014/main" id="{908D552E-B9EB-791D-371D-DACABBF8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51" y="565441"/>
            <a:ext cx="3123261" cy="31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5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91E0F2-FE77-51ED-3F72-223B5892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Agenda</a:t>
            </a:r>
            <a:endParaRPr lang="en-GB" sz="4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D5023A-BA6F-B725-CF78-FD889E577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Overview of Braid</a:t>
            </a:r>
          </a:p>
          <a:p>
            <a:r>
              <a:rPr lang="en-US" dirty="0"/>
              <a:t>Introducing the “</a:t>
            </a:r>
            <a:r>
              <a:rPr lang="en-US" dirty="0" err="1"/>
              <a:t>PSBraid</a:t>
            </a:r>
            <a:r>
              <a:rPr lang="en-US" dirty="0"/>
              <a:t>” script helper functions</a:t>
            </a:r>
          </a:p>
          <a:p>
            <a:pPr lvl="1"/>
            <a:r>
              <a:rPr lang="en-US" dirty="0"/>
              <a:t>These functions make it easier (possible) to use Braid from PowerShell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Braid highlights and differences from PowerShell</a:t>
            </a:r>
          </a:p>
          <a:p>
            <a:pPr lvl="1"/>
            <a:r>
              <a:rPr lang="en-US" dirty="0"/>
              <a:t>Demos</a:t>
            </a:r>
          </a:p>
          <a:p>
            <a:r>
              <a:rPr lang="en-US" dirty="0"/>
              <a:t>More demos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Questions</a:t>
            </a: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8D984-3C84-80FA-2E8F-3981EC58C35C}"/>
              </a:ext>
            </a:extLst>
          </p:cNvPr>
          <p:cNvSpPr/>
          <p:nvPr/>
        </p:nvSpPr>
        <p:spPr>
          <a:xfrm>
            <a:off x="12316738" y="6990522"/>
            <a:ext cx="1869713" cy="2286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1101361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EDD1B-2409-A9F5-9FA0-6B39B982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8858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What is Braid (According to Copilot)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C04B2-2033-EC52-464A-54AA83CC9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9200"/>
            <a:ext cx="10515600" cy="5355771"/>
          </a:xfrm>
        </p:spPr>
        <p:txBody>
          <a:bodyPr>
            <a:noAutofit/>
          </a:bodyPr>
          <a:lstStyle/>
          <a:p>
            <a:r>
              <a:rPr lang="en-US" sz="3200" dirty="0"/>
              <a:t>A post-PowerShell shell and scripting language created by Bruce Payette</a:t>
            </a:r>
          </a:p>
          <a:p>
            <a:r>
              <a:rPr lang="en-US" sz="3200" dirty="0"/>
              <a:t>Built on top of PowerShell, combining its object pipelines with ideas from Lisp, Scheme, and Clojure</a:t>
            </a:r>
          </a:p>
          <a:p>
            <a:r>
              <a:rPr lang="en-US" sz="3200" dirty="0"/>
              <a:t>Expression-oriented with a minimal syntax — everything is done with prefix functions and singly-linked lists</a:t>
            </a:r>
          </a:p>
          <a:p>
            <a:r>
              <a:rPr lang="en-US" sz="3200" dirty="0"/>
              <a:t>Features lexical scoping, closures, macros, pattern matching, destructuring, and tail call optimization</a:t>
            </a:r>
          </a:p>
          <a:p>
            <a:r>
              <a:rPr lang="en-US" sz="3200" dirty="0"/>
              <a:t>Supports both lazy and strict evaluation with a mix of functional and imperative programming styles</a:t>
            </a:r>
          </a:p>
        </p:txBody>
      </p:sp>
    </p:spTree>
    <p:extLst>
      <p:ext uri="{BB962C8B-B14F-4D97-AF65-F5344CB8AC3E}">
        <p14:creationId xmlns:p14="http://schemas.microsoft.com/office/powerpoint/2010/main" val="583843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1A15B-FCC9-AB3F-2DA5-14DA79F96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7739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Why Braid?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63D0F-922D-DE75-4642-2A1E560F8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301"/>
            <a:ext cx="10515600" cy="5265525"/>
          </a:xfrm>
        </p:spPr>
        <p:txBody>
          <a:bodyPr>
            <a:normAutofit/>
          </a:bodyPr>
          <a:lstStyle/>
          <a:p>
            <a:r>
              <a:rPr lang="en-US" dirty="0"/>
              <a:t>Goal: to explore some alternate ideas for an object-based shell.</a:t>
            </a:r>
          </a:p>
          <a:p>
            <a:r>
              <a:rPr lang="en-US" dirty="0"/>
              <a:t>Practically Braid is generally faster and more efficient than PowerShell so there’s that:</a:t>
            </a:r>
          </a:p>
          <a:p>
            <a:pPr marL="0" indent="0">
              <a:buNone/>
            </a:pP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time {$data | sort | out-null}   # takes 14.44 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ms</a:t>
            </a:r>
            <a:endParaRPr lang="en-US" sz="2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time {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sort $data | out-null} # takes only 4.54 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ms</a:t>
            </a:r>
            <a:endParaRPr lang="en-US" sz="2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It’s also much easier to deal with nested collections of data</a:t>
            </a:r>
          </a:p>
          <a:p>
            <a:r>
              <a:rPr lang="en-US" dirty="0"/>
              <a:t>Because it’s interesting and fun (at least to me.)</a:t>
            </a:r>
          </a:p>
        </p:txBody>
      </p:sp>
    </p:spTree>
    <p:extLst>
      <p:ext uri="{BB962C8B-B14F-4D97-AF65-F5344CB8AC3E}">
        <p14:creationId xmlns:p14="http://schemas.microsoft.com/office/powerpoint/2010/main" val="48833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3FFD0-C414-4129-3F24-1A1F6A13E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-106364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Utilities in the PSBraid.ps1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12268-4BCA-AB60-B45B-BB39D71DF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9199"/>
            <a:ext cx="8773160" cy="540802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Get-</a:t>
            </a:r>
            <a:r>
              <a:rPr lang="en-US" dirty="0" err="1"/>
              <a:t>BraidHelp</a:t>
            </a:r>
            <a:r>
              <a:rPr lang="en-US" dirty="0"/>
              <a:t> (</a:t>
            </a:r>
            <a:r>
              <a:rPr lang="en-US" dirty="0" err="1"/>
              <a:t>gbh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BraidSymbol</a:t>
            </a:r>
            <a:r>
              <a:rPr lang="en-US" dirty="0"/>
              <a:t> (</a:t>
            </a:r>
            <a:r>
              <a:rPr lang="en-US" dirty="0" err="1"/>
              <a:t>gbs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gbf</a:t>
            </a:r>
            <a:r>
              <a:rPr lang="en-US" dirty="0"/>
              <a:t>)</a:t>
            </a:r>
          </a:p>
          <a:p>
            <a:r>
              <a:rPr lang="en-US" dirty="0"/>
              <a:t>Invoke-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ibf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BraidLambda</a:t>
            </a:r>
            <a:r>
              <a:rPr lang="en-US" dirty="0"/>
              <a:t> (</a:t>
            </a:r>
            <a:r>
              <a:rPr lang="en-US" dirty="0" err="1"/>
              <a:t>nbl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BraidFunction</a:t>
            </a:r>
            <a:r>
              <a:rPr lang="en-US" dirty="0"/>
              <a:t> (</a:t>
            </a:r>
            <a:r>
              <a:rPr lang="en-US" dirty="0" err="1"/>
              <a:t>nbf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BraidExpression</a:t>
            </a:r>
            <a:r>
              <a:rPr lang="en-US" dirty="0"/>
              <a:t> (</a:t>
            </a:r>
            <a:r>
              <a:rPr lang="en-US" dirty="0" err="1"/>
              <a:t>nbe</a:t>
            </a:r>
            <a:r>
              <a:rPr lang="en-US" dirty="0"/>
              <a:t>)</a:t>
            </a:r>
          </a:p>
          <a:p>
            <a:r>
              <a:rPr lang="en-US" dirty="0"/>
              <a:t>Invoke-</a:t>
            </a:r>
            <a:r>
              <a:rPr lang="en-US" dirty="0" err="1"/>
              <a:t>BraidExpression</a:t>
            </a:r>
            <a:r>
              <a:rPr lang="en-US" dirty="0"/>
              <a:t> (</a:t>
            </a:r>
            <a:r>
              <a:rPr lang="en-US" dirty="0" err="1"/>
              <a:t>ibe</a:t>
            </a:r>
            <a:r>
              <a:rPr lang="en-US" dirty="0"/>
              <a:t>)</a:t>
            </a:r>
          </a:p>
          <a:p>
            <a:r>
              <a:rPr lang="en-US" dirty="0"/>
              <a:t>New-</a:t>
            </a:r>
            <a:r>
              <a:rPr lang="en-US" dirty="0" err="1"/>
              <a:t>BraidPipeExpression</a:t>
            </a:r>
            <a:r>
              <a:rPr lang="en-US" dirty="0"/>
              <a:t> (</a:t>
            </a:r>
            <a:r>
              <a:rPr lang="en-US" dirty="0" err="1"/>
              <a:t>nbpe</a:t>
            </a:r>
            <a:r>
              <a:rPr lang="en-US" dirty="0"/>
              <a:t>)</a:t>
            </a:r>
          </a:p>
          <a:p>
            <a:r>
              <a:rPr lang="en-US" dirty="0"/>
              <a:t>Get-</a:t>
            </a:r>
            <a:r>
              <a:rPr lang="en-US" dirty="0" err="1"/>
              <a:t>BraidVariableValue</a:t>
            </a:r>
            <a:r>
              <a:rPr lang="en-US" dirty="0"/>
              <a:t> (</a:t>
            </a:r>
            <a:r>
              <a:rPr lang="en-US" dirty="0" err="1"/>
              <a:t>gbvv</a:t>
            </a:r>
            <a:r>
              <a:rPr lang="en-US" dirty="0"/>
              <a:t>)</a:t>
            </a:r>
          </a:p>
          <a:p>
            <a:r>
              <a:rPr lang="en-US" dirty="0"/>
              <a:t>Set-</a:t>
            </a:r>
            <a:r>
              <a:rPr lang="en-US" dirty="0" err="1"/>
              <a:t>BraidVariableValue</a:t>
            </a:r>
            <a:r>
              <a:rPr lang="en-US" dirty="0"/>
              <a:t> (</a:t>
            </a:r>
            <a:r>
              <a:rPr lang="en-US" dirty="0" err="1"/>
              <a:t>sbvv</a:t>
            </a:r>
            <a:r>
              <a:rPr lang="en-US" dirty="0"/>
              <a:t>)</a:t>
            </a:r>
          </a:p>
          <a:p>
            <a:r>
              <a:rPr lang="en-US" dirty="0" err="1"/>
              <a:t>ConvertFrom-BraidSourceText</a:t>
            </a:r>
            <a:r>
              <a:rPr lang="en-US" dirty="0"/>
              <a:t> (</a:t>
            </a:r>
            <a:r>
              <a:rPr lang="en-US" dirty="0" err="1"/>
              <a:t>cfbst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213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EB40-AC22-5174-ADA7-E21F973E5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B5BAFA-98A0-7371-3A49-67072B43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Braid Highlights</a:t>
            </a:r>
            <a:endParaRPr lang="en-GB" sz="4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A856AE-5169-EEE6-C0F2-12071EF0F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It is </a:t>
            </a:r>
            <a:r>
              <a:rPr lang="en-US" i="1" dirty="0"/>
              <a:t>expression-oriented and </a:t>
            </a:r>
            <a:r>
              <a:rPr lang="en-US" dirty="0"/>
              <a:t>everything is done with </a:t>
            </a:r>
            <a:r>
              <a:rPr lang="en-US" b="1" i="1" dirty="0"/>
              <a:t>functions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Has</a:t>
            </a:r>
            <a:r>
              <a:rPr lang="en-US" b="1" dirty="0"/>
              <a:t> </a:t>
            </a:r>
            <a:r>
              <a:rPr lang="en-US" b="1" i="1" dirty="0"/>
              <a:t>symbols</a:t>
            </a:r>
            <a:r>
              <a:rPr lang="en-US" dirty="0"/>
              <a:t> which serve the purpose of variable names</a:t>
            </a:r>
          </a:p>
          <a:p>
            <a:pPr lvl="1"/>
            <a:r>
              <a:rPr lang="en-US" dirty="0"/>
              <a:t>Symbols have associated values (bindings) which can be values or functions.</a:t>
            </a:r>
          </a:p>
          <a:p>
            <a:pPr lvl="1"/>
            <a:r>
              <a:rPr lang="en-US" dirty="0"/>
              <a:t>Everything (values, functions, </a:t>
            </a:r>
            <a:r>
              <a:rPr lang="en-US" dirty="0" err="1"/>
              <a:t>etc</a:t>
            </a:r>
            <a:r>
              <a:rPr lang="en-US" dirty="0"/>
              <a:t>) live in the same namespace.</a:t>
            </a:r>
          </a:p>
          <a:p>
            <a:pPr marL="457200" lvl="1" indent="0">
              <a:buNone/>
            </a:pPr>
            <a:r>
              <a:rPr lang="en-US" dirty="0"/>
              <a:t>	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gbs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foo  # get the symbol associated with “foo”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i="1" dirty="0"/>
              <a:t>Code</a:t>
            </a:r>
            <a:r>
              <a:rPr lang="en-US" dirty="0"/>
              <a:t> is represented as singly-linked </a:t>
            </a:r>
            <a:r>
              <a:rPr lang="en-US" b="1" i="1" dirty="0"/>
              <a:t>lists</a:t>
            </a:r>
            <a:r>
              <a:rPr lang="en-US" dirty="0"/>
              <a:t> of elements: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(+ 1 2 3)          	# Braid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list + 1 2 3 	# PowerShell</a:t>
            </a:r>
          </a:p>
          <a:p>
            <a:r>
              <a:rPr lang="en-GB" dirty="0"/>
              <a:t>List functions: </a:t>
            </a:r>
            <a:r>
              <a:rPr lang="en-GB" sz="3100" dirty="0">
                <a:latin typeface="Cascadia Mono" panose="020B0609020000020004" pitchFamily="49" charset="0"/>
                <a:cs typeface="Cascadia Mono" panose="020B0609020000020004" pitchFamily="49" charset="0"/>
              </a:rPr>
              <a:t>car (first), </a:t>
            </a:r>
            <a:r>
              <a:rPr lang="en-GB" sz="31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cdr</a:t>
            </a:r>
            <a:r>
              <a:rPr lang="en-GB" sz="3100" dirty="0">
                <a:latin typeface="Cascadia Mono" panose="020B0609020000020004" pitchFamily="49" charset="0"/>
                <a:cs typeface="Cascadia Mono" panose="020B0609020000020004" pitchFamily="49" charset="0"/>
              </a:rPr>
              <a:t> (rest), cons, splice</a:t>
            </a:r>
            <a:endParaRPr lang="en-GB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GB" dirty="0"/>
              <a:t>Null or Nil ($null) is the empty list.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2CFEFD-69EF-1908-275B-F0DC4BD55F53}"/>
              </a:ext>
            </a:extLst>
          </p:cNvPr>
          <p:cNvSpPr/>
          <p:nvPr/>
        </p:nvSpPr>
        <p:spPr>
          <a:xfrm flipH="1">
            <a:off x="12191999" y="6785112"/>
            <a:ext cx="45719" cy="728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</a:t>
            </a:r>
            <a:r>
              <a:rPr lang="en-GB" sz="1400" dirty="0" err="1"/>
              <a:t>prction</a:t>
            </a:r>
            <a:r>
              <a:rPr lang="en-GB" sz="1400" dirty="0"/>
              <a:t>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412797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684E9-95E4-DE61-1863-E241AC9C5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566" y="112765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Core Braid Literal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EE5ED-7C2C-4ABA-7DB2-174A2688E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566" y="1256495"/>
            <a:ext cx="10515600" cy="5300870"/>
          </a:xfrm>
        </p:spPr>
        <p:txBody>
          <a:bodyPr>
            <a:normAutofit/>
          </a:bodyPr>
          <a:lstStyle/>
          <a:p>
            <a:r>
              <a:rPr lang="en-US" i="1" dirty="0"/>
              <a:t>Symbols</a:t>
            </a:r>
            <a:r>
              <a:rPr lang="en-US" dirty="0"/>
              <a:t>: atomic interned object, evaluate to their bindings</a:t>
            </a:r>
          </a:p>
          <a:p>
            <a:r>
              <a:rPr lang="en-US" i="1" dirty="0"/>
              <a:t>Keywords</a:t>
            </a:r>
            <a:r>
              <a:rPr lang="en-US" dirty="0"/>
              <a:t>: atomic interned objects, evaluate to themselves</a:t>
            </a:r>
          </a:p>
          <a:p>
            <a:r>
              <a:rPr lang="en-US" i="1" dirty="0"/>
              <a:t>Numbers</a:t>
            </a:r>
            <a:r>
              <a:rPr lang="en-US" dirty="0"/>
              <a:t>: including ^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BigInteger</a:t>
            </a:r>
            <a:r>
              <a:rPr lang="en-US" dirty="0"/>
              <a:t> and ^</a:t>
            </a:r>
            <a:r>
              <a:rPr lang="en-US" sz="2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BigDecimal</a:t>
            </a:r>
            <a:endParaRPr lang="en-US" sz="2800" dirty="0">
              <a:solidFill>
                <a:schemeClr val="accent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i="1" dirty="0"/>
              <a:t>Strings</a:t>
            </a:r>
            <a:r>
              <a:rPr lang="en-US" dirty="0"/>
              <a:t>: double quoted with interpolation</a:t>
            </a:r>
          </a:p>
          <a:p>
            <a:r>
              <a:rPr lang="en-US" i="1" dirty="0"/>
              <a:t>Types</a:t>
            </a:r>
            <a:r>
              <a:rPr lang="en-US" dirty="0"/>
              <a:t>: notation is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^int</a:t>
            </a:r>
            <a:r>
              <a:rPr lang="en-US" dirty="0"/>
              <a:t>,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^string, ^List[int]</a:t>
            </a:r>
          </a:p>
          <a:p>
            <a:r>
              <a:rPr lang="en-US" i="1" dirty="0"/>
              <a:t>Lists</a:t>
            </a:r>
            <a:r>
              <a:rPr lang="en-US" dirty="0"/>
              <a:t>: singly-linked lists for data and code</a:t>
            </a:r>
          </a:p>
        </p:txBody>
      </p:sp>
    </p:spTree>
    <p:extLst>
      <p:ext uri="{BB962C8B-B14F-4D97-AF65-F5344CB8AC3E}">
        <p14:creationId xmlns:p14="http://schemas.microsoft.com/office/powerpoint/2010/main" val="3030102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CF0B-3990-5A7B-421E-DA01D16C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662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Core Braid Data Types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D7A81-3057-11AB-4A40-A964DD734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2345"/>
            <a:ext cx="10515600" cy="4892992"/>
          </a:xfrm>
        </p:spPr>
        <p:txBody>
          <a:bodyPr>
            <a:normAutofit fontScale="92500" lnSpcReduction="10000"/>
          </a:bodyPr>
          <a:lstStyle/>
          <a:p>
            <a:r>
              <a:rPr lang="en-US" sz="4000" i="1" dirty="0"/>
              <a:t>Vectors</a:t>
            </a:r>
            <a:r>
              <a:rPr lang="en-US" sz="4000" dirty="0"/>
              <a:t> - Mutable in size and values</a:t>
            </a:r>
          </a:p>
          <a:p>
            <a:r>
              <a:rPr lang="en-US" sz="4000" i="1" dirty="0"/>
              <a:t>Sequences - </a:t>
            </a:r>
            <a:r>
              <a:rPr lang="en-US" sz="35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35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ISeq</a:t>
            </a:r>
            <a:r>
              <a:rPr lang="en-US" sz="35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implemented by lists and vectors</a:t>
            </a:r>
          </a:p>
          <a:p>
            <a:r>
              <a:rPr lang="en-US" sz="4000" i="1" dirty="0"/>
              <a:t>Dictionaries</a:t>
            </a:r>
            <a:r>
              <a:rPr lang="en-US" sz="4000" dirty="0"/>
              <a:t>: just the </a:t>
            </a:r>
            <a:r>
              <a:rPr lang="en-US" sz="4000" dirty="0" err="1"/>
              <a:t>.Net</a:t>
            </a:r>
            <a:r>
              <a:rPr lang="en-US" sz="4000" dirty="0"/>
              <a:t> type:</a:t>
            </a:r>
          </a:p>
          <a:p>
            <a:pPr marL="0" indent="0">
              <a:buNone/>
            </a:pP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System.Collections.Generic.Dictionary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&lt;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object,object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endParaRPr lang="en-US" sz="2600" dirty="0"/>
          </a:p>
          <a:p>
            <a:r>
              <a:rPr lang="en-US" sz="4000" i="1" dirty="0"/>
              <a:t>Functions</a:t>
            </a:r>
            <a:r>
              <a:rPr lang="en-US" sz="4000" dirty="0"/>
              <a:t>: built-ins, user functions, pattern functions, special forms, collections, regex, PowerShell commands, executables, scripts</a:t>
            </a:r>
          </a:p>
          <a:p>
            <a:r>
              <a:rPr lang="en-US" sz="4000" dirty="0"/>
              <a:t>Regular expression literals 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#"[0-9]+\.[0-9]+"</a:t>
            </a:r>
          </a:p>
          <a:p>
            <a:r>
              <a:rPr lang="en-US" sz="4000" i="1" dirty="0"/>
              <a:t>Macros</a:t>
            </a:r>
            <a:r>
              <a:rPr lang="en-US" sz="4000" dirty="0"/>
              <a:t>: functions executed at compile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9873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98A5F-3B58-2521-5848-56E0558DE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989" y="95159"/>
            <a:ext cx="10320130" cy="1325563"/>
          </a:xfrm>
        </p:spPr>
        <p:txBody>
          <a:bodyPr>
            <a:noAutofit/>
          </a:bodyPr>
          <a:lstStyle/>
          <a:p>
            <a:r>
              <a:rPr lang="en-US" sz="4000" dirty="0"/>
              <a:t>Differences: Bare Words, Symbols and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29990-34B3-3989-26D2-B8EC46C26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7"/>
            <a:ext cx="10515600" cy="5425440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i="1" dirty="0"/>
              <a:t>Bare words</a:t>
            </a:r>
            <a:r>
              <a:rPr lang="en-US" dirty="0"/>
              <a:t>” in PowerShell are simply strings, </a:t>
            </a:r>
            <a:r>
              <a:rPr lang="en-US" i="1" dirty="0"/>
              <a:t>indistinguishable</a:t>
            </a:r>
            <a:r>
              <a:rPr lang="en-US" dirty="0"/>
              <a:t> from quoted strings.</a:t>
            </a:r>
          </a:p>
          <a:p>
            <a:r>
              <a:rPr lang="en-US" dirty="0"/>
              <a:t>However, bare words in Braid are </a:t>
            </a:r>
            <a:r>
              <a:rPr lang="en-US" b="1" i="1" dirty="0"/>
              <a:t>symbols</a:t>
            </a:r>
            <a:r>
              <a:rPr lang="en-US" dirty="0"/>
              <a:t>, usually dereferenced for the bound value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BraidSymbol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hi # get or create the symbol “hi”</a:t>
            </a:r>
          </a:p>
          <a:p>
            <a:r>
              <a:rPr lang="en-US" dirty="0"/>
              <a:t>This issue is annoying when accessing Braid from PowerShell so there are functions to help with this:</a:t>
            </a:r>
          </a:p>
          <a:p>
            <a:pPr lvl="1"/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BraidFunction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), Get-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BraidVariableValue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gbvv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), Set-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BraidVariableValue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sbvv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76214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8DC6-3466-3F5F-36A9-258AAD80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Differences: Formatting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9EC55-378C-5628-B0B1-E292A7092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PowerShell formats all objects in a user-focused way</a:t>
            </a:r>
          </a:p>
          <a:p>
            <a:r>
              <a:rPr lang="en-US" dirty="0"/>
              <a:t>For code objects, Braid serializes the code/object into source format using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ToString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$e =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+ 1 2 3 # create a braid code expression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$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e.ToString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	 # to string returns Braid source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("+" 1 2 3)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PS&gt; (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sqr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).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ToString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defn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sqr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[number] (* number number))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0455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98730-9604-732A-A8CE-0E920726F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3536"/>
            <a:ext cx="973328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Differences: Paths and Quoting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30E65-7A80-53E9-2D38-745659C2E3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1086"/>
            <a:ext cx="10515600" cy="5347063"/>
          </a:xfrm>
        </p:spPr>
        <p:txBody>
          <a:bodyPr>
            <a:normAutofit fontScale="62500" lnSpcReduction="20000"/>
          </a:bodyPr>
          <a:lstStyle/>
          <a:p>
            <a:r>
              <a:rPr lang="en-US" sz="5800" dirty="0"/>
              <a:t>On Windows, PowerShell uses ‘\’ for paths and ‘`’ for quoting. (People complain about ‘`’ </a:t>
            </a:r>
            <a:r>
              <a:rPr lang="en-US" sz="5800" i="1" dirty="0"/>
              <a:t>a lot)</a:t>
            </a:r>
          </a:p>
          <a:p>
            <a:r>
              <a:rPr lang="en-US" sz="5800" dirty="0"/>
              <a:t>On all platforms, Braid uses ‘/’ for paths and ‘\’ for quoting</a:t>
            </a:r>
          </a:p>
          <a:p>
            <a:r>
              <a:rPr lang="en-US" sz="5800" dirty="0"/>
              <a:t>Braid has a variety of string literals: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"hello ${name}</a:t>
            </a:r>
            <a:r>
              <a:rPr lang="en-US" sz="3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 ; double quoted w string interpolation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@"foo\bat.txt"  ; @ quoted – no special processing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latin typeface="Cascadia Code" panose="020B0609020000020004" pitchFamily="49" charset="0"/>
                <a:cs typeface="Cascadia Code" panose="020B0609020000020004" pitchFamily="49" charset="0"/>
              </a:rPr>
              <a:t>""" "quotes"    ; triple-quotes can contain quotes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en-US" sz="3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"""</a:t>
            </a:r>
            <a:endParaRPr lang="en-US" sz="3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0769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E2A0E-A076-36EF-27DB-8DA8794F5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Differences: (Almost) Everything is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A101B-5626-74F8-490B-BF1E20E54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(#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^[a-z][a-z0-9]*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a string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) ; returns fail</a:t>
            </a:r>
          </a:p>
          <a:p>
            <a:r>
              <a:rPr lang="en-US" sz="3200" dirty="0">
                <a:cs typeface="Cascadia Code" panose="020B0609020000020004" pitchFamily="49" charset="0"/>
              </a:rPr>
              <a:t>Vectors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([1 2 3 4] 2) 	  ; Braid returns 3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(1,2,3,4) 2)  ; PowerShell</a:t>
            </a:r>
          </a:p>
          <a:p>
            <a:r>
              <a:rPr lang="en-US" sz="3200" dirty="0">
                <a:cs typeface="Cascadia Code" panose="020B0609020000020004" pitchFamily="49" charset="0"/>
              </a:rPr>
              <a:t>Dictionaries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({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a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2} 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b</a:t>
            </a:r>
            <a:r>
              <a:rPr lang="en-US" sz="24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) ; returns 2</a:t>
            </a:r>
          </a:p>
          <a:p>
            <a:r>
              <a:rPr lang="en-US" sz="3200" i="1" dirty="0">
                <a:cs typeface="Cascadia Code" panose="020B0609020000020004" pitchFamily="49" charset="0"/>
              </a:rPr>
              <a:t>But not Strings. Strings name the function to call.</a:t>
            </a:r>
            <a:endParaRPr lang="en-US" sz="3200" dirty="0">
              <a:cs typeface="Cascadia Code" panose="020B0609020000020004" pitchFamily="49" charset="0"/>
            </a:endParaRPr>
          </a:p>
          <a:p>
            <a:pPr lvl="1"/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abcde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 2) ; calls a function named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8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abcde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29882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2EC84-F29C-42EA-0185-60E58BF66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Accessing .NET from Braid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2FC57-0920-6942-B057-66EFDAC86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900" dirty="0"/>
              <a:t>Types start with a caret, casts use types like functions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 ^List[int]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(^int?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23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  ; cast string to int</a:t>
            </a:r>
          </a:p>
          <a:p>
            <a:r>
              <a:rPr lang="en-US" sz="3900" dirty="0"/>
              <a:t>Properties and methods are used like functions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(.Length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) 			; returns 3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(.Substring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hello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1) 	; returns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ello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(.Substring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hello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 2 2</a:t>
            </a:r>
            <a:r>
              <a:rPr lang="en-US" sz="2600">
                <a:latin typeface="Cascadia Code" panose="020B0609020000020004" pitchFamily="49" charset="0"/>
                <a:cs typeface="Cascadia Code" panose="020B0609020000020004" pitchFamily="49" charset="0"/>
              </a:rPr>
              <a:t>) 	; 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returns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ll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endParaRPr lang="en-US" sz="2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3900" dirty="0"/>
              <a:t>So are static members</a:t>
            </a:r>
          </a:p>
          <a:p>
            <a:pPr marL="457200" lvl="1" indent="0">
              <a:buNone/>
            </a:pP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(.String/Equals 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" "</a:t>
            </a:r>
            <a:r>
              <a:rPr lang="en-US" sz="26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abc</a:t>
            </a:r>
            <a:r>
              <a:rPr lang="en-US" sz="2600" dirty="0">
                <a:latin typeface="Cascadia Code" panose="020B0609020000020004" pitchFamily="49" charset="0"/>
                <a:cs typeface="Cascadia Code" panose="020B0609020000020004" pitchFamily="49" charset="0"/>
              </a:rPr>
              <a:t>") ; returns true</a:t>
            </a:r>
          </a:p>
          <a:p>
            <a:pPr marL="457200" lvl="1" indent="0">
              <a:buNone/>
            </a:pPr>
            <a:r>
              <a:rPr lang="en-US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2294724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7413-8166-9F9D-711A-EB303FFD9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Differences: Braid is Strict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FC2BC-260C-8418-7325-CC962AF54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Type constraints are strict by default but can be relaxed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	; strict constraint only allows integer values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^int?	; soft constraint, convertible to integer</a:t>
            </a:r>
          </a:p>
          <a:p>
            <a:r>
              <a:rPr lang="en-US" sz="4000" dirty="0"/>
              <a:t>Method invocation is strict by default</a:t>
            </a:r>
          </a:p>
          <a:p>
            <a:pPr lvl="1"/>
            <a:r>
              <a:rPr lang="en-US" sz="2400" dirty="0"/>
              <a:t>.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length	# property must exist on the object</a:t>
            </a:r>
          </a:p>
          <a:p>
            <a:pPr lvl="1"/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.?length	# if “length” doesn’t exist, returns null</a:t>
            </a:r>
          </a:p>
          <a:p>
            <a:pPr marL="457200" lvl="1" indent="0">
              <a:buNone/>
            </a:pPr>
            <a:endParaRPr lang="en-US" sz="2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0504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36E5F-4554-6056-C995-2A1D3AB4E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The Braid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15D97-ED64-1C2E-55E5-CC6F3415B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0825"/>
            <a:ext cx="10515600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Pipelining is supported in Braid by the function </a:t>
            </a:r>
            <a:r>
              <a:rPr lang="en-US" sz="2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pipe</a:t>
            </a:r>
            <a:r>
              <a:rPr lang="en-US" dirty="0"/>
              <a:t>.</a:t>
            </a:r>
          </a:p>
          <a:p>
            <a:r>
              <a:rPr lang="en-US" dirty="0"/>
              <a:t>“Pipelines” rewrite the first argument with the pipeline value:</a:t>
            </a:r>
          </a:p>
          <a:p>
            <a:pPr lvl="1"/>
            <a:r>
              <a:rPr lang="en-US" dirty="0"/>
              <a:t> The source </a:t>
            </a:r>
            <a:endParaRPr lang="en-US" sz="2400" dirty="0"/>
          </a:p>
          <a:p>
            <a:pPr marL="914400" lvl="2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(range 10 | filter even? | sum)</a:t>
            </a:r>
            <a:endParaRPr lang="en-US" sz="2000" dirty="0"/>
          </a:p>
          <a:p>
            <a:pPr marL="457200" lvl="1" indent="0">
              <a:buNone/>
            </a:pPr>
            <a:r>
              <a:rPr lang="en-US" dirty="0"/>
              <a:t>    becomes</a:t>
            </a:r>
          </a:p>
          <a:p>
            <a:pPr marL="914400" lvl="2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(pipe (range 10) (filter even?) (sum))</a:t>
            </a:r>
          </a:p>
          <a:p>
            <a:r>
              <a:rPr lang="en-US" dirty="0"/>
              <a:t>No special conventions are needed; every function can be pipelined</a:t>
            </a:r>
          </a:p>
          <a:p>
            <a:r>
              <a:rPr lang="en-US" dirty="0"/>
              <a:t>Pull not push (like LINQ)</a:t>
            </a:r>
          </a:p>
          <a:p>
            <a:r>
              <a:rPr lang="en-US" i="1" dirty="0"/>
              <a:t>Strict processing </a:t>
            </a:r>
            <a:r>
              <a:rPr lang="en-US" dirty="0"/>
              <a:t>semantics by default, optional lazy functions</a:t>
            </a:r>
          </a:p>
        </p:txBody>
      </p:sp>
    </p:spTree>
    <p:extLst>
      <p:ext uri="{BB962C8B-B14F-4D97-AF65-F5344CB8AC3E}">
        <p14:creationId xmlns:p14="http://schemas.microsoft.com/office/powerpoint/2010/main" val="3646530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6B77-A576-32D7-FDC6-A5453DA11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Braid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1C660-9E2C-9847-6E01-43DB44B64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9813"/>
            <a:ext cx="10515600" cy="4707150"/>
          </a:xfrm>
        </p:spPr>
        <p:txBody>
          <a:bodyPr>
            <a:normAutofit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Built-ins		# C# lambdas 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Func&lt;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Vector,Object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</a:p>
          <a:p>
            <a:pPr lvl="1"/>
            <a:r>
              <a:rPr lang="en-US" dirty="0"/>
              <a:t>User Functions	# Receives </a:t>
            </a:r>
            <a:r>
              <a:rPr lang="en-US" dirty="0" err="1"/>
              <a:t>args</a:t>
            </a:r>
            <a:r>
              <a:rPr lang="en-US" dirty="0"/>
              <a:t> evaluated</a:t>
            </a:r>
          </a:p>
          <a:p>
            <a:pPr lvl="1"/>
            <a:r>
              <a:rPr lang="en-US" dirty="0"/>
              <a:t>Pattern Functions # Match against arguments</a:t>
            </a:r>
          </a:p>
          <a:p>
            <a:pPr lvl="1"/>
            <a:r>
              <a:rPr lang="en-US" dirty="0"/>
              <a:t>Special Forms	# Receives </a:t>
            </a:r>
            <a:r>
              <a:rPr lang="en-US" dirty="0" err="1"/>
              <a:t>args</a:t>
            </a:r>
            <a:r>
              <a:rPr lang="en-US" dirty="0"/>
              <a:t> </a:t>
            </a:r>
            <a:r>
              <a:rPr lang="en-US" i="1" dirty="0"/>
              <a:t>unevaluated</a:t>
            </a:r>
          </a:p>
          <a:p>
            <a:pPr lvl="1"/>
            <a:r>
              <a:rPr lang="en-US" dirty="0"/>
              <a:t>Macros		# Run at compile time, </a:t>
            </a:r>
            <a:r>
              <a:rPr lang="en-US" dirty="0" err="1"/>
              <a:t>uneval’ed</a:t>
            </a:r>
            <a:r>
              <a:rPr lang="en-US" dirty="0"/>
              <a:t> </a:t>
            </a:r>
            <a:r>
              <a:rPr lang="en-US" dirty="0" err="1"/>
              <a:t>args</a:t>
            </a:r>
            <a:endParaRPr lang="en-US" dirty="0"/>
          </a:p>
          <a:p>
            <a:r>
              <a:rPr lang="en-US" dirty="0"/>
              <a:t>Currying/Partial evaluation</a:t>
            </a:r>
          </a:p>
          <a:p>
            <a:pPr lvl="1"/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map (1..10)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nbl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x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nbe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*)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gbs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x) 2))</a:t>
            </a:r>
          </a:p>
          <a:p>
            <a:pPr lvl="1"/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map (1..10) (</a:t>
            </a:r>
            <a:r>
              <a:rPr lang="en-US" sz="2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400" dirty="0">
                <a:latin typeface="Cascadia Code" panose="020B0609020000020004" pitchFamily="49" charset="0"/>
                <a:cs typeface="Cascadia Code" panose="020B0609020000020004" pitchFamily="49" charset="0"/>
              </a:rPr>
              <a:t> * 2)</a:t>
            </a:r>
          </a:p>
        </p:txBody>
      </p:sp>
    </p:spTree>
    <p:extLst>
      <p:ext uri="{BB962C8B-B14F-4D97-AF65-F5344CB8AC3E}">
        <p14:creationId xmlns:p14="http://schemas.microsoft.com/office/powerpoint/2010/main" val="35668604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30B1F-4EA4-6848-5577-A5B21D8A0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517"/>
            <a:ext cx="973328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Code is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4B4AF-2F47-7460-51D3-810E6DA70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080"/>
            <a:ext cx="10515600" cy="52686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$e = 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+ 1 2 3 4 # create some code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	    # returns ("+" 1 2 3 4)</a:t>
            </a:r>
          </a:p>
          <a:p>
            <a:pPr marL="0" indent="0">
              <a:buNone/>
            </a:pP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$e				# returns 10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$f = 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e.cdr.cons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("*") # change function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		# returns ("*" 1 2 3 4)</a:t>
            </a: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e.ToString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		# still ("+" 1 2 3 4)</a:t>
            </a:r>
          </a:p>
          <a:p>
            <a:pPr marL="0" indent="0">
              <a:buNone/>
            </a:pPr>
            <a:r>
              <a:rPr lang="en-US" sz="3200" dirty="0" err="1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ibe</a:t>
            </a:r>
            <a:r>
              <a:rPr lang="en-US" sz="3200" dirty="0">
                <a:solidFill>
                  <a:schemeClr val="accent1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$f 				# returns 24</a:t>
            </a:r>
          </a:p>
        </p:txBody>
      </p:sp>
    </p:spTree>
    <p:extLst>
      <p:ext uri="{BB962C8B-B14F-4D97-AF65-F5344CB8AC3E}">
        <p14:creationId xmlns:p14="http://schemas.microsoft.com/office/powerpoint/2010/main" val="17578399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67248-C99C-E892-89E1-4CBB81F02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29389"/>
            <a:ext cx="10515600" cy="1004637"/>
          </a:xfrm>
        </p:spPr>
        <p:txBody>
          <a:bodyPr/>
          <a:lstStyle/>
          <a:p>
            <a:r>
              <a:rPr lang="en-GB"/>
              <a:t>Demos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ACAFC7-78CB-98F9-FEF3-D3E8C9FF6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53758"/>
            <a:ext cx="10515600" cy="1500187"/>
          </a:xfrm>
        </p:spPr>
        <p:txBody>
          <a:bodyPr/>
          <a:lstStyle/>
          <a:p>
            <a:r>
              <a:rPr lang="en-GB"/>
              <a:t>We love Demos!</a:t>
            </a:r>
          </a:p>
        </p:txBody>
      </p:sp>
      <p:pic>
        <p:nvPicPr>
          <p:cNvPr id="9" name="Picture 9">
            <a:extLst>
              <a:ext uri="{FF2B5EF4-FFF2-40B4-BE49-F238E27FC236}">
                <a16:creationId xmlns:a16="http://schemas.microsoft.com/office/drawing/2014/main" id="{776AC288-703A-8014-23CA-E040CDD7E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191" y="615392"/>
            <a:ext cx="6127897" cy="50601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172594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47ED-3D72-5A17-A6A7-AA1A8CD25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Next steps…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710A3-3886-DC4B-4ACE-ACF9B9BD9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Clean/refactor the code</a:t>
            </a:r>
          </a:p>
          <a:p>
            <a:r>
              <a:rPr lang="en-US" dirty="0"/>
              <a:t>Make Braid into a PowerShell module</a:t>
            </a:r>
          </a:p>
          <a:p>
            <a:r>
              <a:rPr lang="en-US" dirty="0"/>
              <a:t>Add formatting configuration for Braid types</a:t>
            </a:r>
          </a:p>
          <a:p>
            <a:r>
              <a:rPr lang="en-US" dirty="0"/>
              <a:t>High-level documentation</a:t>
            </a:r>
          </a:p>
          <a:p>
            <a:r>
              <a:rPr lang="en-US" dirty="0"/>
              <a:t>Build process improvements</a:t>
            </a:r>
          </a:p>
          <a:p>
            <a:pPr lvl="1"/>
            <a:r>
              <a:rPr lang="en-US" dirty="0"/>
              <a:t>Should build on every platform</a:t>
            </a:r>
          </a:p>
          <a:p>
            <a:r>
              <a:rPr lang="en-US" dirty="0"/>
              <a:t>Create a release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7821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0C24A-59B5-A1FB-BE6F-0C543D312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B4AF7-D4AE-2F14-4CE7-6F04A5653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Braid functions from PowerShell is much more interesting than I thought it would be.</a:t>
            </a:r>
          </a:p>
          <a:p>
            <a:r>
              <a:rPr lang="en-US" dirty="0"/>
              <a:t>Try it out (after I document it a bit more), have fun!</a:t>
            </a:r>
          </a:p>
        </p:txBody>
      </p:sp>
    </p:spTree>
    <p:extLst>
      <p:ext uri="{BB962C8B-B14F-4D97-AF65-F5344CB8AC3E}">
        <p14:creationId xmlns:p14="http://schemas.microsoft.com/office/powerpoint/2010/main" val="1617294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63F7B61-5334-421F-9456-A905D333F4B3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Q&amp;A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911686-C4FE-022C-2490-99F4F5BFDF39}"/>
              </a:ext>
            </a:extLst>
          </p:cNvPr>
          <p:cNvSpPr txBox="1">
            <a:spLocks/>
          </p:cNvSpPr>
          <p:nvPr/>
        </p:nvSpPr>
        <p:spPr>
          <a:xfrm>
            <a:off x="831850" y="1653758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15 minutes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4697E65-3DA9-6EF3-472C-734FB98C3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477" y="1770873"/>
            <a:ext cx="6729046" cy="35917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4842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C2B4B-CF61-3DC5-6221-F5F99F86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AFF23A2-578F-B7AD-CC96-F1E75AA0FD82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GIVE ME FEEDBACK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8D9FEC-D0B6-03AA-2C12-1CA5AE4EB596}"/>
              </a:ext>
            </a:extLst>
          </p:cNvPr>
          <p:cNvSpPr/>
          <p:nvPr/>
        </p:nvSpPr>
        <p:spPr>
          <a:xfrm>
            <a:off x="3831771" y="2046514"/>
            <a:ext cx="3868058" cy="3868058"/>
          </a:xfrm>
          <a:prstGeom prst="rect">
            <a:avLst/>
          </a:prstGeom>
          <a:noFill/>
          <a:ln w="38100">
            <a:solidFill>
              <a:srgbClr val="3B2A47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noFill/>
                <a:prstDash val="dash"/>
              </a:ln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D424B4-E900-F6B6-EAA3-A874A8F70DAC}"/>
              </a:ext>
            </a:extLst>
          </p:cNvPr>
          <p:cNvSpPr txBox="1"/>
          <p:nvPr/>
        </p:nvSpPr>
        <p:spPr>
          <a:xfrm>
            <a:off x="4049486" y="3380378"/>
            <a:ext cx="346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Acumin Pro Black" panose="020B0904020202020204" pitchFamily="34" charset="0"/>
              </a:rPr>
              <a:t>INSERT YOUR SESSION QRCODE HERE</a:t>
            </a:r>
          </a:p>
        </p:txBody>
      </p:sp>
      <p:pic>
        <p:nvPicPr>
          <p:cNvPr id="2" name="Graphique 5">
            <a:extLst>
              <a:ext uri="{FF2B5EF4-FFF2-40B4-BE49-F238E27FC236}">
                <a16:creationId xmlns:a16="http://schemas.microsoft.com/office/drawing/2014/main" id="{8C7569A3-761E-DEAA-1C30-F448FEB74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63433" y="1514958"/>
            <a:ext cx="1679652" cy="1865420"/>
          </a:xfrm>
          <a:prstGeom prst="rect">
            <a:avLst/>
          </a:prstGeom>
        </p:spPr>
      </p:pic>
      <p:pic>
        <p:nvPicPr>
          <p:cNvPr id="7" name="Picture 6" descr="Leveraging Braid and PowerShell.">
            <a:extLst>
              <a:ext uri="{FF2B5EF4-FFF2-40B4-BE49-F238E27FC236}">
                <a16:creationId xmlns:a16="http://schemas.microsoft.com/office/drawing/2014/main" id="{4911B66F-5231-FE9F-4F9A-5272DE9004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780" y="1385455"/>
            <a:ext cx="4509621" cy="473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274605"/>
      </p:ext>
    </p:extLst>
  </p:cSld>
  <p:clrMapOvr>
    <a:masterClrMapping/>
  </p:clrMapOvr>
</p:sld>
</file>

<file path=ppt/theme/theme1.xml><?xml version="1.0" encoding="utf-8"?>
<a:theme xmlns:a="http://schemas.openxmlformats.org/drawingml/2006/main" name="Titl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peaker's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ontent">
  <a:themeElements>
    <a:clrScheme name="PSConfEU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26198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PSConfEU202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3502FDC476714EB47BD1BE2BFD7B3D" ma:contentTypeVersion="13" ma:contentTypeDescription="Create a new document." ma:contentTypeScope="" ma:versionID="0d4fb5ca5076182280cb93c7d6bdff79">
  <xsd:schema xmlns:xsd="http://www.w3.org/2001/XMLSchema" xmlns:xs="http://www.w3.org/2001/XMLSchema" xmlns:p="http://schemas.microsoft.com/office/2006/metadata/properties" xmlns:ns2="abdc9a1f-962e-4235-838d-61f9c438f4db" xmlns:ns3="de47e97d-64fd-4aef-b10e-fd7d6cfcfcf4" targetNamespace="http://schemas.microsoft.com/office/2006/metadata/properties" ma:root="true" ma:fieldsID="da14a0effa8c0f0120811d0692d695e7" ns2:_="" ns3:_="">
    <xsd:import namespace="abdc9a1f-962e-4235-838d-61f9c438f4db"/>
    <xsd:import namespace="de47e97d-64fd-4aef-b10e-fd7d6cfcfcf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dc9a1f-962e-4235-838d-61f9c438f4d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bd613703-4b30-4a23-b3bf-9e58a81c4a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47e97d-64fd-4aef-b10e-fd7d6cfcfcf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f96598e-1e7b-44ab-a102-458ae76ccdba}" ma:internalName="TaxCatchAll" ma:showField="CatchAllData" ma:web="de47e97d-64fd-4aef-b10e-fd7d6cfcfcf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bdc9a1f-962e-4235-838d-61f9c438f4db">
      <Terms xmlns="http://schemas.microsoft.com/office/infopath/2007/PartnerControls"/>
    </lcf76f155ced4ddcb4097134ff3c332f>
    <TaxCatchAll xmlns="de47e97d-64fd-4aef-b10e-fd7d6cfcfcf4" xsi:nil="true"/>
  </documentManagement>
</p:properties>
</file>

<file path=customXml/itemProps1.xml><?xml version="1.0" encoding="utf-8"?>
<ds:datastoreItem xmlns:ds="http://schemas.openxmlformats.org/officeDocument/2006/customXml" ds:itemID="{2C38D965-436F-4DCC-97AA-50BEF4F7BE29}">
  <ds:schemaRefs>
    <ds:schemaRef ds:uri="abdc9a1f-962e-4235-838d-61f9c438f4db"/>
    <ds:schemaRef ds:uri="de47e97d-64fd-4aef-b10e-fd7d6cfcfcf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D9B22B-F436-4FE5-B6C0-65AB2260F5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A9C06E3-346E-408E-B352-32E922A070CE}">
  <ds:schemaRefs>
    <ds:schemaRef ds:uri="2347cc20-e10c-452d-848a-c18e83138525"/>
    <ds:schemaRef ds:uri="58c243a5-121d-4837-b81c-114e1b569ece"/>
    <ds:schemaRef ds:uri="77f18391-c91f-4725-9130-63caf76c1806"/>
    <ds:schemaRef ds:uri="85c0ce47-fe9c-4809-bf88-519c39a738e6"/>
    <ds:schemaRef ds:uri="abdc9a1f-962e-4235-838d-61f9c438f4db"/>
    <ds:schemaRef ds:uri="de47e97d-64fd-4aef-b10e-fd7d6cfcfcf4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13265</TotalTime>
  <Words>1462</Words>
  <Application>Microsoft Office PowerPoint</Application>
  <PresentationFormat>Widescreen</PresentationFormat>
  <Paragraphs>190</Paragraphs>
  <Slides>28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28</vt:i4>
      </vt:variant>
    </vt:vector>
  </HeadingPairs>
  <TitlesOfParts>
    <vt:vector size="41" baseType="lpstr">
      <vt:lpstr>Acumin Pro Black</vt:lpstr>
      <vt:lpstr>Arial</vt:lpstr>
      <vt:lpstr>Calibri</vt:lpstr>
      <vt:lpstr>Cascadia Code</vt:lpstr>
      <vt:lpstr>Cascadia Mono</vt:lpstr>
      <vt:lpstr>Segoe UI</vt:lpstr>
      <vt:lpstr>Segoe UI Light</vt:lpstr>
      <vt:lpstr>Stencil</vt:lpstr>
      <vt:lpstr>Wingdings</vt:lpstr>
      <vt:lpstr>Title</vt:lpstr>
      <vt:lpstr>Blank</vt:lpstr>
      <vt:lpstr>Speaker's slide</vt:lpstr>
      <vt:lpstr>Content</vt:lpstr>
      <vt:lpstr>Next Up:</vt:lpstr>
      <vt:lpstr>3</vt:lpstr>
      <vt:lpstr>2</vt:lpstr>
      <vt:lpstr>1</vt:lpstr>
      <vt:lpstr>Leveraging Braid from PowerShell</vt:lpstr>
      <vt:lpstr>Many thanks to our sponsors:</vt:lpstr>
      <vt:lpstr>Bruce Payette</vt:lpstr>
      <vt:lpstr>Agenda</vt:lpstr>
      <vt:lpstr>What is Braid (According to Copilot)</vt:lpstr>
      <vt:lpstr>Why Braid?</vt:lpstr>
      <vt:lpstr>Utilities in the PSBraid.ps1 Script</vt:lpstr>
      <vt:lpstr>Braid Highlights</vt:lpstr>
      <vt:lpstr>Core Braid Literal Data Types</vt:lpstr>
      <vt:lpstr>Core Braid Data Types (cont’d)</vt:lpstr>
      <vt:lpstr>Differences: Bare Words, Symbols and Strings</vt:lpstr>
      <vt:lpstr>Differences: Formatting Output</vt:lpstr>
      <vt:lpstr>Differences: Paths and Quoting</vt:lpstr>
      <vt:lpstr>Differences: (Almost) Everything is a Function</vt:lpstr>
      <vt:lpstr>Accessing .NET from Braid</vt:lpstr>
      <vt:lpstr>Differences: Braid is Strict by default</vt:lpstr>
      <vt:lpstr>The Braid Pipeline</vt:lpstr>
      <vt:lpstr>Braid Functions</vt:lpstr>
      <vt:lpstr>Code is Data</vt:lpstr>
      <vt:lpstr>Demos</vt:lpstr>
      <vt:lpstr>Next steps…</vt:lpstr>
      <vt:lpstr>Conclusions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Bruce Payette</cp:lastModifiedBy>
  <cp:revision>188</cp:revision>
  <dcterms:created xsi:type="dcterms:W3CDTF">2024-03-26T13:08:23Z</dcterms:created>
  <dcterms:modified xsi:type="dcterms:W3CDTF">2026-05-30T14:18:27Z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0x010100333502FDC476714EB47BD1BE2BFD7B3D</vt:lpwstr>
  </property>
  <property fmtid="{D5CDD505-2E9C-101B-9397-08002B2CF9AE}" pid="3" name="MediaServiceImageTags">
    <vt:lpwstr/>
  </property>
</Properties>
</file>