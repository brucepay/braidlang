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</p:sldMasterIdLst>
  <p:notesMasterIdLst>
    <p:notesMasterId r:id="rId36"/>
  </p:notesMasterIdLst>
  <p:handoutMasterIdLst>
    <p:handoutMasterId r:id="rId37"/>
  </p:handoutMasterIdLst>
  <p:sldIdLst>
    <p:sldId id="272" r:id="rId8"/>
    <p:sldId id="259" r:id="rId9"/>
    <p:sldId id="269" r:id="rId10"/>
    <p:sldId id="270" r:id="rId11"/>
    <p:sldId id="273" r:id="rId12"/>
    <p:sldId id="261" r:id="rId13"/>
    <p:sldId id="267" r:id="rId14"/>
    <p:sldId id="260" r:id="rId15"/>
    <p:sldId id="285" r:id="rId16"/>
    <p:sldId id="284" r:id="rId17"/>
    <p:sldId id="291" r:id="rId18"/>
    <p:sldId id="275" r:id="rId19"/>
    <p:sldId id="281" r:id="rId20"/>
    <p:sldId id="286" r:id="rId21"/>
    <p:sldId id="276" r:id="rId22"/>
    <p:sldId id="278" r:id="rId23"/>
    <p:sldId id="279" r:id="rId24"/>
    <p:sldId id="277" r:id="rId25"/>
    <p:sldId id="290" r:id="rId26"/>
    <p:sldId id="280" r:id="rId27"/>
    <p:sldId id="283" r:id="rId28"/>
    <p:sldId id="288" r:id="rId29"/>
    <p:sldId id="282" r:id="rId30"/>
    <p:sldId id="264" r:id="rId31"/>
    <p:sldId id="287" r:id="rId32"/>
    <p:sldId id="292" r:id="rId33"/>
    <p:sldId id="265" r:id="rId34"/>
    <p:sldId id="27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3"/>
            <p14:sldId id="261"/>
            <p14:sldId id="267"/>
            <p14:sldId id="260"/>
            <p14:sldId id="285"/>
            <p14:sldId id="284"/>
            <p14:sldId id="291"/>
            <p14:sldId id="275"/>
            <p14:sldId id="281"/>
            <p14:sldId id="286"/>
            <p14:sldId id="276"/>
            <p14:sldId id="278"/>
            <p14:sldId id="279"/>
            <p14:sldId id="277"/>
            <p14:sldId id="290"/>
            <p14:sldId id="280"/>
            <p14:sldId id="283"/>
            <p14:sldId id="288"/>
            <p14:sldId id="282"/>
            <p14:sldId id="264"/>
            <p14:sldId id="287"/>
            <p14:sldId id="292"/>
            <p14:sldId id="26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9DF284-ECBD-EE42-323A-0CB3009BCB25}" v="1" dt="2026-03-15T16:37:15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6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microsoft.com/office/2015/10/relationships/revisionInfo" Target="revisionInfo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3fc23928-bba0-4562-a674-cd833cae88c5::" providerId="AD" clId="Web-{AE9DF284-ECBD-EE42-323A-0CB3009BCB25}"/>
    <pc:docChg chg="sldOrd">
      <pc:chgData name="Guest User" userId="S::urn:spo:tenantanon#3fc23928-bba0-4562-a674-cd833cae88c5::" providerId="AD" clId="Web-{AE9DF284-ECBD-EE42-323A-0CB3009BCB25}" dt="2026-03-15T16:37:15.482" v="0"/>
      <pc:docMkLst>
        <pc:docMk/>
      </pc:docMkLst>
      <pc:sldChg chg="ord">
        <pc:chgData name="Guest User" userId="S::urn:spo:tenantanon#3fc23928-bba0-4562-a674-cd833cae88c5::" providerId="AD" clId="Web-{AE9DF284-ECBD-EE42-323A-0CB3009BCB25}" dt="2026-03-15T16:37:15.482" v="0"/>
        <pc:sldMkLst>
          <pc:docMk/>
          <pc:sldMk cId="3315886587" sldId="272"/>
        </pc:sldMkLst>
      </pc:sldChg>
    </pc:docChg>
  </pc:docChgLst>
  <pc:docChgLst>
    <pc:chgData name="Thorsten Butz" userId="995738bf-6772-44af-a78c-76b53e4bf37d" providerId="ADAL" clId="{47724D17-2FBF-476D-95A4-639784F55674}"/>
    <pc:docChg chg="undo custSel mod modSld">
      <pc:chgData name="Thorsten Butz" userId="995738bf-6772-44af-a78c-76b53e4bf37d" providerId="ADAL" clId="{47724D17-2FBF-476D-95A4-639784F55674}" dt="2026-03-05T15:47:53.409" v="10" actId="692"/>
      <pc:docMkLst>
        <pc:docMk/>
      </pc:docMkLst>
      <pc:sldChg chg="addSp delSp modSp mod">
        <pc:chgData name="Thorsten Butz" userId="995738bf-6772-44af-a78c-76b53e4bf37d" providerId="ADAL" clId="{47724D17-2FBF-476D-95A4-639784F55674}" dt="2026-03-05T15:47:53.409" v="10" actId="692"/>
        <pc:sldMkLst>
          <pc:docMk/>
          <pc:sldMk cId="3984835757" sldId="261"/>
        </pc:sldMkLst>
        <pc:picChg chg="mod">
          <ac:chgData name="Thorsten Butz" userId="995738bf-6772-44af-a78c-76b53e4bf37d" providerId="ADAL" clId="{47724D17-2FBF-476D-95A4-639784F55674}" dt="2026-03-05T15:47:53.409" v="10" actId="692"/>
          <ac:picMkLst>
            <pc:docMk/>
            <pc:sldMk cId="3984835757" sldId="261"/>
            <ac:picMk id="8" creationId="{C4BDF3A9-64A1-2EA9-AABD-6B9AFBACBB04}"/>
          </ac:picMkLst>
        </pc:picChg>
      </pc:sldChg>
    </pc:docChg>
  </pc:docChgLst>
  <pc:docChgLst>
    <pc:chgData name="Geoffroy Dubreuil" userId="36186b9b-dc71-47e0-bff2-bd95e619117d" providerId="ADAL" clId="{77CD6894-02A7-403D-85B8-E33CDE72DEFB}"/>
    <pc:docChg chg="custSel modSld">
      <pc:chgData name="Geoffroy Dubreuil" userId="36186b9b-dc71-47e0-bff2-bd95e619117d" providerId="ADAL" clId="{77CD6894-02A7-403D-85B8-E33CDE72DEFB}" dt="2026-03-06T12:20:58.394" v="42" actId="113"/>
      <pc:docMkLst>
        <pc:docMk/>
      </pc:docMkLst>
      <pc:sldChg chg="addSp modSp mod">
        <pc:chgData name="Geoffroy Dubreuil" userId="36186b9b-dc71-47e0-bff2-bd95e619117d" providerId="ADAL" clId="{77CD6894-02A7-403D-85B8-E33CDE72DEFB}" dt="2026-03-06T12:20:58.394" v="42" actId="113"/>
        <pc:sldMkLst>
          <pc:docMk/>
          <pc:sldMk cId="1101361508" sldId="260"/>
        </pc:sldMkLst>
        <pc:spChg chg="add mod">
          <ac:chgData name="Geoffroy Dubreuil" userId="36186b9b-dc71-47e0-bff2-bd95e619117d" providerId="ADAL" clId="{77CD6894-02A7-403D-85B8-E33CDE72DEFB}" dt="2026-03-06T12:20:58.394" v="42" actId="113"/>
          <ac:spMkLst>
            <pc:docMk/>
            <pc:sldMk cId="1101361508" sldId="260"/>
            <ac:spMk id="4" creationId="{0EB8D984-3C84-80FA-2E8F-3981EC58C35C}"/>
          </ac:spMkLst>
        </pc:spChg>
      </pc:sldChg>
      <pc:sldChg chg="modSp mod">
        <pc:chgData name="Geoffroy Dubreuil" userId="36186b9b-dc71-47e0-bff2-bd95e619117d" providerId="ADAL" clId="{77CD6894-02A7-403D-85B8-E33CDE72DEFB}" dt="2026-03-05T15:46:09.927" v="29" actId="6549"/>
        <pc:sldMkLst>
          <pc:docMk/>
          <pc:sldMk cId="2831095747" sldId="271"/>
        </pc:sldMkLst>
        <pc:spChg chg="mod">
          <ac:chgData name="Geoffroy Dubreuil" userId="36186b9b-dc71-47e0-bff2-bd95e619117d" providerId="ADAL" clId="{77CD6894-02A7-403D-85B8-E33CDE72DEFB}" dt="2026-03-05T15:44:38.088" v="20" actId="255"/>
          <ac:spMkLst>
            <pc:docMk/>
            <pc:sldMk cId="2831095747" sldId="271"/>
            <ac:spMk id="2" creationId="{A196BBFD-A430-8F6F-DBB7-52C55DB3DA2F}"/>
          </ac:spMkLst>
        </pc:spChg>
        <pc:spChg chg="mod">
          <ac:chgData name="Geoffroy Dubreuil" userId="36186b9b-dc71-47e0-bff2-bd95e619117d" providerId="ADAL" clId="{77CD6894-02A7-403D-85B8-E33CDE72DEFB}" dt="2026-03-05T15:46:09.927" v="29" actId="6549"/>
          <ac:spMkLst>
            <pc:docMk/>
            <pc:sldMk cId="2831095747" sldId="271"/>
            <ac:spMk id="3" creationId="{A13D084F-E8FE-14E3-7A60-1AB8B95A44C2}"/>
          </ac:spMkLst>
        </pc:spChg>
      </pc:sldChg>
      <pc:sldChg chg="addSp modSp mod">
        <pc:chgData name="Geoffroy Dubreuil" userId="36186b9b-dc71-47e0-bff2-bd95e619117d" providerId="ADAL" clId="{77CD6894-02A7-403D-85B8-E33CDE72DEFB}" dt="2026-03-06T08:17:18.852" v="31" actId="1076"/>
        <pc:sldMkLst>
          <pc:docMk/>
          <pc:sldMk cId="923274605" sldId="274"/>
        </pc:sldMkLst>
        <pc:picChg chg="add mod">
          <ac:chgData name="Geoffroy Dubreuil" userId="36186b9b-dc71-47e0-bff2-bd95e619117d" providerId="ADAL" clId="{77CD6894-02A7-403D-85B8-E33CDE72DEFB}" dt="2026-03-06T08:17:18.852" v="31" actId="1076"/>
          <ac:picMkLst>
            <pc:docMk/>
            <pc:sldMk cId="923274605" sldId="274"/>
            <ac:picMk id="2" creationId="{8C7569A3-761E-DEAA-1C30-F448FEB741F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54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06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4320-F425-B877-E5D7-20C69E2E5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64BF022-4165-8326-25E5-7D0D23E4D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000411-B3A5-682F-5214-8F4967A8D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1F23B6-03B9-DBD8-2B30-49695B540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65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@brucepayette.bsky.social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3B2B46"/>
                </a:solidFill>
              </a:rPr>
              <a:t>@brucepayette.bsky.social</a:t>
            </a:r>
          </a:p>
          <a:p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Bruce Payette</a:t>
            </a:r>
            <a:endParaRPr lang="en-GB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US" sz="6000" b="1" err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</a:t>
            </a:r>
            <a:r>
              <a:rPr lang="en-US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Up:</a:t>
            </a:r>
            <a:endParaRPr lang="en-DE" sz="6000" b="1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Bruce Payette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Leveraging Braid from PowerShell</a:t>
            </a:r>
            <a:endParaRPr lang="en-DE" sz="60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4BDF3A9-64A1-2EA9-AABD-6B9AFBACB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028538"/>
            <a:ext cx="8666978" cy="31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Founding member of the PowerShell team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Technical lead on the PowerShell language design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Creator of PowerShell DSC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Creator of the Braid language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Very interested (ok obsessed) with programming languages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‘Notation as a Tool for Thought’ Kenneth Iverson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Bruce Payette</a:t>
            </a:r>
            <a:endParaRPr lang="en-DE" sz="6600" dirty="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SPEAKER  AI-generated content may be incorrect.">
            <a:extLst>
              <a:ext uri="{FF2B5EF4-FFF2-40B4-BE49-F238E27FC236}">
                <a16:creationId xmlns:a16="http://schemas.microsoft.com/office/drawing/2014/main" id="{908D552E-B9EB-791D-371D-DACABBF8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51" y="565441"/>
            <a:ext cx="3123261" cy="31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Agenda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5023A-BA6F-B725-CF78-FD889E577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Overview of Braid</a:t>
            </a:r>
          </a:p>
          <a:p>
            <a:r>
              <a:rPr lang="en-US" dirty="0"/>
              <a:t>Introducing the “</a:t>
            </a:r>
            <a:r>
              <a:rPr lang="en-US" dirty="0" err="1"/>
              <a:t>PSBraid</a:t>
            </a:r>
            <a:r>
              <a:rPr lang="en-US" dirty="0"/>
              <a:t>” script helper functions</a:t>
            </a:r>
          </a:p>
          <a:p>
            <a:pPr lvl="1"/>
            <a:r>
              <a:rPr lang="en-US" dirty="0"/>
              <a:t>These functions make it easier (possible) to use Braid from PowerShell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Braid highlights and differences from PowerShell</a:t>
            </a:r>
          </a:p>
          <a:p>
            <a:pPr lvl="1"/>
            <a:r>
              <a:rPr lang="en-US" dirty="0"/>
              <a:t>Demos</a:t>
            </a:r>
          </a:p>
          <a:p>
            <a:r>
              <a:rPr lang="en-US" dirty="0"/>
              <a:t>More demos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Questions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8D984-3C84-80FA-2E8F-3981EC58C35C}"/>
              </a:ext>
            </a:extLst>
          </p:cNvPr>
          <p:cNvSpPr/>
          <p:nvPr/>
        </p:nvSpPr>
        <p:spPr>
          <a:xfrm>
            <a:off x="12316738" y="6990522"/>
            <a:ext cx="1869713" cy="2286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part of your slide will not be visible in post-production.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b="1" dirty="0"/>
              <a:t> Please do not include anything here.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u="sng" dirty="0"/>
              <a:t>Red rectangle to be deleted</a:t>
            </a:r>
          </a:p>
        </p:txBody>
      </p:sp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DD1B-2409-A9F5-9FA0-6B39B982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858"/>
            <a:ext cx="973328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Braid (According to Copilot)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04B2-2033-EC52-464A-54AA83CC9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355771"/>
          </a:xfrm>
        </p:spPr>
        <p:txBody>
          <a:bodyPr>
            <a:noAutofit/>
          </a:bodyPr>
          <a:lstStyle/>
          <a:p>
            <a:r>
              <a:rPr lang="en-US" sz="3200" dirty="0"/>
              <a:t>A post-PowerShell shell and scripting language created by Bruce Payette</a:t>
            </a:r>
          </a:p>
          <a:p>
            <a:r>
              <a:rPr lang="en-US" sz="3200" dirty="0"/>
              <a:t>Built on top of PowerShell, combining its object pipelines with ideas from Lisp, Scheme, and Clojure</a:t>
            </a:r>
          </a:p>
          <a:p>
            <a:r>
              <a:rPr lang="en-US" sz="3200" dirty="0"/>
              <a:t>Expression-oriented with a minimal syntax — everything is done with prefix functions and singly-linked lists</a:t>
            </a:r>
          </a:p>
          <a:p>
            <a:r>
              <a:rPr lang="en-US" sz="3200" dirty="0"/>
              <a:t>Features lexical scoping, closures, macros, pattern matching, destructuring, and tail call optimization</a:t>
            </a:r>
          </a:p>
          <a:p>
            <a:r>
              <a:rPr lang="en-US" sz="3200" dirty="0"/>
              <a:t>Supports both lazy and strict evaluation with a mix of functional and imperative programming styles</a:t>
            </a:r>
          </a:p>
        </p:txBody>
      </p:sp>
    </p:spTree>
    <p:extLst>
      <p:ext uri="{BB962C8B-B14F-4D97-AF65-F5344CB8AC3E}">
        <p14:creationId xmlns:p14="http://schemas.microsoft.com/office/powerpoint/2010/main" val="58384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A15B-FCC9-AB3F-2DA5-14DA79F9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63D0F-922D-DE75-4642-2A1E560F8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Exploration of some alternate ideas for an object-based shell.</a:t>
            </a:r>
          </a:p>
          <a:p>
            <a:r>
              <a:rPr lang="en-US" dirty="0"/>
              <a:t>Braid is generally faster and more efficient than PowerShell so there’s that:</a:t>
            </a:r>
          </a:p>
          <a:p>
            <a:pPr marL="0" indent="0"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time {$data | sort | out-null}   # takes 14.44 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ms</a:t>
            </a:r>
            <a:endParaRPr lang="en-US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time {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sort $data | out-null} # takes only 4.54 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ms</a:t>
            </a:r>
            <a:endParaRPr lang="en-US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It’s much easier to deal with nested collections of data</a:t>
            </a:r>
          </a:p>
          <a:p>
            <a:r>
              <a:rPr lang="en-US" dirty="0"/>
              <a:t>Because it’s interesting and fun (at least to me.)</a:t>
            </a:r>
          </a:p>
        </p:txBody>
      </p:sp>
    </p:spTree>
    <p:extLst>
      <p:ext uri="{BB962C8B-B14F-4D97-AF65-F5344CB8AC3E}">
        <p14:creationId xmlns:p14="http://schemas.microsoft.com/office/powerpoint/2010/main" val="48833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3FFD0-C414-4129-3F24-1A1F6A13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733280" cy="1325563"/>
          </a:xfrm>
        </p:spPr>
        <p:txBody>
          <a:bodyPr>
            <a:normAutofit/>
          </a:bodyPr>
          <a:lstStyle/>
          <a:p>
            <a:r>
              <a:rPr lang="en-US" dirty="0"/>
              <a:t>Utilities in the PSBraid.ps1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2268-4BCA-AB60-B45B-BB39D71DF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531"/>
            <a:ext cx="10515600" cy="547769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Get-</a:t>
            </a:r>
            <a:r>
              <a:rPr lang="en-US" dirty="0" err="1"/>
              <a:t>BraidHelp</a:t>
            </a:r>
            <a:r>
              <a:rPr lang="en-US" dirty="0"/>
              <a:t> (</a:t>
            </a:r>
            <a:r>
              <a:rPr lang="en-US" dirty="0" err="1"/>
              <a:t>gbh</a:t>
            </a:r>
            <a:r>
              <a:rPr lang="en-US" dirty="0"/>
              <a:t>)</a:t>
            </a:r>
          </a:p>
          <a:p>
            <a:r>
              <a:rPr lang="en-US" dirty="0" err="1"/>
              <a:t>ConvertFrom-BraidSourceText</a:t>
            </a:r>
            <a:r>
              <a:rPr lang="en-US" dirty="0"/>
              <a:t> (</a:t>
            </a:r>
            <a:r>
              <a:rPr lang="en-US" dirty="0" err="1"/>
              <a:t>cfbst</a:t>
            </a:r>
            <a:r>
              <a:rPr lang="en-US" dirty="0"/>
              <a:t>)</a:t>
            </a:r>
          </a:p>
          <a:p>
            <a:r>
              <a:rPr lang="en-US" dirty="0"/>
              <a:t>Get-</a:t>
            </a:r>
            <a:r>
              <a:rPr lang="en-US" dirty="0" err="1"/>
              <a:t>BraidFunction</a:t>
            </a:r>
            <a:r>
              <a:rPr lang="en-US" dirty="0"/>
              <a:t> (</a:t>
            </a:r>
            <a:r>
              <a:rPr lang="en-US" dirty="0" err="1"/>
              <a:t>gbf</a:t>
            </a:r>
            <a:r>
              <a:rPr lang="en-US" dirty="0"/>
              <a:t>)</a:t>
            </a:r>
          </a:p>
          <a:p>
            <a:r>
              <a:rPr lang="en-US" dirty="0"/>
              <a:t>Get-</a:t>
            </a:r>
            <a:r>
              <a:rPr lang="en-US" dirty="0" err="1"/>
              <a:t>BraidSymbol</a:t>
            </a:r>
            <a:r>
              <a:rPr lang="en-US" dirty="0"/>
              <a:t> (</a:t>
            </a:r>
            <a:r>
              <a:rPr lang="en-US" dirty="0" err="1"/>
              <a:t>gbs</a:t>
            </a:r>
            <a:r>
              <a:rPr lang="en-US" dirty="0"/>
              <a:t>)</a:t>
            </a:r>
          </a:p>
          <a:p>
            <a:r>
              <a:rPr lang="en-US" dirty="0"/>
              <a:t>Get-</a:t>
            </a:r>
            <a:r>
              <a:rPr lang="en-US" dirty="0" err="1"/>
              <a:t>BraidVariableValue</a:t>
            </a:r>
            <a:r>
              <a:rPr lang="en-US" dirty="0"/>
              <a:t> (</a:t>
            </a:r>
            <a:r>
              <a:rPr lang="en-US" dirty="0" err="1"/>
              <a:t>gbvv</a:t>
            </a:r>
            <a:r>
              <a:rPr lang="en-US" dirty="0"/>
              <a:t>)</a:t>
            </a:r>
          </a:p>
          <a:p>
            <a:r>
              <a:rPr lang="en-US" dirty="0"/>
              <a:t>Invoke-</a:t>
            </a:r>
            <a:r>
              <a:rPr lang="en-US" dirty="0" err="1"/>
              <a:t>BraidExpression</a:t>
            </a:r>
            <a:r>
              <a:rPr lang="en-US" dirty="0"/>
              <a:t> (</a:t>
            </a:r>
            <a:r>
              <a:rPr lang="en-US" dirty="0" err="1"/>
              <a:t>ibe</a:t>
            </a:r>
            <a:r>
              <a:rPr lang="en-US" dirty="0"/>
              <a:t>)</a:t>
            </a:r>
          </a:p>
          <a:p>
            <a:r>
              <a:rPr lang="en-US" dirty="0"/>
              <a:t>Invoke-</a:t>
            </a:r>
            <a:r>
              <a:rPr lang="en-US" dirty="0" err="1"/>
              <a:t>BraidFunction</a:t>
            </a:r>
            <a:r>
              <a:rPr lang="en-US" dirty="0"/>
              <a:t> (</a:t>
            </a:r>
            <a:r>
              <a:rPr lang="en-US" dirty="0" err="1"/>
              <a:t>ibf</a:t>
            </a:r>
            <a:r>
              <a:rPr lang="en-US" dirty="0"/>
              <a:t>)</a:t>
            </a:r>
          </a:p>
          <a:p>
            <a:r>
              <a:rPr lang="en-US" dirty="0"/>
              <a:t>New-</a:t>
            </a:r>
            <a:r>
              <a:rPr lang="en-US" dirty="0" err="1"/>
              <a:t>BraidExpression</a:t>
            </a:r>
            <a:r>
              <a:rPr lang="en-US" dirty="0"/>
              <a:t> (</a:t>
            </a:r>
            <a:r>
              <a:rPr lang="en-US" dirty="0" err="1"/>
              <a:t>nbe</a:t>
            </a:r>
            <a:r>
              <a:rPr lang="en-US" dirty="0"/>
              <a:t>)</a:t>
            </a:r>
          </a:p>
          <a:p>
            <a:r>
              <a:rPr lang="en-US" dirty="0"/>
              <a:t>New-</a:t>
            </a:r>
            <a:r>
              <a:rPr lang="en-US" dirty="0" err="1"/>
              <a:t>BraidFunction</a:t>
            </a:r>
            <a:r>
              <a:rPr lang="en-US" dirty="0"/>
              <a:t> (</a:t>
            </a:r>
            <a:r>
              <a:rPr lang="en-US" dirty="0" err="1"/>
              <a:t>nbf</a:t>
            </a:r>
            <a:r>
              <a:rPr lang="en-US" dirty="0"/>
              <a:t>)</a:t>
            </a:r>
          </a:p>
          <a:p>
            <a:r>
              <a:rPr lang="en-US" dirty="0"/>
              <a:t>New-</a:t>
            </a:r>
            <a:r>
              <a:rPr lang="en-US" dirty="0" err="1"/>
              <a:t>BraidLambda</a:t>
            </a:r>
            <a:r>
              <a:rPr lang="en-US" dirty="0"/>
              <a:t> (</a:t>
            </a:r>
            <a:r>
              <a:rPr lang="en-US" dirty="0" err="1"/>
              <a:t>nbl</a:t>
            </a:r>
            <a:r>
              <a:rPr lang="en-US" dirty="0"/>
              <a:t>)</a:t>
            </a:r>
          </a:p>
          <a:p>
            <a:r>
              <a:rPr lang="en-US" dirty="0"/>
              <a:t>New-</a:t>
            </a:r>
            <a:r>
              <a:rPr lang="en-US" dirty="0" err="1"/>
              <a:t>BraidPipeExpression</a:t>
            </a:r>
            <a:r>
              <a:rPr lang="en-US" dirty="0"/>
              <a:t> (</a:t>
            </a:r>
            <a:r>
              <a:rPr lang="en-US" dirty="0" err="1"/>
              <a:t>nbpe</a:t>
            </a:r>
            <a:r>
              <a:rPr lang="en-US" dirty="0"/>
              <a:t>)</a:t>
            </a:r>
          </a:p>
          <a:p>
            <a:r>
              <a:rPr lang="en-US" dirty="0"/>
              <a:t>Set-</a:t>
            </a:r>
            <a:r>
              <a:rPr lang="en-US" dirty="0" err="1"/>
              <a:t>BraidVariableValue</a:t>
            </a:r>
            <a:r>
              <a:rPr lang="en-US" dirty="0"/>
              <a:t> (</a:t>
            </a:r>
            <a:r>
              <a:rPr lang="en-US" dirty="0" err="1"/>
              <a:t>sbvv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221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EB40-AC22-5174-ADA7-E21F973E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B5BAFA-98A0-7371-3A49-67072B43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Braid Highlights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856AE-5169-EEE6-C0F2-12071EF0F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is </a:t>
            </a:r>
            <a:r>
              <a:rPr lang="en-US" i="1" dirty="0"/>
              <a:t>expression-oriented and </a:t>
            </a:r>
            <a:r>
              <a:rPr lang="en-US" dirty="0"/>
              <a:t>everything is done with </a:t>
            </a:r>
            <a:r>
              <a:rPr lang="en-US" b="1" i="1" dirty="0"/>
              <a:t>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Has</a:t>
            </a:r>
            <a:r>
              <a:rPr lang="en-US" b="1" dirty="0"/>
              <a:t> </a:t>
            </a:r>
            <a:r>
              <a:rPr lang="en-US" b="1" i="1" dirty="0"/>
              <a:t>Symbols</a:t>
            </a:r>
            <a:r>
              <a:rPr lang="en-US" dirty="0"/>
              <a:t> which serve the purpose of PowerShell variables</a:t>
            </a:r>
          </a:p>
          <a:p>
            <a:pPr lvl="1"/>
            <a:r>
              <a:rPr lang="en-US" dirty="0"/>
              <a:t>Symbols have associated values (bindings) which can also be functions.</a:t>
            </a:r>
          </a:p>
          <a:p>
            <a:pPr lvl="1"/>
            <a:r>
              <a:rPr lang="en-US" dirty="0"/>
              <a:t>Everything (values, functions, </a:t>
            </a:r>
            <a:r>
              <a:rPr lang="en-US" dirty="0" err="1"/>
              <a:t>etc</a:t>
            </a:r>
            <a:r>
              <a:rPr lang="en-US" dirty="0"/>
              <a:t>) live in the same namespace.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gbs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foo  # get the symbol associated with “foo”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i="1" dirty="0"/>
              <a:t>Code</a:t>
            </a:r>
            <a:r>
              <a:rPr lang="en-US" dirty="0"/>
              <a:t> is represented as singly-linked </a:t>
            </a:r>
            <a:r>
              <a:rPr lang="en-US" b="1" i="1" dirty="0"/>
              <a:t>lists</a:t>
            </a:r>
            <a:r>
              <a:rPr lang="en-US" dirty="0"/>
              <a:t> of elements: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(+ 1 2 3)          	# Braid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sz="28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nbe</a:t>
            </a:r>
            <a:r>
              <a:rPr lang="en-US" sz="28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list + 1 2 3 	# PowerShell</a:t>
            </a:r>
          </a:p>
          <a:p>
            <a:r>
              <a:rPr lang="en-GB" dirty="0"/>
              <a:t>List functions: </a:t>
            </a:r>
            <a:r>
              <a:rPr lang="en-GB" sz="3100" dirty="0">
                <a:latin typeface="Cascadia Mono" panose="020B0609020000020004" pitchFamily="49" charset="0"/>
                <a:cs typeface="Cascadia Mono" panose="020B0609020000020004" pitchFamily="49" charset="0"/>
              </a:rPr>
              <a:t>car (first), </a:t>
            </a:r>
            <a:r>
              <a:rPr lang="en-GB" sz="31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cdr</a:t>
            </a:r>
            <a:r>
              <a:rPr lang="en-GB" sz="3100" dirty="0">
                <a:latin typeface="Cascadia Mono" panose="020B0609020000020004" pitchFamily="49" charset="0"/>
                <a:cs typeface="Cascadia Mono" panose="020B0609020000020004" pitchFamily="49" charset="0"/>
              </a:rPr>
              <a:t> (rest), cons, splice</a:t>
            </a:r>
            <a:endParaRPr lang="en-GB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GB" dirty="0"/>
              <a:t>Null or Nil ($null) is the empty list.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2CFEFD-69EF-1908-275B-F0DC4BD55F53}"/>
              </a:ext>
            </a:extLst>
          </p:cNvPr>
          <p:cNvSpPr/>
          <p:nvPr/>
        </p:nvSpPr>
        <p:spPr>
          <a:xfrm flipH="1">
            <a:off x="12191999" y="6785112"/>
            <a:ext cx="45719" cy="728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part of your slide will not be visible in post-</a:t>
            </a:r>
            <a:r>
              <a:rPr lang="en-GB" sz="1400" dirty="0" err="1"/>
              <a:t>prction</a:t>
            </a:r>
            <a:r>
              <a:rPr lang="en-GB" sz="1400" dirty="0"/>
              <a:t>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b="1" dirty="0"/>
              <a:t> Please do not include anything here.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u="sng" dirty="0"/>
              <a:t>Red rectangle to be deleted</a:t>
            </a:r>
          </a:p>
        </p:txBody>
      </p:sp>
    </p:spTree>
    <p:extLst>
      <p:ext uri="{BB962C8B-B14F-4D97-AF65-F5344CB8AC3E}">
        <p14:creationId xmlns:p14="http://schemas.microsoft.com/office/powerpoint/2010/main" val="412797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84E9-95E4-DE61-1863-E241AC9C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566" y="112765"/>
            <a:ext cx="9733280" cy="1325563"/>
          </a:xfrm>
        </p:spPr>
        <p:txBody>
          <a:bodyPr/>
          <a:lstStyle/>
          <a:p>
            <a:r>
              <a:rPr lang="en-US" dirty="0"/>
              <a:t>Core Braid Literal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E5ED-7C2C-4ABA-7DB2-174A2688E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566" y="1256495"/>
            <a:ext cx="10515600" cy="5300870"/>
          </a:xfrm>
        </p:spPr>
        <p:txBody>
          <a:bodyPr>
            <a:normAutofit lnSpcReduction="10000"/>
          </a:bodyPr>
          <a:lstStyle/>
          <a:p>
            <a:r>
              <a:rPr lang="en-US" sz="4000" i="1" dirty="0"/>
              <a:t>Symbols</a:t>
            </a:r>
            <a:r>
              <a:rPr lang="en-US" sz="4000" dirty="0"/>
              <a:t>: atomic interned object, evaluate to their bindings</a:t>
            </a:r>
          </a:p>
          <a:p>
            <a:r>
              <a:rPr lang="en-US" sz="4000" i="1" dirty="0"/>
              <a:t>Keywords</a:t>
            </a:r>
            <a:r>
              <a:rPr lang="en-US" sz="4000" dirty="0"/>
              <a:t>: atomic interned objects, evaluate to themselves</a:t>
            </a:r>
          </a:p>
          <a:p>
            <a:r>
              <a:rPr lang="en-US" sz="4000" i="1" dirty="0"/>
              <a:t>Numbers</a:t>
            </a:r>
            <a:r>
              <a:rPr lang="en-US" sz="4000" dirty="0"/>
              <a:t>: including ^</a:t>
            </a:r>
            <a:r>
              <a:rPr lang="en-US" sz="32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BigInteger</a:t>
            </a:r>
            <a:r>
              <a:rPr lang="en-US" sz="4000" dirty="0"/>
              <a:t> and ^</a:t>
            </a:r>
            <a:r>
              <a:rPr lang="en-US" sz="32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BigDecimal</a:t>
            </a:r>
            <a:endParaRPr lang="en-US" sz="3200" dirty="0">
              <a:solidFill>
                <a:schemeClr val="accent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4000" i="1" dirty="0"/>
              <a:t>Strings</a:t>
            </a:r>
            <a:r>
              <a:rPr lang="en-US" sz="4000" dirty="0"/>
              <a:t>: with interpolation and quotes</a:t>
            </a:r>
          </a:p>
          <a:p>
            <a:r>
              <a:rPr lang="en-US" sz="4000" i="1" dirty="0"/>
              <a:t>Types</a:t>
            </a:r>
            <a:r>
              <a:rPr lang="en-US" sz="4000" dirty="0"/>
              <a:t>: notation is </a:t>
            </a:r>
            <a:r>
              <a:rPr lang="en-US" sz="32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^int</a:t>
            </a:r>
            <a:r>
              <a:rPr lang="en-US" sz="4000" dirty="0"/>
              <a:t>, </a:t>
            </a:r>
            <a:r>
              <a:rPr lang="en-US" sz="32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^string, ^List[int]</a:t>
            </a:r>
          </a:p>
          <a:p>
            <a:r>
              <a:rPr lang="en-US" sz="4000" i="1" dirty="0"/>
              <a:t>Lists</a:t>
            </a:r>
            <a:r>
              <a:rPr lang="en-US" sz="4000" dirty="0"/>
              <a:t>: singly-linked, data and code</a:t>
            </a:r>
          </a:p>
        </p:txBody>
      </p:sp>
    </p:spTree>
    <p:extLst>
      <p:ext uri="{BB962C8B-B14F-4D97-AF65-F5344CB8AC3E}">
        <p14:creationId xmlns:p14="http://schemas.microsoft.com/office/powerpoint/2010/main" val="3030102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CF0B-3990-5A7B-421E-DA01D16C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662"/>
            <a:ext cx="9733280" cy="1325563"/>
          </a:xfrm>
        </p:spPr>
        <p:txBody>
          <a:bodyPr/>
          <a:lstStyle/>
          <a:p>
            <a:r>
              <a:rPr lang="en-US" dirty="0"/>
              <a:t>Core Braid Data Types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7A81-3057-11AB-4A40-A964DD734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345"/>
            <a:ext cx="10515600" cy="4892992"/>
          </a:xfrm>
        </p:spPr>
        <p:txBody>
          <a:bodyPr>
            <a:normAutofit fontScale="92500" lnSpcReduction="10000"/>
          </a:bodyPr>
          <a:lstStyle/>
          <a:p>
            <a:r>
              <a:rPr lang="en-US" sz="4000" i="1" dirty="0"/>
              <a:t>Vectors</a:t>
            </a:r>
            <a:r>
              <a:rPr lang="en-US" sz="4000" dirty="0"/>
              <a:t> - Mutable in size and values</a:t>
            </a:r>
          </a:p>
          <a:p>
            <a:r>
              <a:rPr lang="en-US" sz="4000" i="1" dirty="0" err="1"/>
              <a:t>Seqences</a:t>
            </a:r>
            <a:r>
              <a:rPr lang="en-US" sz="4000" i="1" dirty="0"/>
              <a:t> - </a:t>
            </a:r>
            <a:r>
              <a:rPr lang="en-US" sz="35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35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ISeq</a:t>
            </a:r>
            <a:r>
              <a:rPr lang="en-US" sz="35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implemented by lists and vectors</a:t>
            </a:r>
          </a:p>
          <a:p>
            <a:r>
              <a:rPr lang="en-US" sz="4000" i="1" dirty="0"/>
              <a:t>Dictionaries</a:t>
            </a:r>
            <a:r>
              <a:rPr lang="en-US" sz="4000" dirty="0"/>
              <a:t>: just the </a:t>
            </a:r>
            <a:r>
              <a:rPr lang="en-US" sz="4000" dirty="0" err="1"/>
              <a:t>.Net</a:t>
            </a:r>
            <a:r>
              <a:rPr lang="en-US" sz="4000" dirty="0"/>
              <a:t> type:</a:t>
            </a:r>
          </a:p>
          <a:p>
            <a:pPr marL="0" indent="0">
              <a:buNone/>
            </a:pPr>
            <a:r>
              <a:rPr lang="en-US" sz="26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System.Collections.Generic.Dictionary</a:t>
            </a:r>
            <a:r>
              <a:rPr lang="en-US" sz="26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sz="26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object,object</a:t>
            </a:r>
            <a:r>
              <a:rPr lang="en-US" sz="26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sz="2600" dirty="0"/>
          </a:p>
          <a:p>
            <a:r>
              <a:rPr lang="en-US" sz="4000" i="1" dirty="0"/>
              <a:t>Functions</a:t>
            </a:r>
            <a:r>
              <a:rPr lang="en-US" sz="4000" dirty="0"/>
              <a:t>: built-ins, user functions, pattern functions, collections, regex, PowerShell commands, executables, scripts</a:t>
            </a:r>
          </a:p>
          <a:p>
            <a:r>
              <a:rPr lang="en-US" sz="4000" dirty="0"/>
              <a:t>Regular expression literals </a:t>
            </a:r>
            <a:r>
              <a:rPr lang="en-US" sz="26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#"[0-9]+\.[0-9]+"</a:t>
            </a:r>
          </a:p>
          <a:p>
            <a:r>
              <a:rPr lang="en-US" sz="4000" i="1" dirty="0"/>
              <a:t>Macros</a:t>
            </a:r>
            <a:r>
              <a:rPr lang="en-US" sz="4000" dirty="0"/>
              <a:t>: functions executed at compile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87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8A5F-3B58-2521-5848-56E0558D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9" y="95159"/>
            <a:ext cx="10320130" cy="1325563"/>
          </a:xfrm>
        </p:spPr>
        <p:txBody>
          <a:bodyPr>
            <a:noAutofit/>
          </a:bodyPr>
          <a:lstStyle/>
          <a:p>
            <a:r>
              <a:rPr lang="en-US" sz="4000" dirty="0"/>
              <a:t>Differences: Bare Words, Symbols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29990-34B3-3989-26D2-B8EC46C26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407"/>
            <a:ext cx="10515600" cy="5425440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i="1" dirty="0"/>
              <a:t>Bare words</a:t>
            </a:r>
            <a:r>
              <a:rPr lang="en-US" dirty="0"/>
              <a:t>” in PowerShell are simply strings, </a:t>
            </a:r>
            <a:r>
              <a:rPr lang="en-US" i="1" dirty="0"/>
              <a:t>indistinguishable</a:t>
            </a:r>
            <a:r>
              <a:rPr lang="en-US" dirty="0"/>
              <a:t> from quoted strings.</a:t>
            </a:r>
          </a:p>
          <a:p>
            <a:r>
              <a:rPr lang="en-US" dirty="0"/>
              <a:t>However, bare words in Braid are </a:t>
            </a:r>
            <a:r>
              <a:rPr lang="en-US" b="1" i="1" dirty="0"/>
              <a:t>symbols</a:t>
            </a:r>
            <a:r>
              <a:rPr lang="en-US" dirty="0"/>
              <a:t>, usually dereferenced for the bound value</a:t>
            </a:r>
          </a:p>
          <a:p>
            <a:pPr marL="457200" lvl="1" indent="0">
              <a:buNone/>
            </a:pPr>
            <a:r>
              <a:rPr lang="en-US" sz="2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symbol hi 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# get or create the symbol “hi”</a:t>
            </a:r>
          </a:p>
          <a:p>
            <a:r>
              <a:rPr lang="en-US" dirty="0"/>
              <a:t>This annoying when accessing Braid from PowerShell so there are functions to help with this:</a:t>
            </a:r>
          </a:p>
          <a:p>
            <a:pPr lvl="1"/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Get-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BraidFunction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gbf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), Get-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BraidVariableValue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gbvv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), Set-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BraidVariableValue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sbvv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6214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8DC6-3466-3F5F-36A9-258AAD80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Differences: Formatting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9EC55-378C-5628-B0B1-E292A7092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PowerShell formats all objects in a user-focused way</a:t>
            </a:r>
          </a:p>
          <a:p>
            <a:r>
              <a:rPr lang="en-US" dirty="0"/>
              <a:t>For code objects, Braid serializes the code/object into source format using 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ToString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PS&gt; $e = </a:t>
            </a:r>
            <a:r>
              <a:rPr lang="en-US" sz="24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nbe</a:t>
            </a:r>
            <a:r>
              <a:rPr lang="en-US" sz="24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+ 1 2 3 # create a braid code expression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PS&gt; $</a:t>
            </a:r>
            <a:r>
              <a:rPr lang="en-US" sz="24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e.ToString</a:t>
            </a:r>
            <a:r>
              <a:rPr lang="en-US" sz="24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	 # to string returns Braid source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("+" 1 2 3)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55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8730-9604-732A-A8CE-0E920726F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3536"/>
            <a:ext cx="973328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Differences: Paths and Quoting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30E65-7A80-53E9-2D38-745659C2E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5347063"/>
          </a:xfrm>
        </p:spPr>
        <p:txBody>
          <a:bodyPr>
            <a:normAutofit fontScale="62500" lnSpcReduction="20000"/>
          </a:bodyPr>
          <a:lstStyle/>
          <a:p>
            <a:r>
              <a:rPr lang="en-US" sz="6500" dirty="0"/>
              <a:t>On Windows, PowerShell uses ‘\’ for paths and ‘`’ for quoting.</a:t>
            </a:r>
          </a:p>
          <a:p>
            <a:pPr lvl="1"/>
            <a:r>
              <a:rPr lang="en-US" sz="5100" dirty="0"/>
              <a:t>People complain about ‘`’ </a:t>
            </a:r>
            <a:r>
              <a:rPr lang="en-US" sz="5100" i="1" dirty="0"/>
              <a:t>a lot</a:t>
            </a:r>
          </a:p>
          <a:p>
            <a:r>
              <a:rPr lang="en-US" sz="5800" dirty="0"/>
              <a:t>On all platforms, Braid uses ‘/’ for paths and ‘\’ for quoting</a:t>
            </a:r>
          </a:p>
          <a:p>
            <a:r>
              <a:rPr lang="en-US" sz="5800" dirty="0"/>
              <a:t>Braid has a variety of string literals: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“hello ${name}” ; double quoted w string interpolation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@“foo\bat.txt”  ; @ quoted – no special processing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“”” “quotes”    ; triple-quotes can contain quotes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”””</a:t>
            </a:r>
          </a:p>
        </p:txBody>
      </p:sp>
    </p:spTree>
    <p:extLst>
      <p:ext uri="{BB962C8B-B14F-4D97-AF65-F5344CB8AC3E}">
        <p14:creationId xmlns:p14="http://schemas.microsoft.com/office/powerpoint/2010/main" val="150807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2A0E-A076-36EF-27DB-8DA8794F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Differences: (Almost) Everything is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101B-5626-74F8-490B-BF1E20E54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expressions: </a:t>
            </a: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(#”^[a-z][a-z0-9]*” “a string”) ; returns fail</a:t>
            </a:r>
          </a:p>
          <a:p>
            <a:r>
              <a:rPr lang="en-US" sz="3200" dirty="0">
                <a:cs typeface="Cascadia Code" panose="020B0609020000020004" pitchFamily="49" charset="0"/>
              </a:rPr>
              <a:t>Vectors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([1 2 3 4] 2) 	  ; Braid returns 3</a:t>
            </a: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(1,2,3,4) 2)  ; PowerShell</a:t>
            </a:r>
          </a:p>
          <a:p>
            <a:r>
              <a:rPr lang="en-US" sz="3200" dirty="0">
                <a:cs typeface="Cascadia Code" panose="020B0609020000020004" pitchFamily="49" charset="0"/>
              </a:rPr>
              <a:t>Dictionaries</a:t>
            </a:r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({“a” 1 “b” 2} “b”) ; returns 2</a:t>
            </a:r>
          </a:p>
          <a:p>
            <a:r>
              <a:rPr lang="en-US" sz="3200" i="1" dirty="0">
                <a:cs typeface="Cascadia Code" panose="020B0609020000020004" pitchFamily="49" charset="0"/>
              </a:rPr>
              <a:t>But not Strings. Strings name the function to call.</a:t>
            </a:r>
            <a:endParaRPr lang="en-US" sz="3200" dirty="0">
              <a:cs typeface="Cascadia Code" panose="020B0609020000020004" pitchFamily="49" charset="0"/>
            </a:endParaRPr>
          </a:p>
          <a:p>
            <a:pPr lvl="1"/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(“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abcde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” 2) ; calls a function named “</a:t>
            </a:r>
            <a:r>
              <a:rPr lang="en-US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abcde</a:t>
            </a: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2988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EC84-F29C-42EA-0185-60E58BF6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.NET from Braid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FC57-0920-6942-B057-66EFDAC86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900" dirty="0"/>
              <a:t>Types start with a caret, casts use types like functions</a:t>
            </a:r>
          </a:p>
          <a:p>
            <a:pPr marL="457200" lvl="1" indent="0"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^int ^List[int]</a:t>
            </a:r>
          </a:p>
          <a:p>
            <a:pPr marL="457200" lvl="1" indent="0"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(^int? “123”)  ; cast string to int</a:t>
            </a:r>
          </a:p>
          <a:p>
            <a:r>
              <a:rPr lang="en-US" sz="3900" dirty="0"/>
              <a:t>Properties and methods are used like functions</a:t>
            </a:r>
          </a:p>
          <a:p>
            <a:pPr marL="457200" lvl="1" indent="0"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(.Length “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abc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”) ; returns 3</a:t>
            </a:r>
          </a:p>
          <a:p>
            <a:pPr marL="457200" lvl="1" indent="0"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(.Substring “hello” 1) ; returns “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ello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”</a:t>
            </a:r>
          </a:p>
          <a:p>
            <a:pPr marL="457200" lvl="1" indent="0"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(.Substring “hello” 2 2) ; returns “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ll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”</a:t>
            </a:r>
          </a:p>
          <a:p>
            <a:r>
              <a:rPr lang="en-US" sz="3900" dirty="0"/>
              <a:t>So are static members</a:t>
            </a:r>
          </a:p>
          <a:p>
            <a:pPr marL="457200" lvl="1" indent="0"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(.String/Equals "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abc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" "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abc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") ; returns true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29472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7413-8166-9F9D-711A-EB303FFD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Differences: Braid is Strict by 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C2BC-260C-8418-7325-CC962AF5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Type constraints are strict by default but can be relaxed</a:t>
            </a: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^int	; strict constraint only allows integer values</a:t>
            </a: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^int?	; soft constraint, convertible to integer</a:t>
            </a:r>
          </a:p>
          <a:p>
            <a:r>
              <a:rPr lang="en-US" sz="4000" dirty="0"/>
              <a:t>Method invocation is strict by default</a:t>
            </a:r>
          </a:p>
          <a:p>
            <a:pPr lvl="1"/>
            <a:r>
              <a:rPr lang="en-US" sz="2400" dirty="0"/>
              <a:t>.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length	# property must exist on the object</a:t>
            </a:r>
          </a:p>
          <a:p>
            <a:pPr lvl="1"/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.?length	# if “length” doesn’t exist, returns null</a:t>
            </a:r>
          </a:p>
          <a:p>
            <a:pPr marL="457200" lvl="1" indent="0">
              <a:buNone/>
            </a:pPr>
            <a:endParaRPr lang="en-US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050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6E5F-4554-6056-C995-2A1D3AB4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5D97-ED64-1C2E-55E5-CC6F3415B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Pipelining is supported in Braid by the function </a:t>
            </a:r>
            <a:r>
              <a:rPr lang="en-US" sz="28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pipe</a:t>
            </a:r>
            <a:r>
              <a:rPr lang="en-US" dirty="0"/>
              <a:t>.</a:t>
            </a:r>
          </a:p>
          <a:p>
            <a:r>
              <a:rPr lang="en-US" dirty="0"/>
              <a:t>“Pipelines” rewrite the first argument with the pipeline value:</a:t>
            </a:r>
          </a:p>
          <a:p>
            <a:pPr lvl="1"/>
            <a:r>
              <a:rPr lang="en-US" dirty="0"/>
              <a:t> The source </a:t>
            </a:r>
            <a:endParaRPr lang="en-US" sz="2400" dirty="0"/>
          </a:p>
          <a:p>
            <a:pPr marL="914400" lvl="2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(range 10 | filter even? | sum)</a:t>
            </a:r>
            <a:endParaRPr lang="en-US" sz="2000" dirty="0"/>
          </a:p>
          <a:p>
            <a:pPr marL="457200" lvl="1" indent="0">
              <a:buNone/>
            </a:pPr>
            <a:r>
              <a:rPr lang="en-US" dirty="0"/>
              <a:t>    becomes</a:t>
            </a:r>
          </a:p>
          <a:p>
            <a:pPr marL="914400" lvl="2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(pipe (range 10) (filter even?) (sum))</a:t>
            </a:r>
          </a:p>
          <a:p>
            <a:r>
              <a:rPr lang="en-US" dirty="0"/>
              <a:t>No special conventions are needed; every function can be pipelined</a:t>
            </a:r>
          </a:p>
          <a:p>
            <a:r>
              <a:rPr lang="en-US" dirty="0"/>
              <a:t>Pull not push (like LINQ)</a:t>
            </a:r>
          </a:p>
          <a:p>
            <a:r>
              <a:rPr lang="en-US" dirty="0"/>
              <a:t>Strict processing semantics by default, optional lazy functions</a:t>
            </a:r>
          </a:p>
        </p:txBody>
      </p:sp>
    </p:spTree>
    <p:extLst>
      <p:ext uri="{BB962C8B-B14F-4D97-AF65-F5344CB8AC3E}">
        <p14:creationId xmlns:p14="http://schemas.microsoft.com/office/powerpoint/2010/main" val="364653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6B77-A576-32D7-FDC6-A5453DA1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C660-9E2C-9847-6E01-43DB44B64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Types:</a:t>
            </a:r>
          </a:p>
          <a:p>
            <a:pPr lvl="1"/>
            <a:r>
              <a:rPr lang="en-US" dirty="0"/>
              <a:t>Built-ins		# C# lambdas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Func&lt;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Vector,Object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lvl="1"/>
            <a:r>
              <a:rPr lang="en-US" dirty="0"/>
              <a:t>User Functions	# Receives </a:t>
            </a:r>
            <a:r>
              <a:rPr lang="en-US" dirty="0" err="1"/>
              <a:t>args</a:t>
            </a:r>
            <a:r>
              <a:rPr lang="en-US" dirty="0"/>
              <a:t> evaluated</a:t>
            </a:r>
          </a:p>
          <a:p>
            <a:pPr lvl="1"/>
            <a:r>
              <a:rPr lang="en-US" dirty="0"/>
              <a:t>Special Forms	# Receives </a:t>
            </a:r>
            <a:r>
              <a:rPr lang="en-US" dirty="0" err="1"/>
              <a:t>args</a:t>
            </a:r>
            <a:r>
              <a:rPr lang="en-US" dirty="0"/>
              <a:t> </a:t>
            </a:r>
            <a:r>
              <a:rPr lang="en-US" i="1" dirty="0"/>
              <a:t>unevaluated</a:t>
            </a:r>
          </a:p>
          <a:p>
            <a:pPr lvl="1"/>
            <a:r>
              <a:rPr lang="en-US" dirty="0"/>
              <a:t>Macros		# Run at compile time, </a:t>
            </a:r>
            <a:r>
              <a:rPr lang="en-US" dirty="0" err="1"/>
              <a:t>uneval’ed</a:t>
            </a:r>
            <a:r>
              <a:rPr lang="en-US" dirty="0"/>
              <a:t> </a:t>
            </a:r>
            <a:r>
              <a:rPr lang="en-US" dirty="0" err="1"/>
              <a:t>args</a:t>
            </a:r>
            <a:endParaRPr lang="en-US" dirty="0"/>
          </a:p>
          <a:p>
            <a:r>
              <a:rPr lang="en-US" dirty="0"/>
              <a:t>Currying/Partial evaluation</a:t>
            </a:r>
          </a:p>
          <a:p>
            <a:pPr lvl="1"/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map (1..10) (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nbl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x (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nbe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gbf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*) (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gbs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x) 2))</a:t>
            </a:r>
          </a:p>
          <a:p>
            <a:pPr lvl="1"/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map (1..10) (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* 2)</a:t>
            </a:r>
          </a:p>
        </p:txBody>
      </p:sp>
    </p:spTree>
    <p:extLst>
      <p:ext uri="{BB962C8B-B14F-4D97-AF65-F5344CB8AC3E}">
        <p14:creationId xmlns:p14="http://schemas.microsoft.com/office/powerpoint/2010/main" val="3566860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0B1F-4EA4-6848-5577-A5B21D8A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517"/>
            <a:ext cx="9733280" cy="1325563"/>
          </a:xfrm>
        </p:spPr>
        <p:txBody>
          <a:bodyPr/>
          <a:lstStyle/>
          <a:p>
            <a:r>
              <a:rPr lang="en-US" dirty="0"/>
              <a:t>Code is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B4AF-2F47-7460-51D3-810E6DA7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080"/>
            <a:ext cx="10515600" cy="5268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$e = </a:t>
            </a: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nbe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 + 1 2 3 4 # create some code</a:t>
            </a:r>
          </a:p>
          <a:p>
            <a:pPr marL="0" indent="0">
              <a:buNone/>
            </a:pP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$</a:t>
            </a: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e.ToString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() 	    # returns ("+" 1 2 3 4)</a:t>
            </a:r>
          </a:p>
          <a:p>
            <a:pPr marL="0" indent="0">
              <a:buNone/>
            </a:pP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ibe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 $e				# returns 10</a:t>
            </a:r>
          </a:p>
          <a:p>
            <a:pPr marL="0" indent="0">
              <a:buNone/>
            </a:pP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$f = $</a:t>
            </a: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e.cdr.cons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("*") # change function</a:t>
            </a:r>
          </a:p>
          <a:p>
            <a:pPr marL="0" indent="0">
              <a:buNone/>
            </a:pP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$</a:t>
            </a: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f.ToString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()		# returns ("*" 1 2 3 4)</a:t>
            </a:r>
          </a:p>
          <a:p>
            <a:pPr marL="0" indent="0">
              <a:buNone/>
            </a:pP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$</a:t>
            </a: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e.ToString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()		# still ("+" 1 2 3 4)</a:t>
            </a:r>
          </a:p>
          <a:p>
            <a:pPr marL="0" indent="0">
              <a:buNone/>
            </a:pPr>
            <a:r>
              <a:rPr lang="en-US" sz="32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ibe</a:t>
            </a:r>
            <a:r>
              <a:rPr lang="en-US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 $f 				# returns 24</a:t>
            </a:r>
          </a:p>
        </p:txBody>
      </p:sp>
    </p:spTree>
    <p:extLst>
      <p:ext uri="{BB962C8B-B14F-4D97-AF65-F5344CB8AC3E}">
        <p14:creationId xmlns:p14="http://schemas.microsoft.com/office/powerpoint/2010/main" val="1757839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r>
              <a:rPr lang="en-GB"/>
              <a:t>We love Demos!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47ED-3D72-5A17-A6A7-AA1A8CD2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10A3-3886-DC4B-4ACE-ACF9B9BD9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Clean/refactor the code</a:t>
            </a:r>
          </a:p>
          <a:p>
            <a:r>
              <a:rPr lang="en-US" dirty="0"/>
              <a:t>Make Braid into a PowerShell module</a:t>
            </a:r>
          </a:p>
          <a:p>
            <a:r>
              <a:rPr lang="en-US" dirty="0"/>
              <a:t>Add formatting configuration for Braid types</a:t>
            </a:r>
          </a:p>
          <a:p>
            <a:r>
              <a:rPr lang="en-US" dirty="0"/>
              <a:t>High-level documentation</a:t>
            </a:r>
          </a:p>
          <a:p>
            <a:r>
              <a:rPr lang="en-US" dirty="0"/>
              <a:t>Build process improvements</a:t>
            </a:r>
          </a:p>
          <a:p>
            <a:pPr lvl="1"/>
            <a:r>
              <a:rPr lang="en-US" dirty="0"/>
              <a:t>Should build on every platform</a:t>
            </a:r>
          </a:p>
          <a:p>
            <a:r>
              <a:rPr lang="en-US" dirty="0"/>
              <a:t>Create a release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782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C24A-59B5-A1FB-BE6F-0C543D31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B4AF7-D4AE-2F14-4CE7-6F04A565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Calling Braid functions from PowerShell is much more interesting than I thought it would be.</a:t>
            </a:r>
          </a:p>
          <a:p>
            <a:r>
              <a:rPr lang="en-US" dirty="0"/>
              <a:t>Try it out, have fun!</a:t>
            </a:r>
          </a:p>
        </p:txBody>
      </p:sp>
    </p:spTree>
    <p:extLst>
      <p:ext uri="{BB962C8B-B14F-4D97-AF65-F5344CB8AC3E}">
        <p14:creationId xmlns:p14="http://schemas.microsoft.com/office/powerpoint/2010/main" val="1617294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  <a:prstDash val="dash"/>
              </a:ln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D424B4-E900-F6B6-EAA3-A874A8F70DAC}"/>
              </a:ext>
            </a:extLst>
          </p:cNvPr>
          <p:cNvSpPr txBox="1"/>
          <p:nvPr/>
        </p:nvSpPr>
        <p:spPr>
          <a:xfrm>
            <a:off x="4049486" y="3380378"/>
            <a:ext cx="346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cumin Pro Black" panose="020B0904020202020204" pitchFamily="34" charset="0"/>
              </a:rPr>
              <a:t>INSERT YOUR SESSION QRCODE HERE</a:t>
            </a: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7" name="Picture 6" descr="Leveraging Braid and PowerShell.">
            <a:extLst>
              <a:ext uri="{FF2B5EF4-FFF2-40B4-BE49-F238E27FC236}">
                <a16:creationId xmlns:a16="http://schemas.microsoft.com/office/drawing/2014/main" id="{4911B66F-5231-FE9F-4F9A-5272DE900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780" y="1385455"/>
            <a:ext cx="4509621" cy="473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12841</TotalTime>
  <Words>1424</Words>
  <Application>Microsoft Office PowerPoint</Application>
  <PresentationFormat>Widescreen</PresentationFormat>
  <Paragraphs>189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Acumin Pro Black</vt:lpstr>
      <vt:lpstr>Arial</vt:lpstr>
      <vt:lpstr>Calibri</vt:lpstr>
      <vt:lpstr>Cascadia Code</vt:lpstr>
      <vt:lpstr>Cascadia Mono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Next Up:</vt:lpstr>
      <vt:lpstr>3</vt:lpstr>
      <vt:lpstr>2</vt:lpstr>
      <vt:lpstr>1</vt:lpstr>
      <vt:lpstr>Leveraging Braid from PowerShell</vt:lpstr>
      <vt:lpstr>Many thanks to our sponsors:</vt:lpstr>
      <vt:lpstr>Bruce Payette</vt:lpstr>
      <vt:lpstr>Agenda</vt:lpstr>
      <vt:lpstr>What is Braid (According to Copilot)</vt:lpstr>
      <vt:lpstr>Why bother?</vt:lpstr>
      <vt:lpstr>Utilities in the PSBraid.ps1 Script</vt:lpstr>
      <vt:lpstr>Braid Highlights</vt:lpstr>
      <vt:lpstr>Core Braid Literal Data Types</vt:lpstr>
      <vt:lpstr>Core Braid Data Types (cont’d)</vt:lpstr>
      <vt:lpstr>Differences: Bare Words, Symbols and Strings</vt:lpstr>
      <vt:lpstr>Differences: Formatting Output</vt:lpstr>
      <vt:lpstr>Differences: Paths and Quoting</vt:lpstr>
      <vt:lpstr>Differences: (Almost) Everything is a Function</vt:lpstr>
      <vt:lpstr>Accessing .NET from Braid</vt:lpstr>
      <vt:lpstr>Differences: Braid is Strict by default</vt:lpstr>
      <vt:lpstr>The Braid Pipeline</vt:lpstr>
      <vt:lpstr>Braid Functions</vt:lpstr>
      <vt:lpstr>Code is Data</vt:lpstr>
      <vt:lpstr>Demos</vt:lpstr>
      <vt:lpstr>Next steps…</vt:lpstr>
      <vt:lpstr>Conclusions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Bruce Payette</cp:lastModifiedBy>
  <cp:revision>143</cp:revision>
  <dcterms:created xsi:type="dcterms:W3CDTF">2024-03-26T13:08:23Z</dcterms:created>
  <dcterms:modified xsi:type="dcterms:W3CDTF">2026-05-27T21:06:26Z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