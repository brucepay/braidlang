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</p:sldMasterIdLst>
  <p:notesMasterIdLst>
    <p:notesMasterId r:id="rId32"/>
  </p:notesMasterIdLst>
  <p:handoutMasterIdLst>
    <p:handoutMasterId r:id="rId33"/>
  </p:handoutMasterIdLst>
  <p:sldIdLst>
    <p:sldId id="272" r:id="rId8"/>
    <p:sldId id="259" r:id="rId9"/>
    <p:sldId id="269" r:id="rId10"/>
    <p:sldId id="270" r:id="rId11"/>
    <p:sldId id="273" r:id="rId12"/>
    <p:sldId id="261" r:id="rId13"/>
    <p:sldId id="267" r:id="rId14"/>
    <p:sldId id="289" r:id="rId15"/>
    <p:sldId id="286" r:id="rId16"/>
    <p:sldId id="275" r:id="rId17"/>
    <p:sldId id="287" r:id="rId18"/>
    <p:sldId id="288" r:id="rId19"/>
    <p:sldId id="278" r:id="rId20"/>
    <p:sldId id="276" r:id="rId21"/>
    <p:sldId id="279" r:id="rId22"/>
    <p:sldId id="280" r:id="rId23"/>
    <p:sldId id="284" r:id="rId24"/>
    <p:sldId id="282" r:id="rId25"/>
    <p:sldId id="281" r:id="rId26"/>
    <p:sldId id="285" r:id="rId27"/>
    <p:sldId id="277" r:id="rId28"/>
    <p:sldId id="283" r:id="rId29"/>
    <p:sldId id="265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61"/>
            <p14:sldId id="267"/>
            <p14:sldId id="289"/>
            <p14:sldId id="286"/>
            <p14:sldId id="275"/>
            <p14:sldId id="287"/>
            <p14:sldId id="288"/>
            <p14:sldId id="278"/>
            <p14:sldId id="276"/>
            <p14:sldId id="279"/>
            <p14:sldId id="280"/>
            <p14:sldId id="284"/>
            <p14:sldId id="282"/>
            <p14:sldId id="281"/>
            <p14:sldId id="285"/>
            <p14:sldId id="277"/>
            <p14:sldId id="283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DF284-ECBD-EE42-323A-0CB3009BCB25}" v="1" dt="2026-03-15T16:37:15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5/10/relationships/revisionInfo" Target="revisionInfo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fc23928-bba0-4562-a674-cd833cae88c5::" providerId="AD" clId="Web-{AE9DF284-ECBD-EE42-323A-0CB3009BCB25}"/>
    <pc:docChg chg="sldOrd">
      <pc:chgData name="Guest User" userId="S::urn:spo:tenantanon#3fc23928-bba0-4562-a674-cd833cae88c5::" providerId="AD" clId="Web-{AE9DF284-ECBD-EE42-323A-0CB3009BCB25}" dt="2026-03-15T16:37:15.482" v="0"/>
      <pc:docMkLst>
        <pc:docMk/>
      </pc:docMkLst>
      <pc:sldChg chg="ord">
        <pc:chgData name="Guest User" userId="S::urn:spo:tenantanon#3fc23928-bba0-4562-a674-cd833cae88c5::" providerId="AD" clId="Web-{AE9DF284-ECBD-EE42-323A-0CB3009BCB25}" dt="2026-03-15T16:37:15.482" v="0"/>
        <pc:sldMkLst>
          <pc:docMk/>
          <pc:sldMk cId="3315886587" sldId="272"/>
        </pc:sldMkLst>
      </pc:sldChg>
    </pc:docChg>
  </pc:docChgLst>
  <pc:docChgLst>
    <pc:chgData name="Thorsten Butz" userId="995738bf-6772-44af-a78c-76b53e4bf37d" providerId="ADAL" clId="{47724D17-2FBF-476D-95A4-639784F55674}"/>
    <pc:docChg chg="undo custSel mod modSld">
      <pc:chgData name="Thorsten Butz" userId="995738bf-6772-44af-a78c-76b53e4bf37d" providerId="ADAL" clId="{47724D17-2FBF-476D-95A4-639784F55674}" dt="2026-03-05T15:47:53.409" v="10" actId="692"/>
      <pc:docMkLst>
        <pc:docMk/>
      </pc:docMkLst>
      <pc:sldChg chg="addSp delSp modSp mod">
        <pc:chgData name="Thorsten Butz" userId="995738bf-6772-44af-a78c-76b53e4bf37d" providerId="ADAL" clId="{47724D17-2FBF-476D-95A4-639784F55674}" dt="2026-03-05T15:47:53.409" v="10" actId="692"/>
        <pc:sldMkLst>
          <pc:docMk/>
          <pc:sldMk cId="3984835757" sldId="261"/>
        </pc:sldMkLst>
        <pc:picChg chg="mod">
          <ac:chgData name="Thorsten Butz" userId="995738bf-6772-44af-a78c-76b53e4bf37d" providerId="ADAL" clId="{47724D17-2FBF-476D-95A4-639784F55674}" dt="2026-03-05T15:47:53.409" v="10" actId="692"/>
          <ac:picMkLst>
            <pc:docMk/>
            <pc:sldMk cId="3984835757" sldId="261"/>
            <ac:picMk id="8" creationId="{C4BDF3A9-64A1-2EA9-AABD-6B9AFBACBB04}"/>
          </ac:picMkLst>
        </pc:picChg>
      </pc:sldChg>
    </pc:docChg>
  </pc:docChgLst>
  <pc:docChgLst>
    <pc:chgData name="Geoffroy Dubreuil" userId="36186b9b-dc71-47e0-bff2-bd95e619117d" providerId="ADAL" clId="{77CD6894-02A7-403D-85B8-E33CDE72DEFB}"/>
    <pc:docChg chg="custSel modSld">
      <pc:chgData name="Geoffroy Dubreuil" userId="36186b9b-dc71-47e0-bff2-bd95e619117d" providerId="ADAL" clId="{77CD6894-02A7-403D-85B8-E33CDE72DEFB}" dt="2026-03-06T12:20:58.394" v="42" actId="113"/>
      <pc:docMkLst>
        <pc:docMk/>
      </pc:docMkLst>
      <pc:sldChg chg="addSp modSp mod">
        <pc:chgData name="Geoffroy Dubreuil" userId="36186b9b-dc71-47e0-bff2-bd95e619117d" providerId="ADAL" clId="{77CD6894-02A7-403D-85B8-E33CDE72DEFB}" dt="2026-03-06T12:20:58.394" v="42" actId="113"/>
        <pc:sldMkLst>
          <pc:docMk/>
          <pc:sldMk cId="1101361508" sldId="260"/>
        </pc:sldMkLst>
        <pc:spChg chg="add mod">
          <ac:chgData name="Geoffroy Dubreuil" userId="36186b9b-dc71-47e0-bff2-bd95e619117d" providerId="ADAL" clId="{77CD6894-02A7-403D-85B8-E33CDE72DEFB}" dt="2026-03-06T12:20:58.394" v="42" actId="113"/>
          <ac:spMkLst>
            <pc:docMk/>
            <pc:sldMk cId="1101361508" sldId="260"/>
            <ac:spMk id="4" creationId="{0EB8D984-3C84-80FA-2E8F-3981EC58C35C}"/>
          </ac:spMkLst>
        </pc:spChg>
      </pc:sldChg>
      <pc:sldChg chg="modSp mod">
        <pc:chgData name="Geoffroy Dubreuil" userId="36186b9b-dc71-47e0-bff2-bd95e619117d" providerId="ADAL" clId="{77CD6894-02A7-403D-85B8-E33CDE72DEFB}" dt="2026-03-05T15:46:09.927" v="29" actId="6549"/>
        <pc:sldMkLst>
          <pc:docMk/>
          <pc:sldMk cId="2831095747" sldId="271"/>
        </pc:sldMkLst>
        <pc:spChg chg="mod">
          <ac:chgData name="Geoffroy Dubreuil" userId="36186b9b-dc71-47e0-bff2-bd95e619117d" providerId="ADAL" clId="{77CD6894-02A7-403D-85B8-E33CDE72DEFB}" dt="2026-03-05T15:44:38.088" v="20" actId="255"/>
          <ac:spMkLst>
            <pc:docMk/>
            <pc:sldMk cId="2831095747" sldId="271"/>
            <ac:spMk id="2" creationId="{A196BBFD-A430-8F6F-DBB7-52C55DB3DA2F}"/>
          </ac:spMkLst>
        </pc:spChg>
        <pc:spChg chg="mod">
          <ac:chgData name="Geoffroy Dubreuil" userId="36186b9b-dc71-47e0-bff2-bd95e619117d" providerId="ADAL" clId="{77CD6894-02A7-403D-85B8-E33CDE72DEFB}" dt="2026-03-05T15:46:09.927" v="29" actId="6549"/>
          <ac:spMkLst>
            <pc:docMk/>
            <pc:sldMk cId="2831095747" sldId="271"/>
            <ac:spMk id="3" creationId="{A13D084F-E8FE-14E3-7A60-1AB8B95A44C2}"/>
          </ac:spMkLst>
        </pc:spChg>
      </pc:sldChg>
      <pc:sldChg chg="addSp modSp mod">
        <pc:chgData name="Geoffroy Dubreuil" userId="36186b9b-dc71-47e0-bff2-bd95e619117d" providerId="ADAL" clId="{77CD6894-02A7-403D-85B8-E33CDE72DEFB}" dt="2026-03-06T08:17:18.852" v="31" actId="1076"/>
        <pc:sldMkLst>
          <pc:docMk/>
          <pc:sldMk cId="923274605" sldId="274"/>
        </pc:sldMkLst>
        <pc:picChg chg="add mod">
          <ac:chgData name="Geoffroy Dubreuil" userId="36186b9b-dc71-47e0-bff2-bd95e619117d" providerId="ADAL" clId="{77CD6894-02A7-403D-85B8-E33CDE72DEFB}" dt="2026-03-06T08:17:18.852" v="31" actId="1076"/>
          <ac:picMkLst>
            <pc:docMk/>
            <pc:sldMk cId="923274605" sldId="274"/>
            <ac:picMk id="2" creationId="{8C7569A3-761E-DEAA-1C30-F448FEB741F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A65B-0377-68EB-BAF7-291EAB6D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284DE5-11FD-4C30-923B-0A9A930DE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C45CDE-C7FC-A49B-2AC1-B95A95E24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A6E093-3BD0-7AAF-8444-38477BABB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392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314E4-A97F-BC4A-2EB0-6D254E19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22F2DE-B0F7-3A81-80A8-633FA5DE0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B7A8D9-E5D3-E06C-BB9D-378C7F201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8EE177-09DD-4E2C-E54A-2AD4A7C36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416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@brucepayette.bsky.social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3B2B46"/>
                </a:solidFill>
              </a:rPr>
              <a:t>@brucepayette.bsky.social</a:t>
            </a:r>
          </a:p>
          <a:p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Bruce Payette</a:t>
            </a:r>
            <a:endParaRPr lang="en-GB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Bruce Payette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Leveraging Braid from PowerShell</a:t>
            </a:r>
            <a:endParaRPr lang="en-DE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4BDF3A9-64A1-2EA9-AABD-6B9AFBACB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Founding member of the PowerShell team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Technical lead on the PowerShell language design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PowerShell DSC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the Braid language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Very interested (ok obsessed) with interactive programming languages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Bruce Payette</a:t>
            </a:r>
            <a:endParaRPr lang="en-DE" sz="660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SPEAKER&#10;&#10;AI-generated content may be incorrect.">
            <a:extLst>
              <a:ext uri="{FF2B5EF4-FFF2-40B4-BE49-F238E27FC236}">
                <a16:creationId xmlns:a16="http://schemas.microsoft.com/office/drawing/2014/main" id="{908D552E-B9EB-791D-371D-DACABBF8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51" y="565441"/>
            <a:ext cx="3123261" cy="31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04E7EC-47DA-9454-9DDA-85283830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754" y="1568383"/>
            <a:ext cx="7886486" cy="4324100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Some background on PowerShell</a:t>
            </a:r>
          </a:p>
          <a:p>
            <a:r>
              <a:rPr lang="en-US" dirty="0"/>
              <a:t>Examining individual scenarios</a:t>
            </a:r>
          </a:p>
          <a:p>
            <a:pPr lvl="1"/>
            <a:r>
              <a:rPr lang="en-US" dirty="0"/>
              <a:t>Mostly covering stuff I worked directly on</a:t>
            </a:r>
          </a:p>
          <a:p>
            <a:pPr lvl="1"/>
            <a:r>
              <a:rPr lang="en-US" dirty="0"/>
              <a:t>Rating the success of each scenario on a scale of 1-5.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Q &amp; A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5BA9BE-F967-098F-096C-34609AC3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580" y="302735"/>
            <a:ext cx="7886485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6920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04D3-B6B4-60DB-458A-6EEC777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8AE9-FCF0-3092-7025-A3C95ECE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5280"/>
            <a:ext cx="10532533" cy="5012267"/>
          </a:xfrm>
        </p:spPr>
        <p:txBody>
          <a:bodyPr>
            <a:normAutofit fontScale="32500" lnSpcReduction="20000"/>
          </a:bodyPr>
          <a:lstStyle/>
          <a:p>
            <a:r>
              <a:rPr lang="en-US" sz="8600" dirty="0"/>
              <a:t>Users are most important than conserving resources. This includes performance. </a:t>
            </a:r>
          </a:p>
          <a:p>
            <a:pPr lvl="1"/>
            <a:r>
              <a:rPr lang="en-US" sz="8200" dirty="0"/>
              <a:t>When scripting, common scenarios should be super easy, less common scenarios should be possible.</a:t>
            </a:r>
          </a:p>
          <a:p>
            <a:pPr lvl="1"/>
            <a:r>
              <a:rPr lang="en-US" sz="8200" dirty="0"/>
              <a:t>Simplified exposing functionality on the command line.</a:t>
            </a:r>
          </a:p>
          <a:p>
            <a:r>
              <a:rPr lang="en-US" sz="8600" dirty="0"/>
              <a:t>Deep simplicity and deep consistency are king (at least for the </a:t>
            </a:r>
            <a:r>
              <a:rPr lang="en-US" sz="8600" dirty="0" err="1"/>
              <a:t>ITPro</a:t>
            </a:r>
            <a:r>
              <a:rPr lang="en-US" sz="8600" dirty="0"/>
              <a:t> user)</a:t>
            </a:r>
          </a:p>
          <a:p>
            <a:pPr lvl="1"/>
            <a:r>
              <a:rPr lang="en-US" sz="8300" dirty="0"/>
              <a:t>But beware of the “</a:t>
            </a:r>
            <a:r>
              <a:rPr lang="en-US" sz="8300" i="1" dirty="0"/>
              <a:t>Foolish Consistency</a:t>
            </a:r>
            <a:r>
              <a:rPr lang="en-US" sz="8300" dirty="0"/>
              <a:t>”</a:t>
            </a:r>
          </a:p>
          <a:p>
            <a:pPr lvl="1"/>
            <a:r>
              <a:rPr lang="en-US" sz="8300" dirty="0"/>
              <a:t>It is possible to over do consistency/simplicity – works in the general case, fails in edge scenarios. Examples:</a:t>
            </a:r>
          </a:p>
          <a:p>
            <a:pPr lvl="2"/>
            <a:r>
              <a:rPr lang="en-US" sz="62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ScriptBlock.InvokeReturnAsIs</a:t>
            </a:r>
            <a:r>
              <a:rPr lang="en-US" sz="62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 </a:t>
            </a:r>
            <a:r>
              <a:rPr lang="en-US" sz="8300" dirty="0">
                <a:solidFill>
                  <a:schemeClr val="accent1"/>
                </a:solidFill>
              </a:rPr>
              <a:t>(sigh)</a:t>
            </a:r>
          </a:p>
          <a:p>
            <a:pPr lvl="2"/>
            <a:r>
              <a:rPr lang="en-US" sz="8300" dirty="0">
                <a:solidFill>
                  <a:schemeClr val="accent1"/>
                </a:solidFill>
              </a:rPr>
              <a:t>The Registry provider (and providers in general to some extent.)</a:t>
            </a:r>
          </a:p>
          <a:p>
            <a:r>
              <a:rPr lang="en-US" sz="8600" dirty="0"/>
              <a:t>The sacred vow – learn once, use forever.</a:t>
            </a:r>
          </a:p>
          <a:p>
            <a:pPr lvl="1"/>
            <a:r>
              <a:rPr lang="en-US" sz="8300" dirty="0"/>
              <a:t>Backwards compatibility </a:t>
            </a:r>
          </a:p>
        </p:txBody>
      </p:sp>
    </p:spTree>
    <p:extLst>
      <p:ext uri="{BB962C8B-B14F-4D97-AF65-F5344CB8AC3E}">
        <p14:creationId xmlns:p14="http://schemas.microsoft.com/office/powerpoint/2010/main" val="248464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C459-E31D-3344-22AA-EB6E4E1A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204EE-5C86-D407-D0E1-5AF5A692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 the </a:t>
            </a:r>
            <a:r>
              <a:rPr lang="fr-FR" dirty="0" err="1"/>
              <a:t>Beginning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80AA82-3053-0A10-36D9-DB056125B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Initial design: the engine was organized as a set of cooperating services</a:t>
            </a:r>
          </a:p>
          <a:p>
            <a:pPr lvl="1"/>
            <a:r>
              <a:rPr lang="en-US" dirty="0"/>
              <a:t>Like microservices but all in process</a:t>
            </a:r>
          </a:p>
          <a:p>
            <a:pPr lvl="1"/>
            <a:r>
              <a:rPr lang="en-US" dirty="0"/>
              <a:t>But out-of-proc microservices would’ve been cool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WindowsCompatibility</a:t>
            </a:r>
            <a:r>
              <a:rPr lang="en-US" dirty="0"/>
              <a:t> module essentially does this</a:t>
            </a:r>
          </a:p>
          <a:p>
            <a:r>
              <a:rPr lang="en-US" dirty="0"/>
              <a:t>Each service performed a service (duh) for the engine</a:t>
            </a:r>
          </a:p>
          <a:p>
            <a:pPr lvl="1"/>
            <a:r>
              <a:rPr lang="en-US" dirty="0"/>
              <a:t>SessionState service</a:t>
            </a:r>
          </a:p>
          <a:p>
            <a:pPr lvl="1"/>
            <a:r>
              <a:rPr lang="en-US" dirty="0"/>
              <a:t>Error handling service</a:t>
            </a:r>
          </a:p>
          <a:p>
            <a:pPr lvl="1"/>
            <a:r>
              <a:rPr lang="en-US" dirty="0"/>
              <a:t>Formatting &amp; Output service</a:t>
            </a:r>
          </a:p>
          <a:p>
            <a:pPr lvl="1"/>
            <a:r>
              <a:rPr lang="en-US" dirty="0"/>
              <a:t>Language service</a:t>
            </a:r>
          </a:p>
          <a:p>
            <a:pPr lvl="1"/>
            <a:r>
              <a:rPr lang="en-US" dirty="0"/>
              <a:t>Type service (*)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24F7C-1EBD-DC8F-F729-72F4B510FF03}"/>
              </a:ext>
            </a:extLst>
          </p:cNvPr>
          <p:cNvSpPr/>
          <p:nvPr/>
        </p:nvSpPr>
        <p:spPr>
          <a:xfrm>
            <a:off x="10322286" y="4572000"/>
            <a:ext cx="1869713" cy="2286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part of your slide will not be visible in post-production.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b="1" dirty="0"/>
              <a:t> Please do not include anything here.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u="sng" dirty="0"/>
              <a:t>Red rectangle to be deleted</a:t>
            </a:r>
          </a:p>
        </p:txBody>
      </p:sp>
    </p:spTree>
    <p:extLst>
      <p:ext uri="{BB962C8B-B14F-4D97-AF65-F5344CB8AC3E}">
        <p14:creationId xmlns:p14="http://schemas.microsoft.com/office/powerpoint/2010/main" val="84429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ECFA-F0C1-71BA-B521-C31904DD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Beginning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733F-9BE0-4DC8-C017-3D96AE98B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Under the </a:t>
            </a:r>
            <a:r>
              <a:rPr lang="en-US" dirty="0" err="1"/>
              <a:t>miniservices</a:t>
            </a:r>
            <a:r>
              <a:rPr lang="en-US" dirty="0"/>
              <a:t> model, the user would only need to instantiate the required services through dependency injection</a:t>
            </a:r>
          </a:p>
          <a:p>
            <a:pPr lvl="1"/>
            <a:r>
              <a:rPr lang="en-US" dirty="0"/>
              <a:t>The only non-optional service was the pipeline processor</a:t>
            </a:r>
          </a:p>
          <a:p>
            <a:r>
              <a:rPr lang="en-US" dirty="0"/>
              <a:t>Using all these services made it hard to work with (LEGO shell?)</a:t>
            </a:r>
          </a:p>
          <a:p>
            <a:r>
              <a:rPr lang="en-US" dirty="0"/>
              <a:t>However, as the engine was developed, these services took a dependency on the language runtime (e.g. </a:t>
            </a:r>
            <a:r>
              <a:rPr lang="en-US" dirty="0" err="1"/>
              <a:t>ScriptBlocks</a:t>
            </a:r>
            <a:r>
              <a:rPr lang="en-US" dirty="0"/>
              <a:t> in Formatting/Output, Script Methods)</a:t>
            </a:r>
          </a:p>
          <a:p>
            <a:r>
              <a:rPr lang="en-US" dirty="0"/>
              <a:t>Ultimately we wrapped everything and called it a </a:t>
            </a:r>
            <a:r>
              <a:rPr lang="en-US" i="1" dirty="0" err="1"/>
              <a:t>RunSpace</a:t>
            </a:r>
            <a:endParaRPr lang="en-US" i="1" dirty="0"/>
          </a:p>
          <a:p>
            <a:pPr lvl="1"/>
            <a:r>
              <a:rPr lang="en-US" dirty="0" err="1"/>
              <a:t>RunSpace</a:t>
            </a:r>
            <a:r>
              <a:rPr lang="en-US" dirty="0"/>
              <a:t> == “A place to run PowerShell code”</a:t>
            </a:r>
          </a:p>
        </p:txBody>
      </p:sp>
    </p:spTree>
    <p:extLst>
      <p:ext uri="{BB962C8B-B14F-4D97-AF65-F5344CB8AC3E}">
        <p14:creationId xmlns:p14="http://schemas.microsoft.com/office/powerpoint/2010/main" val="96157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E3BD-05C0-0B0B-E153-F335248E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72"/>
            <a:ext cx="9733280" cy="1325563"/>
          </a:xfrm>
        </p:spPr>
        <p:txBody>
          <a:bodyPr/>
          <a:lstStyle/>
          <a:p>
            <a:r>
              <a:rPr lang="en-US" dirty="0"/>
              <a:t>3 days later… (4.5/5)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D5FE7-E601-32FF-C8B9-A328E5D75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51972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And PowerShell 2 introduces remoting. Dun </a:t>
            </a:r>
            <a:r>
              <a:rPr lang="en-US" dirty="0" err="1"/>
              <a:t>dun</a:t>
            </a:r>
            <a:r>
              <a:rPr lang="en-US" dirty="0"/>
              <a:t> dah!</a:t>
            </a:r>
          </a:p>
          <a:p>
            <a:r>
              <a:rPr lang="en-US" dirty="0"/>
              <a:t>Initially, users would connect to a remote </a:t>
            </a:r>
            <a:r>
              <a:rPr lang="en-US" dirty="0" err="1"/>
              <a:t>RunSpace</a:t>
            </a:r>
            <a:endParaRPr lang="en-US" dirty="0"/>
          </a:p>
          <a:p>
            <a:r>
              <a:rPr lang="en-US" dirty="0"/>
              <a:t>BUT when the usability folks tested this they found that users thought “</a:t>
            </a:r>
            <a:r>
              <a:rPr lang="en-US" dirty="0" err="1"/>
              <a:t>RunSpace</a:t>
            </a:r>
            <a:r>
              <a:rPr lang="en-US" dirty="0"/>
              <a:t>” was confusing and preferred “Session” which was already a familiar term.</a:t>
            </a:r>
          </a:p>
          <a:p>
            <a:r>
              <a:rPr lang="en-US" dirty="0"/>
              <a:t>What to do?</a:t>
            </a:r>
          </a:p>
          <a:p>
            <a:pPr lvl="1"/>
            <a:r>
              <a:rPr lang="en-US" dirty="0"/>
              <a:t>The ideal fix would be to change </a:t>
            </a:r>
            <a:r>
              <a:rPr lang="en-US" dirty="0" err="1"/>
              <a:t>RunSpace</a:t>
            </a:r>
            <a:r>
              <a:rPr lang="en-US" dirty="0"/>
              <a:t> to Session</a:t>
            </a:r>
          </a:p>
          <a:p>
            <a:pPr lvl="1"/>
            <a:r>
              <a:rPr lang="en-US" dirty="0"/>
              <a:t>Unfortunately, since V1 had already shipped, doing this would have been a massive breaking change</a:t>
            </a:r>
          </a:p>
          <a:p>
            <a:pPr lvl="1"/>
            <a:r>
              <a:rPr lang="en-US" dirty="0"/>
              <a:t>As a result of this, a new class Session was added</a:t>
            </a:r>
          </a:p>
          <a:p>
            <a:pPr lvl="1"/>
            <a:r>
              <a:rPr lang="en-US" dirty="0"/>
              <a:t>Sessions wrap Runspaces which wrap Engine which wrapped SessionState and the Language </a:t>
            </a:r>
            <a:r>
              <a:rPr lang="en-US" dirty="0" err="1"/>
              <a:t>rubtime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71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4BAF-844F-4377-2A14-9F5D3075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867"/>
            <a:ext cx="9733280" cy="1325563"/>
          </a:xfrm>
        </p:spPr>
        <p:txBody>
          <a:bodyPr/>
          <a:lstStyle/>
          <a:p>
            <a:r>
              <a:rPr lang="en-US" dirty="0"/>
              <a:t>Parameter Binding (4/5)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103A-44D7-F6E9-AB98-B93F4B4BB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985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Does a breadth-first search of all of the parameter sets. </a:t>
            </a:r>
          </a:p>
          <a:p>
            <a:pPr lvl="1"/>
            <a:r>
              <a:rPr lang="en-US" dirty="0"/>
              <a:t>Uses a bitmap to keep track of the still active sets.</a:t>
            </a:r>
          </a:p>
          <a:p>
            <a:pPr lvl="1"/>
            <a:r>
              <a:rPr lang="en-US" dirty="0"/>
              <a:t>At the end of the search there should only be 1 bit set.</a:t>
            </a:r>
          </a:p>
          <a:p>
            <a:r>
              <a:rPr lang="en-US" dirty="0"/>
              <a:t>Does two searches:</a:t>
            </a:r>
          </a:p>
          <a:p>
            <a:pPr lvl="1"/>
            <a:r>
              <a:rPr lang="en-US" dirty="0"/>
              <a:t>First uses direct assignment </a:t>
            </a:r>
          </a:p>
          <a:p>
            <a:pPr lvl="1"/>
            <a:r>
              <a:rPr lang="en-US" dirty="0"/>
              <a:t>Second uses type conversion</a:t>
            </a:r>
          </a:p>
          <a:p>
            <a:pPr lvl="1"/>
            <a:r>
              <a:rPr lang="en-US" dirty="0"/>
              <a:t>This was a hack that lasted 20+ years…</a:t>
            </a:r>
          </a:p>
          <a:p>
            <a:r>
              <a:rPr lang="en-US" dirty="0"/>
              <a:t>Dynamic parameters, ubiquitous parameters all make parameter binding ludicrously complicated and slow.</a:t>
            </a:r>
          </a:p>
        </p:txBody>
      </p:sp>
    </p:spTree>
    <p:extLst>
      <p:ext uri="{BB962C8B-B14F-4D97-AF65-F5344CB8AC3E}">
        <p14:creationId xmlns:p14="http://schemas.microsoft.com/office/powerpoint/2010/main" val="4073995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3600-AD88-E5D7-6326-AD0B56F4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A34B2-9CFA-EEEC-3423-EE845B77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Pipelining (4/5)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B65F2-BE80-9E24-1C58-8813DAB5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465"/>
            <a:ext cx="10515600" cy="470386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Traditional shells use one process per command</a:t>
            </a:r>
          </a:p>
          <a:p>
            <a:pPr lvl="1"/>
            <a:r>
              <a:rPr lang="en-GB" dirty="0"/>
              <a:t>This couldn’t work for PowerShell because of the overhead of process creation and, even </a:t>
            </a:r>
            <a:r>
              <a:rPr lang="en-GB"/>
              <a:t>worse, object </a:t>
            </a:r>
            <a:r>
              <a:rPr lang="en-GB" dirty="0"/>
              <a:t>serialization.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We then considered using threads to implement concurrency, one thread per command but again, lots of overhead.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Finally we settled on the single-thread Begin/Process/End approach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NOTE We made cmdlet pipeline support explicit. You had to design your cmdlet to actively participate in pipeline input.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C94C3-D158-7BC4-10AA-F3F4FCAF27E8}"/>
              </a:ext>
            </a:extLst>
          </p:cNvPr>
          <p:cNvSpPr/>
          <p:nvPr/>
        </p:nvSpPr>
        <p:spPr>
          <a:xfrm flipH="1" flipV="1">
            <a:off x="12191999" y="6858000"/>
            <a:ext cx="548641" cy="436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part of your slide will not be visible in post-production.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b="1" dirty="0"/>
              <a:t> Please do not include anything here.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u="sng" dirty="0"/>
              <a:t>Red rectangle to be deleted</a:t>
            </a:r>
          </a:p>
        </p:txBody>
      </p:sp>
    </p:spTree>
    <p:extLst>
      <p:ext uri="{BB962C8B-B14F-4D97-AF65-F5344CB8AC3E}">
        <p14:creationId xmlns:p14="http://schemas.microsoft.com/office/powerpoint/2010/main" val="2761069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1072-6C29-C047-4488-6F3458AF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365125"/>
            <a:ext cx="9733280" cy="1325563"/>
          </a:xfrm>
        </p:spPr>
        <p:txBody>
          <a:bodyPr>
            <a:noAutofit/>
          </a:bodyPr>
          <a:lstStyle/>
          <a:p>
            <a:r>
              <a:rPr lang="en-US" sz="4000" dirty="0"/>
              <a:t>Streaming, Cardinality and Collections (3/5)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D72D6-F83B-61E7-6030-6C5E164E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933" y="1446317"/>
            <a:ext cx="10515600" cy="525928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PowerShell </a:t>
            </a:r>
            <a:r>
              <a:rPr lang="en-US" i="1" dirty="0"/>
              <a:t>streams</a:t>
            </a:r>
            <a:r>
              <a:rPr lang="en-US" dirty="0"/>
              <a:t> everything which means it flattens collections of collections by one level. (it’s essentially </a:t>
            </a:r>
            <a:r>
              <a:rPr lang="en-US" dirty="0" err="1"/>
              <a:t>flatmap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makes the most common scenarios really easy but makes some less common ones impossible.</a:t>
            </a:r>
          </a:p>
          <a:p>
            <a:pPr lvl="1"/>
            <a:r>
              <a:rPr lang="en-US" dirty="0"/>
              <a:t>You </a:t>
            </a:r>
            <a:r>
              <a:rPr lang="en-US" i="1" dirty="0"/>
              <a:t>cannot</a:t>
            </a:r>
            <a:r>
              <a:rPr lang="en-US" dirty="0"/>
              <a:t> reliably pass a collection type through PowerShell pipelines.</a:t>
            </a:r>
          </a:p>
          <a:p>
            <a:r>
              <a:rPr lang="en-US" dirty="0" err="1"/>
              <a:t>IEnumerables</a:t>
            </a:r>
            <a:r>
              <a:rPr lang="en-US" dirty="0"/>
              <a:t> as input are messed up. The following turns out to be evil:</a:t>
            </a:r>
          </a:p>
          <a:p>
            <a:pPr marL="0" indent="0">
              <a:buNone/>
            </a:pPr>
            <a:r>
              <a:rPr lang="en-US" sz="2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</a:t>
            </a: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[Parameter(</a:t>
            </a:r>
            <a:r>
              <a:rPr lang="en-US" sz="21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ValueFromPipeline</a:t>
            </a: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true)]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public </a:t>
            </a:r>
            <a:r>
              <a:rPr lang="en-US" sz="21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PSObject</a:t>
            </a: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1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InputObject</a:t>
            </a: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 get; set; } = </a:t>
            </a:r>
            <a:r>
              <a:rPr lang="en-US" sz="21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AutomationNull.Value</a:t>
            </a:r>
            <a:r>
              <a:rPr lang="en-US" sz="21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dirty="0">
                <a:cs typeface="Cascadia Code" panose="020B0609020000020004" pitchFamily="49" charset="0"/>
              </a:rPr>
              <a:t>No array literals, leading commas are weird.</a:t>
            </a:r>
          </a:p>
          <a:p>
            <a:r>
              <a:rPr lang="en-US" dirty="0">
                <a:cs typeface="Cascadia Code" panose="020B0609020000020004" pitchFamily="49" charset="0"/>
              </a:rPr>
              <a:t>BUG?  When passing Braid vectors to sort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(</a:t>
            </a:r>
            <a:r>
              <a:rPr lang="en-US" sz="26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6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vector 2 1 3 | sort-object) </a:t>
            </a:r>
          </a:p>
          <a:p>
            <a:pPr marL="0" indent="0">
              <a:buNone/>
            </a:pPr>
            <a:r>
              <a:rPr lang="en-US" dirty="0">
                <a:cs typeface="Cascadia Code" panose="020B0609020000020004" pitchFamily="49" charset="0"/>
              </a:rPr>
              <a:t>the vector gets passed as a single element instead of sorting it but</a:t>
            </a:r>
          </a:p>
          <a:p>
            <a:pPr marL="0" indent="0">
              <a:buNone/>
            </a:pPr>
            <a:r>
              <a:rPr lang="en-US" dirty="0">
                <a:cs typeface="Cascadia Code" panose="020B0609020000020004" pitchFamily="49" charset="0"/>
              </a:rPr>
              <a:t> 	</a:t>
            </a:r>
            <a:r>
              <a:rPr lang="en-US" sz="23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300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ibf</a:t>
            </a:r>
            <a:r>
              <a:rPr lang="en-US" sz="2300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vector 2 1 3 | write-output | sort-object) </a:t>
            </a:r>
            <a:r>
              <a:rPr lang="en-US" dirty="0">
                <a:cs typeface="Cascadia Code" panose="020B0609020000020004" pitchFamily="49" charset="0"/>
              </a:rPr>
              <a:t>works properly.</a:t>
            </a:r>
          </a:p>
        </p:txBody>
      </p:sp>
    </p:spTree>
    <p:extLst>
      <p:ext uri="{BB962C8B-B14F-4D97-AF65-F5344CB8AC3E}">
        <p14:creationId xmlns:p14="http://schemas.microsoft.com/office/powerpoint/2010/main" val="80177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CCBF-C92C-14A9-531E-CEFE168A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Syntax &amp; Quoting (4.8/5)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D011-15E6-CA5D-E18D-FD732C9E2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86" y="1524000"/>
            <a:ext cx="10515600" cy="47210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Began with </a:t>
            </a:r>
            <a:r>
              <a:rPr lang="en-US" dirty="0" err="1"/>
              <a:t>Posix</a:t>
            </a:r>
            <a:r>
              <a:rPr lang="en-US" dirty="0"/>
              <a:t> Shell (</a:t>
            </a:r>
            <a:r>
              <a:rPr lang="en-US" dirty="0" err="1"/>
              <a:t>ksh</a:t>
            </a:r>
            <a:r>
              <a:rPr lang="en-US" dirty="0"/>
              <a:t>) grammar and Perl for extensions.</a:t>
            </a:r>
          </a:p>
          <a:p>
            <a:pPr lvl="1"/>
            <a:r>
              <a:rPr lang="en-US" dirty="0"/>
              <a:t>We had a YACC grammar for a while but PowerShell is not an LALR(1) language.</a:t>
            </a:r>
          </a:p>
          <a:p>
            <a:r>
              <a:rPr lang="en-US" dirty="0"/>
              <a:t>Reset very early on to use (a subset of) C# (and also Java/</a:t>
            </a:r>
            <a:r>
              <a:rPr lang="en-US" dirty="0" err="1"/>
              <a:t>Javascript</a:t>
            </a:r>
            <a:r>
              <a:rPr lang="en-US" dirty="0"/>
              <a:t>/C/C++) because we wanted programmers to like PowerShell too.</a:t>
            </a:r>
          </a:p>
          <a:p>
            <a:r>
              <a:rPr lang="en-US" dirty="0"/>
              <a:t>Bimodal parsing: command and expression modes</a:t>
            </a:r>
          </a:p>
          <a:p>
            <a:r>
              <a:rPr lang="en-US" dirty="0"/>
              <a:t>Single and double quoted strings, expansion, the quote character in strings backtick (`). People don’t like this.</a:t>
            </a:r>
          </a:p>
          <a:p>
            <a:r>
              <a:rPr lang="en-US" dirty="0"/>
              <a:t>Splatting hashtables instead of backquote. Humph</a:t>
            </a:r>
          </a:p>
        </p:txBody>
      </p:sp>
    </p:spTree>
    <p:extLst>
      <p:ext uri="{BB962C8B-B14F-4D97-AF65-F5344CB8AC3E}">
        <p14:creationId xmlns:p14="http://schemas.microsoft.com/office/powerpoint/2010/main" val="1600511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197C-3D75-5169-8B75-7C31489E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Scoping (4/5)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15442-10A0-3357-D460-93214FE52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Scoping is about the variables your code can see.</a:t>
            </a:r>
          </a:p>
          <a:p>
            <a:r>
              <a:rPr lang="en-US" dirty="0"/>
              <a:t>Lexical Scoping</a:t>
            </a:r>
          </a:p>
          <a:p>
            <a:pPr lvl="1"/>
            <a:r>
              <a:rPr lang="en-US" dirty="0" err="1"/>
              <a:t>Visability</a:t>
            </a:r>
            <a:r>
              <a:rPr lang="en-US" dirty="0"/>
              <a:t> depends on where things are defined</a:t>
            </a:r>
          </a:p>
          <a:p>
            <a:r>
              <a:rPr lang="en-US" dirty="0"/>
              <a:t>Dynamic Scoping (PowerShell does this)</a:t>
            </a:r>
          </a:p>
          <a:p>
            <a:pPr lvl="1"/>
            <a:r>
              <a:rPr lang="en-US" dirty="0" err="1"/>
              <a:t>Visability</a:t>
            </a:r>
            <a:r>
              <a:rPr lang="en-US" dirty="0"/>
              <a:t> depends on when things are defined</a:t>
            </a:r>
          </a:p>
          <a:p>
            <a:pPr lvl="1"/>
            <a:r>
              <a:rPr lang="en-US" dirty="0"/>
              <a:t>Supports the configuration shell pattern</a:t>
            </a:r>
          </a:p>
          <a:p>
            <a:r>
              <a:rPr lang="en-US" dirty="0"/>
              <a:t>Module Scoping</a:t>
            </a:r>
          </a:p>
          <a:p>
            <a:pPr lvl="1"/>
            <a:r>
              <a:rPr lang="en-US" dirty="0" err="1"/>
              <a:t>Visability</a:t>
            </a:r>
            <a:r>
              <a:rPr lang="en-US" dirty="0"/>
              <a:t> depends on how things are defined</a:t>
            </a:r>
          </a:p>
        </p:txBody>
      </p:sp>
    </p:spTree>
    <p:extLst>
      <p:ext uri="{BB962C8B-B14F-4D97-AF65-F5344CB8AC3E}">
        <p14:creationId xmlns:p14="http://schemas.microsoft.com/office/powerpoint/2010/main" val="1207929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7CEE-C43A-536C-F7A0-00DD1331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and Conversions (4.5/5)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C2C7-292E-565A-366A-67A4BEDB3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Designed to use a very small set of core types: numbers(!), strings, arrays and hashtables</a:t>
            </a:r>
          </a:p>
          <a:p>
            <a:r>
              <a:rPr lang="en-US" dirty="0"/>
              <a:t>Type notation: [int] [int[]] [list[int]]</a:t>
            </a:r>
          </a:p>
          <a:p>
            <a:pPr lvl="1"/>
            <a:r>
              <a:rPr lang="en-US" dirty="0"/>
              <a:t>Annoying because type literals only parse in expression mode. It would, for example, be nice to be able to use types as switch cases (could do this with a switch switch)</a:t>
            </a:r>
          </a:p>
          <a:p>
            <a:r>
              <a:rPr lang="en-US" dirty="0"/>
              <a:t>Promiscuous conversions always applied everywhere</a:t>
            </a:r>
          </a:p>
          <a:p>
            <a:pPr lvl="1"/>
            <a:r>
              <a:rPr lang="en-US" dirty="0"/>
              <a:t>No stupid or partial </a:t>
            </a:r>
            <a:r>
              <a:rPr lang="en-US" dirty="0" err="1"/>
              <a:t>convertions</a:t>
            </a:r>
            <a:r>
              <a:rPr lang="en-US" dirty="0"/>
              <a:t> to help prevent data loss.</a:t>
            </a:r>
          </a:p>
        </p:txBody>
      </p:sp>
    </p:spTree>
    <p:extLst>
      <p:ext uri="{BB962C8B-B14F-4D97-AF65-F5344CB8AC3E}">
        <p14:creationId xmlns:p14="http://schemas.microsoft.com/office/powerpoint/2010/main" val="411445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3F07-AA80-09CF-05F7-C3A07E7B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and Error Handling (3/5)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1CB23-B442-5C7A-51B9-85E6CE8FF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014" y="1561465"/>
            <a:ext cx="10515600" cy="456840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Our initial design was ludicrously complicated. </a:t>
            </a:r>
          </a:p>
          <a:p>
            <a:pPr lvl="1"/>
            <a:r>
              <a:rPr lang="en-US" dirty="0"/>
              <a:t>I actively suppress that memory.</a:t>
            </a:r>
          </a:p>
          <a:p>
            <a:r>
              <a:rPr lang="en-US" dirty="0"/>
              <a:t>Error types:</a:t>
            </a:r>
          </a:p>
          <a:p>
            <a:pPr lvl="1"/>
            <a:r>
              <a:rPr lang="en-US" dirty="0"/>
              <a:t>Terminating and non-terminating errors, $?, $LASTEXITCODE</a:t>
            </a:r>
          </a:p>
          <a:p>
            <a:pPr lvl="1"/>
            <a:r>
              <a:rPr lang="en-US" dirty="0"/>
              <a:t>We had the idea of restarting an operation based on the error objects but as far as I know, this is not used.</a:t>
            </a:r>
          </a:p>
          <a:p>
            <a:r>
              <a:rPr lang="en-US" dirty="0"/>
              <a:t>Redirection of stderr on Unix-like system</a:t>
            </a:r>
          </a:p>
          <a:p>
            <a:pPr lvl="1"/>
            <a:r>
              <a:rPr lang="en-US" dirty="0"/>
              <a:t>Uses stderr as an alternate data stream, doesn’t work with PowerShell</a:t>
            </a:r>
          </a:p>
          <a:p>
            <a:r>
              <a:rPr lang="en-US" dirty="0"/>
              <a:t>Handling errors</a:t>
            </a:r>
          </a:p>
          <a:p>
            <a:pPr lvl="1"/>
            <a:r>
              <a:rPr lang="en-US" dirty="0"/>
              <a:t>trap vs try/catch/finally, IO Redirection, “partial success”</a:t>
            </a:r>
          </a:p>
          <a:p>
            <a:r>
              <a:rPr lang="en-US" dirty="0"/>
              <a:t>Limitation: can’t make errors in scripts work like errors in compiled cmdlets.</a:t>
            </a:r>
          </a:p>
        </p:txBody>
      </p:sp>
    </p:spTree>
    <p:extLst>
      <p:ext uri="{BB962C8B-B14F-4D97-AF65-F5344CB8AC3E}">
        <p14:creationId xmlns:p14="http://schemas.microsoft.com/office/powerpoint/2010/main" val="2841342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7FFB-5DBB-DBE8-F513-1CD13F3A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(1/5)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D60B-8CFF-39B2-0F16-AF74FD620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PowerShell performance is </a:t>
            </a:r>
            <a:r>
              <a:rPr lang="en-US" i="1" dirty="0"/>
              <a:t>bad</a:t>
            </a:r>
            <a:r>
              <a:rPr lang="en-US" dirty="0"/>
              <a:t>. </a:t>
            </a:r>
            <a:r>
              <a:rPr lang="en-US" i="1" dirty="0"/>
              <a:t>Really bad</a:t>
            </a:r>
            <a:r>
              <a:rPr lang="en-US" dirty="0"/>
              <a:t>.</a:t>
            </a:r>
          </a:p>
          <a:p>
            <a:r>
              <a:rPr lang="en-US" dirty="0"/>
              <a:t>The language runtime was sped up about 10x with the DLR work but…</a:t>
            </a:r>
          </a:p>
          <a:p>
            <a:r>
              <a:rPr lang="en-US" dirty="0"/>
              <a:t>Pretty much everything goes through the pipeline processor</a:t>
            </a:r>
          </a:p>
          <a:p>
            <a:pPr lvl="1"/>
            <a:r>
              <a:rPr lang="en-US" dirty="0"/>
              <a:t>The full parameter binding process happens for </a:t>
            </a:r>
            <a:r>
              <a:rPr lang="en-US" i="1" dirty="0"/>
              <a:t>each</a:t>
            </a:r>
            <a:r>
              <a:rPr lang="en-US" dirty="0"/>
              <a:t> object that is processed</a:t>
            </a:r>
          </a:p>
          <a:p>
            <a:pPr lvl="1"/>
            <a:r>
              <a:rPr lang="en-US" dirty="0"/>
              <a:t>Returns a collection of PSObjects resulting in many unnecessary allocations</a:t>
            </a:r>
          </a:p>
        </p:txBody>
      </p:sp>
    </p:spTree>
    <p:extLst>
      <p:ext uri="{BB962C8B-B14F-4D97-AF65-F5344CB8AC3E}">
        <p14:creationId xmlns:p14="http://schemas.microsoft.com/office/powerpoint/2010/main" val="2327664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70B7-DA44-20F1-785A-475CE813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Last Tidbit: The </a:t>
            </a:r>
            <a:r>
              <a:rPr lang="en-US" dirty="0" err="1"/>
              <a:t>Minishell</a:t>
            </a:r>
            <a:r>
              <a:rPr lang="en-US" dirty="0"/>
              <a:t> Debacle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8AC8-F52F-34BB-F0DE-4E3DE8D4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During Longhorn/Vista, Windows Management said “No Extensibility, No Plugins” due to concerns about reliability and versioning.</a:t>
            </a:r>
          </a:p>
          <a:p>
            <a:r>
              <a:rPr lang="en-US" dirty="0"/>
              <a:t>We were going to have </a:t>
            </a:r>
            <a:r>
              <a:rPr lang="en-US" dirty="0" err="1"/>
              <a:t>MiniShells</a:t>
            </a:r>
            <a:r>
              <a:rPr lang="en-US" dirty="0"/>
              <a:t>, each linked with a different set of functionality which would have been a quoting nightmare.</a:t>
            </a:r>
          </a:p>
          <a:p>
            <a:pPr lvl="1"/>
            <a:r>
              <a:rPr lang="en-US" dirty="0" err="1"/>
              <a:t>powershell</a:t>
            </a:r>
            <a:r>
              <a:rPr lang="en-US" dirty="0"/>
              <a:t> { … }</a:t>
            </a:r>
          </a:p>
          <a:p>
            <a:pPr lvl="1"/>
            <a:r>
              <a:rPr lang="en-US" dirty="0" err="1"/>
              <a:t>Powershell</a:t>
            </a:r>
            <a:r>
              <a:rPr lang="en-US" dirty="0"/>
              <a:t> –</a:t>
            </a:r>
            <a:r>
              <a:rPr lang="en-US" dirty="0" err="1"/>
              <a:t>EncodedCommand</a:t>
            </a:r>
            <a:r>
              <a:rPr lang="en-US" dirty="0"/>
              <a:t>  XXXXXXXXX</a:t>
            </a:r>
          </a:p>
          <a:p>
            <a:r>
              <a:rPr lang="en-US" dirty="0"/>
              <a:t>The idea sort of evolved into the Windows Compatibility module.</a:t>
            </a:r>
          </a:p>
          <a:p>
            <a:r>
              <a:rPr lang="en-US" dirty="0"/>
              <a:t>Fortunately cooler heads prevailed and we have </a:t>
            </a:r>
            <a:r>
              <a:rPr lang="en-US" dirty="0" err="1"/>
              <a:t>SingleShell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664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EE56-BFD7-643E-58AE-8DA4F252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BF18-F830-E004-B22E-C3B423148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rough areas but for the most part I think did pretty well..</a:t>
            </a:r>
          </a:p>
          <a:p>
            <a:r>
              <a:rPr lang="en-US" dirty="0"/>
              <a:t>How would you rate things?</a:t>
            </a:r>
          </a:p>
        </p:txBody>
      </p:sp>
    </p:spTree>
    <p:extLst>
      <p:ext uri="{BB962C8B-B14F-4D97-AF65-F5344CB8AC3E}">
        <p14:creationId xmlns:p14="http://schemas.microsoft.com/office/powerpoint/2010/main" val="1312256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10" name="Picture 9" descr="The image depicts a QR code with a star symbol, symbolizing a QR code for a PowerShell design.&#10;&#10;AI-generated content may be incorrect.">
            <a:extLst>
              <a:ext uri="{FF2B5EF4-FFF2-40B4-BE49-F238E27FC236}">
                <a16:creationId xmlns:a16="http://schemas.microsoft.com/office/drawing/2014/main" id="{8FF9D350-C02B-4D72-F486-197166004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781" y="1514958"/>
            <a:ext cx="4635738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9851</TotalTime>
  <Words>1367</Words>
  <Application>Microsoft Office PowerPoint</Application>
  <PresentationFormat>Widescreen</PresentationFormat>
  <Paragraphs>159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Acumin Pro Black</vt:lpstr>
      <vt:lpstr>Arial</vt:lpstr>
      <vt:lpstr>Calibri</vt:lpstr>
      <vt:lpstr>Cascadia Code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Next Up:</vt:lpstr>
      <vt:lpstr>3</vt:lpstr>
      <vt:lpstr>2</vt:lpstr>
      <vt:lpstr>1</vt:lpstr>
      <vt:lpstr>Leveraging Braid from PowerShell</vt:lpstr>
      <vt:lpstr>Many thanks to our sponsors:</vt:lpstr>
      <vt:lpstr>Bruce Payette</vt:lpstr>
      <vt:lpstr>Agenda</vt:lpstr>
      <vt:lpstr>High-level Design Goals</vt:lpstr>
      <vt:lpstr>In the Beginning</vt:lpstr>
      <vt:lpstr>In the Beginning (cont’d)</vt:lpstr>
      <vt:lpstr>3 days later… (4.5/5)</vt:lpstr>
      <vt:lpstr>Parameter Binding (4/5)</vt:lpstr>
      <vt:lpstr>Pipelining (4/5)</vt:lpstr>
      <vt:lpstr>Streaming, Cardinality and Collections (3/5)</vt:lpstr>
      <vt:lpstr>Language Syntax &amp; Quoting (4.8/5)</vt:lpstr>
      <vt:lpstr>Variables and Scoping (4/5)</vt:lpstr>
      <vt:lpstr>Types and Conversions (4.5/5)</vt:lpstr>
      <vt:lpstr>Errors and Error Handling (3/5)</vt:lpstr>
      <vt:lpstr>Performance (1/5)</vt:lpstr>
      <vt:lpstr>A Last Tidbit: The Minishell Debacle</vt:lpstr>
      <vt:lpstr>Conclusions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Bruce Payette</cp:lastModifiedBy>
  <cp:revision>157</cp:revision>
  <dcterms:created xsi:type="dcterms:W3CDTF">2024-03-26T13:08:23Z</dcterms:created>
  <dcterms:modified xsi:type="dcterms:W3CDTF">2026-05-26T01:41:40Z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