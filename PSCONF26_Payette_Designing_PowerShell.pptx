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slideLayouts/slideLayout6.xml" ContentType="application/vnd.openxmlformats-officedocument.presentationml.slideLayout+xml"/>
  <Override PartName="/ppt/theme/theme3.xml" ContentType="application/vnd.openxmlformats-officedocument.them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  <p:sldMasterId id="2147483697" r:id="rId5"/>
    <p:sldMasterId id="2147483695" r:id="rId6"/>
    <p:sldMasterId id="2147483684" r:id="rId7"/>
  </p:sldMasterIdLst>
  <p:notesMasterIdLst>
    <p:notesMasterId r:id="rId32"/>
  </p:notesMasterIdLst>
  <p:handoutMasterIdLst>
    <p:handoutMasterId r:id="rId33"/>
  </p:handoutMasterIdLst>
  <p:sldIdLst>
    <p:sldId id="272" r:id="rId8"/>
    <p:sldId id="259" r:id="rId9"/>
    <p:sldId id="269" r:id="rId10"/>
    <p:sldId id="270" r:id="rId11"/>
    <p:sldId id="273" r:id="rId12"/>
    <p:sldId id="261" r:id="rId13"/>
    <p:sldId id="267" r:id="rId14"/>
    <p:sldId id="289" r:id="rId15"/>
    <p:sldId id="286" r:id="rId16"/>
    <p:sldId id="275" r:id="rId17"/>
    <p:sldId id="287" r:id="rId18"/>
    <p:sldId id="288" r:id="rId19"/>
    <p:sldId id="278" r:id="rId20"/>
    <p:sldId id="276" r:id="rId21"/>
    <p:sldId id="279" r:id="rId22"/>
    <p:sldId id="280" r:id="rId23"/>
    <p:sldId id="284" r:id="rId24"/>
    <p:sldId id="282" r:id="rId25"/>
    <p:sldId id="281" r:id="rId26"/>
    <p:sldId id="285" r:id="rId27"/>
    <p:sldId id="277" r:id="rId28"/>
    <p:sldId id="283" r:id="rId29"/>
    <p:sldId id="265" r:id="rId30"/>
    <p:sldId id="274" r:id="rId3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Before the session" id="{9248E0E9-B469-42C5-B521-34DBB63F9E0C}">
          <p14:sldIdLst>
            <p14:sldId id="272"/>
            <p14:sldId id="259"/>
            <p14:sldId id="269"/>
            <p14:sldId id="270"/>
          </p14:sldIdLst>
        </p14:section>
        <p14:section name="The session" id="{9BCE8471-468A-4538-82B3-E4E62B0A593E}">
          <p14:sldIdLst>
            <p14:sldId id="273"/>
            <p14:sldId id="261"/>
            <p14:sldId id="267"/>
            <p14:sldId id="289"/>
            <p14:sldId id="286"/>
            <p14:sldId id="275"/>
            <p14:sldId id="287"/>
            <p14:sldId id="288"/>
            <p14:sldId id="278"/>
            <p14:sldId id="276"/>
            <p14:sldId id="279"/>
            <p14:sldId id="280"/>
            <p14:sldId id="284"/>
            <p14:sldId id="282"/>
            <p14:sldId id="281"/>
            <p14:sldId id="285"/>
            <p14:sldId id="277"/>
            <p14:sldId id="283"/>
            <p14:sldId id="265"/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DE4ED"/>
    <a:srgbClr val="3B2A47"/>
    <a:srgbClr val="3B2B46"/>
    <a:srgbClr val="346297"/>
    <a:srgbClr val="000000"/>
    <a:srgbClr val="FFFFFF"/>
    <a:srgbClr val="346296"/>
    <a:srgbClr val="E6466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E9DF284-ECBD-EE42-323A-0CB3009BCB25}" v="1" dt="2026-03-15T16:37:15.48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89" d="100"/>
          <a:sy n="89" d="100"/>
        </p:scale>
        <p:origin x="41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6.xml"/><Relationship Id="rId18" Type="http://schemas.openxmlformats.org/officeDocument/2006/relationships/slide" Target="slides/slide11.xml"/><Relationship Id="rId26" Type="http://schemas.openxmlformats.org/officeDocument/2006/relationships/slide" Target="slides/slide19.xml"/><Relationship Id="rId39" Type="http://schemas.microsoft.com/office/2015/10/relationships/revisionInfo" Target="revisionInfo.xml"/><Relationship Id="rId21" Type="http://schemas.openxmlformats.org/officeDocument/2006/relationships/slide" Target="slides/slide14.xml"/><Relationship Id="rId34" Type="http://schemas.openxmlformats.org/officeDocument/2006/relationships/presProps" Target="presProps.xml"/><Relationship Id="rId7" Type="http://schemas.openxmlformats.org/officeDocument/2006/relationships/slideMaster" Target="slideMasters/slideMaster4.xml"/><Relationship Id="rId12" Type="http://schemas.openxmlformats.org/officeDocument/2006/relationships/slide" Target="slides/slide5.xml"/><Relationship Id="rId17" Type="http://schemas.openxmlformats.org/officeDocument/2006/relationships/slide" Target="slides/slide10.xml"/><Relationship Id="rId25" Type="http://schemas.openxmlformats.org/officeDocument/2006/relationships/slide" Target="slides/slide18.xml"/><Relationship Id="rId33" Type="http://schemas.openxmlformats.org/officeDocument/2006/relationships/handoutMaster" Target="handoutMasters/handoutMaster1.xml"/><Relationship Id="rId38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6" Type="http://schemas.openxmlformats.org/officeDocument/2006/relationships/slide" Target="slides/slide9.xml"/><Relationship Id="rId20" Type="http://schemas.openxmlformats.org/officeDocument/2006/relationships/slide" Target="slides/slide13.xml"/><Relationship Id="rId29" Type="http://schemas.openxmlformats.org/officeDocument/2006/relationships/slide" Target="slides/slide22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4.xml"/><Relationship Id="rId24" Type="http://schemas.openxmlformats.org/officeDocument/2006/relationships/slide" Target="slides/slide17.xml"/><Relationship Id="rId32" Type="http://schemas.openxmlformats.org/officeDocument/2006/relationships/notesMaster" Target="notesMasters/notesMaster1.xml"/><Relationship Id="rId37" Type="http://schemas.openxmlformats.org/officeDocument/2006/relationships/tableStyles" Target="tableStyles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8.xml"/><Relationship Id="rId23" Type="http://schemas.openxmlformats.org/officeDocument/2006/relationships/slide" Target="slides/slide16.xml"/><Relationship Id="rId28" Type="http://schemas.openxmlformats.org/officeDocument/2006/relationships/slide" Target="slides/slide21.xml"/><Relationship Id="rId36" Type="http://schemas.openxmlformats.org/officeDocument/2006/relationships/theme" Target="theme/theme1.xml"/><Relationship Id="rId10" Type="http://schemas.openxmlformats.org/officeDocument/2006/relationships/slide" Target="slides/slide3.xml"/><Relationship Id="rId19" Type="http://schemas.openxmlformats.org/officeDocument/2006/relationships/slide" Target="slides/slide12.xml"/><Relationship Id="rId31" Type="http://schemas.openxmlformats.org/officeDocument/2006/relationships/slide" Target="slides/slide24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14" Type="http://schemas.openxmlformats.org/officeDocument/2006/relationships/slide" Target="slides/slide7.xml"/><Relationship Id="rId22" Type="http://schemas.openxmlformats.org/officeDocument/2006/relationships/slide" Target="slides/slide15.xml"/><Relationship Id="rId27" Type="http://schemas.openxmlformats.org/officeDocument/2006/relationships/slide" Target="slides/slide20.xml"/><Relationship Id="rId30" Type="http://schemas.openxmlformats.org/officeDocument/2006/relationships/slide" Target="slides/slide23.xml"/><Relationship Id="rId35" Type="http://schemas.openxmlformats.org/officeDocument/2006/relationships/viewProps" Target="viewProps.xml"/><Relationship Id="rId8" Type="http://schemas.openxmlformats.org/officeDocument/2006/relationships/slide" Target="slides/slide1.xml"/><Relationship Id="rId3" Type="http://schemas.openxmlformats.org/officeDocument/2006/relationships/customXml" Target="../customXml/item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uest User" userId="S::urn:spo:tenantanon#3fc23928-bba0-4562-a674-cd833cae88c5::" providerId="AD" clId="Web-{AE9DF284-ECBD-EE42-323A-0CB3009BCB25}"/>
    <pc:docChg chg="sldOrd">
      <pc:chgData name="Guest User" userId="S::urn:spo:tenantanon#3fc23928-bba0-4562-a674-cd833cae88c5::" providerId="AD" clId="Web-{AE9DF284-ECBD-EE42-323A-0CB3009BCB25}" dt="2026-03-15T16:37:15.482" v="0"/>
      <pc:docMkLst>
        <pc:docMk/>
      </pc:docMkLst>
      <pc:sldChg chg="ord">
        <pc:chgData name="Guest User" userId="S::urn:spo:tenantanon#3fc23928-bba0-4562-a674-cd833cae88c5::" providerId="AD" clId="Web-{AE9DF284-ECBD-EE42-323A-0CB3009BCB25}" dt="2026-03-15T16:37:15.482" v="0"/>
        <pc:sldMkLst>
          <pc:docMk/>
          <pc:sldMk cId="3315886587" sldId="272"/>
        </pc:sldMkLst>
      </pc:sldChg>
    </pc:docChg>
  </pc:docChgLst>
  <pc:docChgLst>
    <pc:chgData name="Thorsten Butz" userId="995738bf-6772-44af-a78c-76b53e4bf37d" providerId="ADAL" clId="{47724D17-2FBF-476D-95A4-639784F55674}"/>
    <pc:docChg chg="undo custSel mod modSld">
      <pc:chgData name="Thorsten Butz" userId="995738bf-6772-44af-a78c-76b53e4bf37d" providerId="ADAL" clId="{47724D17-2FBF-476D-95A4-639784F55674}" dt="2026-03-05T15:47:53.409" v="10" actId="692"/>
      <pc:docMkLst>
        <pc:docMk/>
      </pc:docMkLst>
      <pc:sldChg chg="addSp delSp modSp mod">
        <pc:chgData name="Thorsten Butz" userId="995738bf-6772-44af-a78c-76b53e4bf37d" providerId="ADAL" clId="{47724D17-2FBF-476D-95A4-639784F55674}" dt="2026-03-05T15:47:53.409" v="10" actId="692"/>
        <pc:sldMkLst>
          <pc:docMk/>
          <pc:sldMk cId="3984835757" sldId="261"/>
        </pc:sldMkLst>
        <pc:picChg chg="mod">
          <ac:chgData name="Thorsten Butz" userId="995738bf-6772-44af-a78c-76b53e4bf37d" providerId="ADAL" clId="{47724D17-2FBF-476D-95A4-639784F55674}" dt="2026-03-05T15:47:53.409" v="10" actId="692"/>
          <ac:picMkLst>
            <pc:docMk/>
            <pc:sldMk cId="3984835757" sldId="261"/>
            <ac:picMk id="8" creationId="{C4BDF3A9-64A1-2EA9-AABD-6B9AFBACBB04}"/>
          </ac:picMkLst>
        </pc:picChg>
      </pc:sldChg>
    </pc:docChg>
  </pc:docChgLst>
  <pc:docChgLst>
    <pc:chgData name="Geoffroy Dubreuil" userId="36186b9b-dc71-47e0-bff2-bd95e619117d" providerId="ADAL" clId="{77CD6894-02A7-403D-85B8-E33CDE72DEFB}"/>
    <pc:docChg chg="custSel modSld">
      <pc:chgData name="Geoffroy Dubreuil" userId="36186b9b-dc71-47e0-bff2-bd95e619117d" providerId="ADAL" clId="{77CD6894-02A7-403D-85B8-E33CDE72DEFB}" dt="2026-03-06T12:20:58.394" v="42" actId="113"/>
      <pc:docMkLst>
        <pc:docMk/>
      </pc:docMkLst>
      <pc:sldChg chg="addSp modSp mod">
        <pc:chgData name="Geoffroy Dubreuil" userId="36186b9b-dc71-47e0-bff2-bd95e619117d" providerId="ADAL" clId="{77CD6894-02A7-403D-85B8-E33CDE72DEFB}" dt="2026-03-06T12:20:58.394" v="42" actId="113"/>
        <pc:sldMkLst>
          <pc:docMk/>
          <pc:sldMk cId="1101361508" sldId="260"/>
        </pc:sldMkLst>
        <pc:spChg chg="add mod">
          <ac:chgData name="Geoffroy Dubreuil" userId="36186b9b-dc71-47e0-bff2-bd95e619117d" providerId="ADAL" clId="{77CD6894-02A7-403D-85B8-E33CDE72DEFB}" dt="2026-03-06T12:20:58.394" v="42" actId="113"/>
          <ac:spMkLst>
            <pc:docMk/>
            <pc:sldMk cId="1101361508" sldId="260"/>
            <ac:spMk id="4" creationId="{0EB8D984-3C84-80FA-2E8F-3981EC58C35C}"/>
          </ac:spMkLst>
        </pc:spChg>
      </pc:sldChg>
      <pc:sldChg chg="modSp mod">
        <pc:chgData name="Geoffroy Dubreuil" userId="36186b9b-dc71-47e0-bff2-bd95e619117d" providerId="ADAL" clId="{77CD6894-02A7-403D-85B8-E33CDE72DEFB}" dt="2026-03-05T15:46:09.927" v="29" actId="6549"/>
        <pc:sldMkLst>
          <pc:docMk/>
          <pc:sldMk cId="2831095747" sldId="271"/>
        </pc:sldMkLst>
        <pc:spChg chg="mod">
          <ac:chgData name="Geoffroy Dubreuil" userId="36186b9b-dc71-47e0-bff2-bd95e619117d" providerId="ADAL" clId="{77CD6894-02A7-403D-85B8-E33CDE72DEFB}" dt="2026-03-05T15:44:38.088" v="20" actId="255"/>
          <ac:spMkLst>
            <pc:docMk/>
            <pc:sldMk cId="2831095747" sldId="271"/>
            <ac:spMk id="2" creationId="{A196BBFD-A430-8F6F-DBB7-52C55DB3DA2F}"/>
          </ac:spMkLst>
        </pc:spChg>
        <pc:spChg chg="mod">
          <ac:chgData name="Geoffroy Dubreuil" userId="36186b9b-dc71-47e0-bff2-bd95e619117d" providerId="ADAL" clId="{77CD6894-02A7-403D-85B8-E33CDE72DEFB}" dt="2026-03-05T15:46:09.927" v="29" actId="6549"/>
          <ac:spMkLst>
            <pc:docMk/>
            <pc:sldMk cId="2831095747" sldId="271"/>
            <ac:spMk id="3" creationId="{A13D084F-E8FE-14E3-7A60-1AB8B95A44C2}"/>
          </ac:spMkLst>
        </pc:spChg>
      </pc:sldChg>
      <pc:sldChg chg="addSp modSp mod">
        <pc:chgData name="Geoffroy Dubreuil" userId="36186b9b-dc71-47e0-bff2-bd95e619117d" providerId="ADAL" clId="{77CD6894-02A7-403D-85B8-E33CDE72DEFB}" dt="2026-03-06T08:17:18.852" v="31" actId="1076"/>
        <pc:sldMkLst>
          <pc:docMk/>
          <pc:sldMk cId="923274605" sldId="274"/>
        </pc:sldMkLst>
        <pc:picChg chg="add mod">
          <ac:chgData name="Geoffroy Dubreuil" userId="36186b9b-dc71-47e0-bff2-bd95e619117d" providerId="ADAL" clId="{77CD6894-02A7-403D-85B8-E33CDE72DEFB}" dt="2026-03-06T08:17:18.852" v="31" actId="1076"/>
          <ac:picMkLst>
            <pc:docMk/>
            <pc:sldMk cId="923274605" sldId="274"/>
            <ac:picMk id="2" creationId="{8C7569A3-761E-DEAA-1C30-F448FEB741F1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>
            <a:extLst>
              <a:ext uri="{FF2B5EF4-FFF2-40B4-BE49-F238E27FC236}">
                <a16:creationId xmlns:a16="http://schemas.microsoft.com/office/drawing/2014/main" id="{ABDC4E67-8CB2-26CB-9842-22F9A691D93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CE31EB5F-53B0-CDA3-72A4-3FA9BE40D0E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440670-43D7-400A-ABC5-B69E064DBB37}" type="datetimeFigureOut">
              <a:rPr lang="en-GB" smtClean="0"/>
              <a:t>30/05/2026</a:t>
            </a:fld>
            <a:endParaRPr lang="en-GB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00EB1E06-E4F0-A1A2-1EFB-AD58FA1AF7A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47061963-6110-4C16-C593-C8C56E4881C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274045-2E90-4839-9E75-1C1FCF04B58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401830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11B03A4-75C9-4E3D-9183-2102CA9AEC33}" type="datetimeFigureOut">
              <a:rPr lang="en-GB" smtClean="0"/>
              <a:t>30/05/2026</a:t>
            </a:fld>
            <a:endParaRPr lang="en-GB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GB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7839206-A81D-4F76-8486-302187992F7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308071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7839206-A81D-4F76-8486-302187992F73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202694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7839206-A81D-4F76-8486-302187992F73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9853484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7839206-A81D-4F76-8486-302187992F73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2730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7839206-A81D-4F76-8486-302187992F73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6672676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7839206-A81D-4F76-8486-302187992F73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2960065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DAA65B-0377-68EB-BAF7-291EAB6D48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02284DE5-11FD-4C30-923B-0A9A930DE6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37C45CDE-C7FC-A49B-2AC1-B95A95E248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9A6E093-3BD0-7AAF-8444-38477BABBB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7839206-A81D-4F76-8486-302187992F73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639213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0314E4-A97F-BC4A-2EB0-6D254E1901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BC22F2DE-B0F7-3A81-80A8-633FA5DE07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2BB7A8D9-E5D3-E06C-BB9D-378C7F2013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C88EE177-09DD-4E2C-E54A-2AD4A7C36A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7839206-A81D-4F76-8486-302187992F73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5341604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7839206-A81D-4F76-8486-302187992F73}" type="slidenum">
              <a:rPr lang="en-GB" smtClean="0"/>
              <a:t>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863083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s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103421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ly black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23416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ly blue">
    <p:bg>
      <p:bgPr>
        <a:solidFill>
          <a:srgbClr val="34629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786150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ly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016667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s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856592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position personnalisé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44C786-AD10-7D88-1933-9D7659D256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67314" y="1852863"/>
            <a:ext cx="7886486" cy="43241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Your bio</a:t>
            </a:r>
            <a:endParaRPr lang="en-GB"/>
          </a:p>
        </p:txBody>
      </p:sp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1BA7B894-6BCA-2B29-BA04-8AAB1735BF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7313" y="324853"/>
            <a:ext cx="788648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Speaker’s name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033740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3FF0C1-723F-8331-7203-2AD1CA3085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200EBD9-8D5A-98D4-BC92-CE5E1C7560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7239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E3D202-8931-7832-6C93-86B82B6865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5BBC0C-D418-7F75-653D-7BD01A94CB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28024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093987-4D9C-734A-F0DD-FA7C5E5BFD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8C8F2A-06F7-926F-11A3-0E18B5E012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5476032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F9D26B-2105-B752-1559-A5E7E3580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CB2030-5E24-3C76-AF6E-BEABDB29D99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0EF88D-DEBE-FA6D-7C2B-49DE203B99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530253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0F04B-2070-B32A-26F9-689ACEB179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9721532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4351C8F-389D-6D1D-529E-8F7B5D2561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27AB8FD-3AC0-420A-CD1A-4BB2C4DEB2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2E0881B-0B39-A9CB-08B8-7FA6C0D98A5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927CCB1-27F7-D503-AC18-183950FAE8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5472850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1E4D49-1A5A-DFCF-8CA7-93B2889E2B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6501982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9047082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F1FA22-F0C4-1510-0E4C-953C802C4E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86368D-1D41-F3F9-3D07-85EFF2CFBC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B83765E-1500-5380-7D29-9BED9AFAFC7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96413473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F19606-9316-A7A0-65BC-635A494F00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3637042-5D0D-C650-5659-376D12BF8F3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EF090A-47F3-1576-D5A3-105EE33762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0748974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33B042-3840-06BB-E1DF-E9094D8198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DCC1C5E-7112-083E-8A66-4B30A4DD39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273646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Relationship Id="rId5" Type="http://schemas.openxmlformats.org/officeDocument/2006/relationships/theme" Target="../theme/theme2.xml"/><Relationship Id="rId4" Type="http://schemas.openxmlformats.org/officeDocument/2006/relationships/slideLayout" Target="../slideLayouts/slideLayout5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.svg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4.xml"/><Relationship Id="rId13" Type="http://schemas.openxmlformats.org/officeDocument/2006/relationships/image" Target="../media/image5.svg"/><Relationship Id="rId3" Type="http://schemas.openxmlformats.org/officeDocument/2006/relationships/slideLayout" Target="../slideLayouts/slideLayout9.xml"/><Relationship Id="rId7" Type="http://schemas.openxmlformats.org/officeDocument/2006/relationships/slideLayout" Target="../slideLayouts/slideLayout13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8.xml"/><Relationship Id="rId16" Type="http://schemas.openxmlformats.org/officeDocument/2006/relationships/image" Target="../media/image4.svg"/><Relationship Id="rId1" Type="http://schemas.openxmlformats.org/officeDocument/2006/relationships/slideLayout" Target="../slideLayouts/slideLayout7.xml"/><Relationship Id="rId6" Type="http://schemas.openxmlformats.org/officeDocument/2006/relationships/slideLayout" Target="../slideLayouts/slideLayout12.xml"/><Relationship Id="rId11" Type="http://schemas.openxmlformats.org/officeDocument/2006/relationships/theme" Target="../theme/theme4.xml"/><Relationship Id="rId5" Type="http://schemas.openxmlformats.org/officeDocument/2006/relationships/slideLayout" Target="../slideLayouts/slideLayout11.xml"/><Relationship Id="rId15" Type="http://schemas.openxmlformats.org/officeDocument/2006/relationships/image" Target="../media/image7.svg"/><Relationship Id="rId10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5.xml"/><Relationship Id="rId14" Type="http://schemas.openxmlformats.org/officeDocument/2006/relationships/image" Target="../media/image6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 13" descr="Une image contenant texte&#10;&#10;Description générée automatiquement">
            <a:extLst>
              <a:ext uri="{FF2B5EF4-FFF2-40B4-BE49-F238E27FC236}">
                <a16:creationId xmlns:a16="http://schemas.microsoft.com/office/drawing/2014/main" id="{46B6AA1A-3151-3AC2-83FB-1C6A4D626CE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4" y="0"/>
            <a:ext cx="12189631" cy="6858000"/>
          </a:xfrm>
          <a:prstGeom prst="rect">
            <a:avLst/>
          </a:prstGeom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E38E8CAF-D224-9556-511F-8D65E9383F2C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0591" y="137310"/>
            <a:ext cx="4166241" cy="1426795"/>
          </a:xfrm>
          <a:prstGeom prst="rect">
            <a:avLst/>
          </a:prstGeom>
        </p:spPr>
      </p:pic>
      <p:pic>
        <p:nvPicPr>
          <p:cNvPr id="8" name="Image 7" descr="Une image contenant Police, Graphique, typographie, graphisme&#10;&#10;Le contenu généré par l’IA peut être incorrect.">
            <a:extLst>
              <a:ext uri="{FF2B5EF4-FFF2-40B4-BE49-F238E27FC236}">
                <a16:creationId xmlns:a16="http://schemas.microsoft.com/office/drawing/2014/main" id="{B287398A-20D9-4E87-9997-CB57AB2CCEE3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8900" y="6074646"/>
            <a:ext cx="2471121" cy="3722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99294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1">
            <a:extLst>
              <a:ext uri="{FF2B5EF4-FFF2-40B4-BE49-F238E27FC236}">
                <a16:creationId xmlns:a16="http://schemas.microsoft.com/office/drawing/2014/main" id="{427B60B6-58D4-7B9F-C29A-CE66AF93F596}"/>
              </a:ext>
            </a:extLst>
          </p:cNvPr>
          <p:cNvSpPr txBox="1">
            <a:spLocks/>
          </p:cNvSpPr>
          <p:nvPr userDrawn="1"/>
        </p:nvSpPr>
        <p:spPr>
          <a:xfrm>
            <a:off x="0" y="1"/>
            <a:ext cx="12192000" cy="6858000"/>
          </a:xfrm>
          <a:prstGeom prst="rect">
            <a:avLst/>
          </a:prstGeom>
        </p:spPr>
        <p:txBody>
          <a:bodyPr anchor="ctr" anchorCtr="0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de-DE" sz="25000">
                <a:latin typeface="Stencil" panose="040409050D0802020404" pitchFamily="82" charset="0"/>
              </a:rPr>
              <a:t> </a:t>
            </a:r>
            <a:endParaRPr lang="en-DE" sz="2500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188776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8" r:id="rId1"/>
    <p:sldLayoutId id="2147483699" r:id="rId2"/>
    <p:sldLayoutId id="2147483700" r:id="rId3"/>
    <p:sldLayoutId id="2147483701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 6" descr="Une image contenant texte&#10;&#10;Description générée automatiquement">
            <a:extLst>
              <a:ext uri="{FF2B5EF4-FFF2-40B4-BE49-F238E27FC236}">
                <a16:creationId xmlns:a16="http://schemas.microsoft.com/office/drawing/2014/main" id="{E6A8F4F5-7628-E9E8-23A7-09169C6794F7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9" y="0"/>
            <a:ext cx="12189631" cy="6858000"/>
          </a:xfrm>
          <a:prstGeom prst="rect">
            <a:avLst/>
          </a:prstGeom>
        </p:spPr>
      </p:pic>
      <p:sp>
        <p:nvSpPr>
          <p:cNvPr id="3" name="Espace réservé du numéro de diapositive 5">
            <a:extLst>
              <a:ext uri="{FF2B5EF4-FFF2-40B4-BE49-F238E27FC236}">
                <a16:creationId xmlns:a16="http://schemas.microsoft.com/office/drawing/2014/main" id="{FC40251A-A850-BFFB-8B10-8DF9490B82FC}"/>
              </a:ext>
            </a:extLst>
          </p:cNvPr>
          <p:cNvSpPr txBox="1">
            <a:spLocks/>
          </p:cNvSpPr>
          <p:nvPr userDrawn="1"/>
        </p:nvSpPr>
        <p:spPr>
          <a:xfrm>
            <a:off x="7001786" y="6335963"/>
            <a:ext cx="305661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b="1" dirty="0">
                <a:solidFill>
                  <a:srgbClr val="3B2B46"/>
                </a:solidFill>
              </a:rPr>
              <a:t>@brucepayette.bsky.social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B4BA6D3-5703-2B33-8381-A6B521E4EF59}"/>
              </a:ext>
            </a:extLst>
          </p:cNvPr>
          <p:cNvSpPr/>
          <p:nvPr userDrawn="1"/>
        </p:nvSpPr>
        <p:spPr>
          <a:xfrm>
            <a:off x="6636662" y="6335963"/>
            <a:ext cx="365125" cy="522037"/>
          </a:xfrm>
          <a:prstGeom prst="rect">
            <a:avLst/>
          </a:prstGeom>
          <a:solidFill>
            <a:srgbClr val="3B2A4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5" name="Graphique 4">
            <a:extLst>
              <a:ext uri="{FF2B5EF4-FFF2-40B4-BE49-F238E27FC236}">
                <a16:creationId xmlns:a16="http://schemas.microsoft.com/office/drawing/2014/main" id="{5940FBC8-A0C6-2B5F-1902-D32A817C999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702387" y="6400644"/>
            <a:ext cx="233674" cy="2336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05317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6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GB" sz="5400" b="1" kern="1200" dirty="0">
          <a:solidFill>
            <a:srgbClr val="3B2B46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en-GB" sz="3200" kern="1200" dirty="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 6" descr="Une image contenant texte&#10;&#10;Description générée automatiquement">
            <a:extLst>
              <a:ext uri="{FF2B5EF4-FFF2-40B4-BE49-F238E27FC236}">
                <a16:creationId xmlns:a16="http://schemas.microsoft.com/office/drawing/2014/main" id="{1B01AB94-EEA2-3211-2551-34A16625A10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9" y="0"/>
            <a:ext cx="12189631" cy="6858000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157010D-0C09-8FBA-F719-A4ED7C3FC5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973328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C054D6-CB61-3142-2199-DDEA2FD483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0" name="Espace réservé du numéro de diapositive 5">
            <a:extLst>
              <a:ext uri="{FF2B5EF4-FFF2-40B4-BE49-F238E27FC236}">
                <a16:creationId xmlns:a16="http://schemas.microsoft.com/office/drawing/2014/main" id="{6122872C-58E4-4D8E-43AD-82C6D51A6C2A}"/>
              </a:ext>
            </a:extLst>
          </p:cNvPr>
          <p:cNvSpPr txBox="1">
            <a:spLocks/>
          </p:cNvSpPr>
          <p:nvPr userDrawn="1"/>
        </p:nvSpPr>
        <p:spPr>
          <a:xfrm>
            <a:off x="7001786" y="6335963"/>
            <a:ext cx="3056613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b="1" dirty="0">
                <a:solidFill>
                  <a:srgbClr val="3B2B46"/>
                </a:solidFill>
              </a:rPr>
              <a:t>@brucepayette.bsky.social</a:t>
            </a:r>
          </a:p>
          <a:p>
            <a:endParaRPr lang="en-GB" b="1" dirty="0">
              <a:solidFill>
                <a:srgbClr val="3B2B46"/>
              </a:solidFill>
            </a:endParaRPr>
          </a:p>
        </p:txBody>
      </p:sp>
      <p:pic>
        <p:nvPicPr>
          <p:cNvPr id="8" name="Graphique 7">
            <a:extLst>
              <a:ext uri="{FF2B5EF4-FFF2-40B4-BE49-F238E27FC236}">
                <a16:creationId xmlns:a16="http://schemas.microsoft.com/office/drawing/2014/main" id="{59BD5C5E-FB1B-A32E-1927-AB6A3C9A666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822738" y="196674"/>
            <a:ext cx="1062038" cy="904875"/>
          </a:xfrm>
          <a:prstGeom prst="rect">
            <a:avLst/>
          </a:prstGeom>
        </p:spPr>
      </p:pic>
      <p:pic>
        <p:nvPicPr>
          <p:cNvPr id="12" name="Image 11" descr="Une image contenant Police, Graphique, capture d’écran, graphisme&#10;&#10;Le contenu généré par l’IA peut être incorrect.">
            <a:extLst>
              <a:ext uri="{FF2B5EF4-FFF2-40B4-BE49-F238E27FC236}">
                <a16:creationId xmlns:a16="http://schemas.microsoft.com/office/drawing/2014/main" id="{9DA822DC-EA6F-C834-636F-0CFA0983C12B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9716" y="1147469"/>
            <a:ext cx="1169451" cy="376843"/>
          </a:xfrm>
          <a:prstGeom prst="rect">
            <a:avLst/>
          </a:prstGeom>
        </p:spPr>
      </p:pic>
      <p:pic>
        <p:nvPicPr>
          <p:cNvPr id="15" name="Graphique 14">
            <a:extLst>
              <a:ext uri="{FF2B5EF4-FFF2-40B4-BE49-F238E27FC236}">
                <a16:creationId xmlns:a16="http://schemas.microsoft.com/office/drawing/2014/main" id="{E16A90F8-D789-E1FC-28F1-B2BFBC4CCE3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636662" y="6335963"/>
            <a:ext cx="365125" cy="365125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426EC41D-2CB6-0B12-C26A-46F016046178}"/>
              </a:ext>
            </a:extLst>
          </p:cNvPr>
          <p:cNvSpPr/>
          <p:nvPr userDrawn="1"/>
        </p:nvSpPr>
        <p:spPr>
          <a:xfrm>
            <a:off x="6636662" y="6335963"/>
            <a:ext cx="365125" cy="522037"/>
          </a:xfrm>
          <a:prstGeom prst="rect">
            <a:avLst/>
          </a:prstGeom>
          <a:solidFill>
            <a:srgbClr val="3B2A4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24" name="Graphique 23">
            <a:extLst>
              <a:ext uri="{FF2B5EF4-FFF2-40B4-BE49-F238E27FC236}">
                <a16:creationId xmlns:a16="http://schemas.microsoft.com/office/drawing/2014/main" id="{14057C36-7CA7-EB30-FD33-9F60CDAC502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702387" y="6400644"/>
            <a:ext cx="233674" cy="2336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76997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400" b="1" kern="1200">
          <a:solidFill>
            <a:srgbClr val="3B2B46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Wingdings" panose="05000000000000000000" pitchFamily="2" charset="2"/>
        <a:buChar char="§"/>
        <a:defRPr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3200" kern="1200">
          <a:solidFill>
            <a:srgbClr val="346297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9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us-titre 2">
            <a:extLst>
              <a:ext uri="{FF2B5EF4-FFF2-40B4-BE49-F238E27FC236}">
                <a16:creationId xmlns:a16="http://schemas.microsoft.com/office/drawing/2014/main" id="{512BD2B3-5213-AE89-B245-3E2067844782}"/>
              </a:ext>
            </a:extLst>
          </p:cNvPr>
          <p:cNvSpPr txBox="1">
            <a:spLocks/>
          </p:cNvSpPr>
          <p:nvPr/>
        </p:nvSpPr>
        <p:spPr>
          <a:xfrm>
            <a:off x="1524000" y="4271395"/>
            <a:ext cx="9144000" cy="631759"/>
          </a:xfrm>
          <a:prstGeom prst="rect">
            <a:avLst/>
          </a:prstGeom>
        </p:spPr>
        <p:txBody>
          <a:bodyPr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4400" kern="1200">
                <a:solidFill>
                  <a:srgbClr val="3B2B46"/>
                </a:solidFill>
                <a:latin typeface="+mj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i="1" dirty="0">
                <a:latin typeface="Segoe UI" panose="020B0502040204020203" pitchFamily="34" charset="0"/>
                <a:cs typeface="Segoe UI" panose="020B0502040204020203" pitchFamily="34" charset="0"/>
              </a:rPr>
              <a:t>Bruce Payette</a:t>
            </a:r>
            <a:endParaRPr lang="en-GB" b="1" i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4" name="Connecteur droit 5">
            <a:extLst>
              <a:ext uri="{FF2B5EF4-FFF2-40B4-BE49-F238E27FC236}">
                <a16:creationId xmlns:a16="http://schemas.microsoft.com/office/drawing/2014/main" id="{E9631884-5100-1BA8-2365-47609B2977D7}"/>
              </a:ext>
            </a:extLst>
          </p:cNvPr>
          <p:cNvCxnSpPr/>
          <p:nvPr/>
        </p:nvCxnSpPr>
        <p:spPr>
          <a:xfrm>
            <a:off x="3867150" y="4089400"/>
            <a:ext cx="4508500" cy="0"/>
          </a:xfrm>
          <a:prstGeom prst="line">
            <a:avLst/>
          </a:prstGeom>
          <a:ln>
            <a:solidFill>
              <a:srgbClr val="3B2B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itel 4">
            <a:extLst>
              <a:ext uri="{FF2B5EF4-FFF2-40B4-BE49-F238E27FC236}">
                <a16:creationId xmlns:a16="http://schemas.microsoft.com/office/drawing/2014/main" id="{EC34FE26-AFCF-2A09-DB2E-84FFA4D454A5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63600" y="2672840"/>
            <a:ext cx="10515600" cy="1325563"/>
          </a:xfrm>
          <a:prstGeom prst="rect">
            <a:avLst/>
          </a:prstGeom>
        </p:spPr>
        <p:txBody>
          <a:bodyPr anchor="b" anchorCtr="0"/>
          <a:lstStyle/>
          <a:p>
            <a:pPr algn="ctr"/>
            <a:r>
              <a:rPr lang="en-DE" sz="6000" b="1">
                <a:solidFill>
                  <a:srgbClr val="346296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N</a:t>
            </a:r>
            <a:r>
              <a:rPr lang="en-US" sz="6000" b="1" err="1">
                <a:solidFill>
                  <a:srgbClr val="346296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ext</a:t>
            </a:r>
            <a:r>
              <a:rPr lang="en-US" sz="6000" b="1">
                <a:solidFill>
                  <a:srgbClr val="346296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 Up:</a:t>
            </a:r>
            <a:endParaRPr lang="en-DE" sz="6000" b="1">
              <a:solidFill>
                <a:srgbClr val="346296"/>
              </a:solidFill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58865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re 1">
            <a:extLst>
              <a:ext uri="{FF2B5EF4-FFF2-40B4-BE49-F238E27FC236}">
                <a16:creationId xmlns:a16="http://schemas.microsoft.com/office/drawing/2014/main" id="{82643D59-896E-68AE-5BCA-3F8558F198EF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973328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/>
              <a:t>3</a:t>
            </a:r>
            <a:endParaRPr lang="en-GB"/>
          </a:p>
        </p:txBody>
      </p:sp>
      <p:sp>
        <p:nvSpPr>
          <p:cNvPr id="11" name="Titel 10">
            <a:extLst>
              <a:ext uri="{FF2B5EF4-FFF2-40B4-BE49-F238E27FC236}">
                <a16:creationId xmlns:a16="http://schemas.microsoft.com/office/drawing/2014/main" id="{72D13131-79CF-8701-656B-BEFF02678053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 anchor="ctr" anchorCtr="0"/>
          <a:lstStyle/>
          <a:p>
            <a:pPr algn="ctr"/>
            <a:r>
              <a:rPr lang="en-US" sz="25000">
                <a:solidFill>
                  <a:schemeClr val="bg1"/>
                </a:solidFill>
                <a:latin typeface="Stencil" panose="040409050D0802020404" pitchFamily="82" charset="0"/>
              </a:rPr>
              <a:t>3</a:t>
            </a:r>
            <a:endParaRPr lang="en-DE" sz="25000">
              <a:solidFill>
                <a:schemeClr val="bg1"/>
              </a:solidFill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70004164"/>
      </p:ext>
    </p:extLst>
  </p:cSld>
  <p:clrMapOvr>
    <a:masterClrMapping/>
  </p:clrMapOvr>
  <p:transition spd="slow" advTm="1000">
    <p:wip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 10">
            <a:extLst>
              <a:ext uri="{FF2B5EF4-FFF2-40B4-BE49-F238E27FC236}">
                <a16:creationId xmlns:a16="http://schemas.microsoft.com/office/drawing/2014/main" id="{72D13131-79CF-8701-656B-BEFF02678053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 anchor="ctr" anchorCtr="0"/>
          <a:lstStyle/>
          <a:p>
            <a:pPr algn="ctr"/>
            <a:r>
              <a:rPr lang="en-US" sz="25000">
                <a:solidFill>
                  <a:schemeClr val="bg1"/>
                </a:solidFill>
                <a:latin typeface="Stencil" panose="040409050D0802020404" pitchFamily="82" charset="0"/>
              </a:rPr>
              <a:t>2</a:t>
            </a:r>
            <a:endParaRPr lang="en-DE" sz="25000">
              <a:solidFill>
                <a:schemeClr val="bg1"/>
              </a:solidFill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6012733"/>
      </p:ext>
    </p:extLst>
  </p:cSld>
  <p:clrMapOvr>
    <a:masterClrMapping/>
  </p:clrMapOvr>
  <p:transition spd="slow" advTm="1000">
    <p:wip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 10">
            <a:extLst>
              <a:ext uri="{FF2B5EF4-FFF2-40B4-BE49-F238E27FC236}">
                <a16:creationId xmlns:a16="http://schemas.microsoft.com/office/drawing/2014/main" id="{72D13131-79CF-8701-656B-BEFF02678053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 anchor="ctr" anchorCtr="0"/>
          <a:lstStyle/>
          <a:p>
            <a:pPr algn="ctr"/>
            <a:r>
              <a:rPr lang="en-US" sz="25000">
                <a:latin typeface="Stencil" panose="040409050D0802020404" pitchFamily="82" charset="0"/>
              </a:rPr>
              <a:t>1</a:t>
            </a:r>
            <a:endParaRPr lang="en-DE" sz="25000"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3231530"/>
      </p:ext>
    </p:extLst>
  </p:cSld>
  <p:clrMapOvr>
    <a:masterClrMapping/>
  </p:clrMapOvr>
  <p:transition spd="slow" advTm="1000">
    <p:wip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us-titre 2">
            <a:extLst>
              <a:ext uri="{FF2B5EF4-FFF2-40B4-BE49-F238E27FC236}">
                <a16:creationId xmlns:a16="http://schemas.microsoft.com/office/drawing/2014/main" id="{FB22B504-146E-1966-17CE-BB797BC6083D}"/>
              </a:ext>
            </a:extLst>
          </p:cNvPr>
          <p:cNvSpPr txBox="1">
            <a:spLocks/>
          </p:cNvSpPr>
          <p:nvPr/>
        </p:nvSpPr>
        <p:spPr>
          <a:xfrm>
            <a:off x="1524000" y="4271395"/>
            <a:ext cx="9144000" cy="631759"/>
          </a:xfrm>
          <a:prstGeom prst="rect">
            <a:avLst/>
          </a:prstGeom>
        </p:spPr>
        <p:txBody>
          <a:bodyPr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4400" kern="1200">
                <a:solidFill>
                  <a:srgbClr val="3B2B46"/>
                </a:solidFill>
                <a:latin typeface="+mj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b="1" i="1" dirty="0"/>
              <a:t>Bruce Payette</a:t>
            </a:r>
            <a:endParaRPr lang="en-GB" b="1" i="1" dirty="0"/>
          </a:p>
        </p:txBody>
      </p:sp>
      <p:cxnSp>
        <p:nvCxnSpPr>
          <p:cNvPr id="6" name="Connecteur droit 5">
            <a:extLst>
              <a:ext uri="{FF2B5EF4-FFF2-40B4-BE49-F238E27FC236}">
                <a16:creationId xmlns:a16="http://schemas.microsoft.com/office/drawing/2014/main" id="{A169C0FB-08C4-E3EC-573C-91852880EBAA}"/>
              </a:ext>
            </a:extLst>
          </p:cNvPr>
          <p:cNvCxnSpPr/>
          <p:nvPr/>
        </p:nvCxnSpPr>
        <p:spPr>
          <a:xfrm>
            <a:off x="3867150" y="4089400"/>
            <a:ext cx="4508500" cy="0"/>
          </a:xfrm>
          <a:prstGeom prst="line">
            <a:avLst/>
          </a:prstGeom>
          <a:ln>
            <a:solidFill>
              <a:srgbClr val="3B2B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itel 3">
            <a:extLst>
              <a:ext uri="{FF2B5EF4-FFF2-40B4-BE49-F238E27FC236}">
                <a16:creationId xmlns:a16="http://schemas.microsoft.com/office/drawing/2014/main" id="{0E2348EB-2258-5792-670F-322202E630B4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38200" y="2666707"/>
            <a:ext cx="10515600" cy="1325563"/>
          </a:xfrm>
          <a:prstGeom prst="rect">
            <a:avLst/>
          </a:prstGeom>
        </p:spPr>
        <p:txBody>
          <a:bodyPr anchor="b" anchorCtr="0"/>
          <a:lstStyle/>
          <a:p>
            <a:pPr algn="ctr"/>
            <a:r>
              <a:rPr lang="en-US" sz="6000" b="1" dirty="0">
                <a:solidFill>
                  <a:srgbClr val="346296"/>
                </a:solidFill>
                <a:latin typeface="+mn-lt"/>
              </a:rPr>
              <a:t>Designing PowerShell</a:t>
            </a:r>
            <a:endParaRPr lang="en-DE" sz="6000" b="1" dirty="0">
              <a:solidFill>
                <a:srgbClr val="346296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19381683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D531CB4D-40EE-4CEA-4C1F-A86C158A8A50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009061" y="630961"/>
            <a:ext cx="9733280" cy="1325563"/>
          </a:xfrm>
        </p:spPr>
        <p:txBody>
          <a:bodyPr/>
          <a:lstStyle/>
          <a:p>
            <a:pPr rtl="0" eaLnBrk="1" latinLnBrk="0" hangingPunct="1"/>
            <a:r>
              <a:rPr lang="fr-FR" sz="4000" b="1" kern="1200" err="1">
                <a:solidFill>
                  <a:srgbClr val="3B2A47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Many</a:t>
            </a:r>
            <a:r>
              <a:rPr lang="fr-FR" sz="4000" b="1" kern="1200">
                <a:solidFill>
                  <a:srgbClr val="3B2A47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 </a:t>
            </a:r>
            <a:r>
              <a:rPr lang="fr-FR" sz="4000" b="1" kern="1200" err="1">
                <a:solidFill>
                  <a:srgbClr val="3B2A47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thanks</a:t>
            </a:r>
            <a:r>
              <a:rPr lang="fr-FR" sz="4000" b="1" kern="1200">
                <a:solidFill>
                  <a:srgbClr val="3B2A47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 to </a:t>
            </a:r>
            <a:r>
              <a:rPr lang="fr-FR" sz="4000" b="1" kern="1200" err="1">
                <a:solidFill>
                  <a:srgbClr val="3B2A47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our</a:t>
            </a:r>
            <a:r>
              <a:rPr lang="fr-FR" sz="4000" b="1" kern="1200">
                <a:solidFill>
                  <a:srgbClr val="3B2A47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 sponsors:</a:t>
            </a:r>
            <a:endParaRPr lang="en-DE">
              <a:solidFill>
                <a:srgbClr val="3B2A47"/>
              </a:solidFill>
            </a:endParaRPr>
          </a:p>
        </p:txBody>
      </p:sp>
      <p:pic>
        <p:nvPicPr>
          <p:cNvPr id="8" name="Graphique 7">
            <a:extLst>
              <a:ext uri="{FF2B5EF4-FFF2-40B4-BE49-F238E27FC236}">
                <a16:creationId xmlns:a16="http://schemas.microsoft.com/office/drawing/2014/main" id="{C4BDF3A9-64A1-2EA9-AABD-6B9AFBACBB0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542212" y="2028538"/>
            <a:ext cx="8666978" cy="31462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48357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93312970-1382-905E-DF3A-5D367E6E7736}"/>
              </a:ext>
            </a:extLst>
          </p:cNvPr>
          <p:cNvSpPr txBox="1">
            <a:spLocks/>
          </p:cNvSpPr>
          <p:nvPr/>
        </p:nvSpPr>
        <p:spPr>
          <a:xfrm>
            <a:off x="3467314" y="1852863"/>
            <a:ext cx="7886486" cy="43241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en-GB" sz="32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§"/>
            </a:pPr>
            <a:r>
              <a:rPr lang="en-US" dirty="0"/>
              <a:t>Founding member of the PowerShell team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dirty="0"/>
              <a:t>Technical lead on the PowerShell language design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dirty="0"/>
              <a:t>Creator of the original PowerShell DSC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dirty="0"/>
              <a:t>Creator of the Braid language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dirty="0"/>
              <a:t>Very </a:t>
            </a:r>
            <a:r>
              <a:rPr lang="en-US"/>
              <a:t>interested in </a:t>
            </a:r>
            <a:r>
              <a:rPr lang="en-US" dirty="0"/>
              <a:t>interactive programming languages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63F84C9-7486-D81C-EDE7-12CE856D5B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7312" y="324852"/>
            <a:ext cx="7886485" cy="1325563"/>
          </a:xfrm>
        </p:spPr>
        <p:txBody>
          <a:bodyPr>
            <a:normAutofit/>
          </a:bodyPr>
          <a:lstStyle/>
          <a:p>
            <a:r>
              <a:rPr lang="en-US" sz="6600" dirty="0">
                <a:solidFill>
                  <a:srgbClr val="3B2A47"/>
                </a:solidFill>
                <a:latin typeface="+mn-lt"/>
                <a:ea typeface="+mn-ea"/>
                <a:cs typeface="+mn-cs"/>
              </a:rPr>
              <a:t>Bruce Payette</a:t>
            </a:r>
            <a:endParaRPr lang="en-DE" sz="6600" dirty="0">
              <a:solidFill>
                <a:srgbClr val="3B2A47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9" name="Picture 8" descr="SPEAKER&#10;&#10;AI-generated content may be incorrect.">
            <a:extLst>
              <a:ext uri="{FF2B5EF4-FFF2-40B4-BE49-F238E27FC236}">
                <a16:creationId xmlns:a16="http://schemas.microsoft.com/office/drawing/2014/main" id="{908D552E-B9EB-791D-371D-DACABBF8B4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051" y="565441"/>
            <a:ext cx="3123261" cy="3103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10956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F04E7EC-47DA-9454-9DDA-852838306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72754" y="1568383"/>
            <a:ext cx="7886486" cy="4324100"/>
          </a:xfrm>
        </p:spPr>
        <p:txBody>
          <a:bodyPr/>
          <a:lstStyle/>
          <a:p>
            <a:r>
              <a:rPr lang="en-US" dirty="0"/>
              <a:t>Introduction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Some background on PowerShell</a:t>
            </a:r>
          </a:p>
          <a:p>
            <a:r>
              <a:rPr lang="en-US" dirty="0"/>
              <a:t>Examining individual scenarios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Mostly covering stuff I worked directly on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Rating the success of each aspect on a scale of 1-5.</a:t>
            </a:r>
          </a:p>
          <a:p>
            <a:r>
              <a:rPr lang="en-US" dirty="0"/>
              <a:t>Conclusions</a:t>
            </a:r>
          </a:p>
          <a:p>
            <a:r>
              <a:rPr lang="en-US" dirty="0"/>
              <a:t>Q &amp; A</a:t>
            </a:r>
          </a:p>
          <a:p>
            <a:pPr lvl="1"/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F5BA9BE-F967-098F-096C-34609AC32A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67580" y="302735"/>
            <a:ext cx="7886485" cy="1325563"/>
          </a:xfrm>
        </p:spPr>
        <p:txBody>
          <a:bodyPr>
            <a:normAutofit/>
          </a:bodyPr>
          <a:lstStyle/>
          <a:p>
            <a:r>
              <a:rPr lang="en-US" sz="4800" dirty="0">
                <a:latin typeface="+mn-lt"/>
              </a:rPr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5692051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6504D3-B6B4-60DB-458A-6EEC77712A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0"/>
            <a:ext cx="9733280" cy="1325563"/>
          </a:xfrm>
        </p:spPr>
        <p:txBody>
          <a:bodyPr>
            <a:normAutofit/>
          </a:bodyPr>
          <a:lstStyle/>
          <a:p>
            <a:r>
              <a:rPr lang="en-US" sz="4800" dirty="0"/>
              <a:t>High-level PowerShell Design Goals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E48AE9-FCF0-3092-7025-A3C95ECE0E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8572" y="1157287"/>
            <a:ext cx="10532533" cy="5474547"/>
          </a:xfrm>
        </p:spPr>
        <p:txBody>
          <a:bodyPr>
            <a:normAutofit/>
          </a:bodyPr>
          <a:lstStyle/>
          <a:p>
            <a:r>
              <a:rPr lang="en-US" sz="2400" dirty="0"/>
              <a:t>Users are most important than conserving resources. This includes performance. </a:t>
            </a:r>
          </a:p>
          <a:p>
            <a:pPr lvl="1"/>
            <a:r>
              <a:rPr lang="en-US" sz="2400" dirty="0"/>
              <a:t>When scripting, common scenarios should be super easy, less common scenarios should be possible.</a:t>
            </a:r>
          </a:p>
          <a:p>
            <a:pPr lvl="1"/>
            <a:r>
              <a:rPr lang="en-US" sz="2400" dirty="0"/>
              <a:t>Simplify exposing OS functionality on the command line through cmdlets.</a:t>
            </a:r>
          </a:p>
          <a:p>
            <a:pPr lvl="1"/>
            <a:r>
              <a:rPr lang="en-US" sz="2400" dirty="0"/>
              <a:t>Radical support for copy and paste</a:t>
            </a:r>
          </a:p>
          <a:p>
            <a:r>
              <a:rPr lang="en-US" sz="2400" dirty="0"/>
              <a:t>Deep simplicity and deep consistency are king (at least for the </a:t>
            </a:r>
            <a:r>
              <a:rPr lang="en-US" sz="2400" dirty="0" err="1"/>
              <a:t>ITPro</a:t>
            </a:r>
            <a:r>
              <a:rPr lang="en-US" sz="2400" dirty="0"/>
              <a:t> user)</a:t>
            </a:r>
          </a:p>
          <a:p>
            <a:pPr lvl="1"/>
            <a:r>
              <a:rPr lang="en-US" sz="2400" dirty="0"/>
              <a:t>But beware of the “</a:t>
            </a:r>
            <a:r>
              <a:rPr lang="en-US" sz="2400" i="1" dirty="0"/>
              <a:t>foolish consistency</a:t>
            </a:r>
            <a:r>
              <a:rPr lang="en-US" sz="2400" dirty="0"/>
              <a:t>”. It is possible to over do consistency/simplicity – works in the general case, fails in edge scenarios. Examples:</a:t>
            </a:r>
          </a:p>
          <a:p>
            <a:pPr lvl="2"/>
            <a:r>
              <a:rPr lang="en-US" sz="1800" dirty="0" err="1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ScriptBlock.InvokeReturnAsIs</a:t>
            </a:r>
            <a:r>
              <a:rPr lang="en-US" sz="18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() # </a:t>
            </a:r>
            <a:r>
              <a:rPr lang="en-US" sz="1800" dirty="0" err="1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spec’ed</a:t>
            </a:r>
            <a:r>
              <a:rPr lang="en-US" sz="18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as object, returns </a:t>
            </a:r>
            <a:r>
              <a:rPr lang="en-US" sz="1800" dirty="0" err="1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PSObject</a:t>
            </a:r>
            <a:endParaRPr lang="en-US" sz="2000" dirty="0">
              <a:solidFill>
                <a:schemeClr val="accent1"/>
              </a:solidFill>
            </a:endParaRPr>
          </a:p>
          <a:p>
            <a:pPr lvl="2"/>
            <a:r>
              <a:rPr lang="en-US" sz="2400" dirty="0">
                <a:solidFill>
                  <a:schemeClr val="accent1"/>
                </a:solidFill>
              </a:rPr>
              <a:t>The Registry provider (and providers in general to some extent.)</a:t>
            </a:r>
          </a:p>
          <a:p>
            <a:r>
              <a:rPr lang="en-US" sz="2400" dirty="0"/>
              <a:t>The sacred vow – “learn once, use forever”.</a:t>
            </a:r>
          </a:p>
          <a:p>
            <a:pPr lvl="1"/>
            <a:r>
              <a:rPr lang="en-US" sz="2400" dirty="0"/>
              <a:t>Backwards compatibility is super important. </a:t>
            </a:r>
          </a:p>
        </p:txBody>
      </p:sp>
    </p:spTree>
    <p:extLst>
      <p:ext uri="{BB962C8B-B14F-4D97-AF65-F5344CB8AC3E}">
        <p14:creationId xmlns:p14="http://schemas.microsoft.com/office/powerpoint/2010/main" val="24846476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CFC459-E31D-3344-22AA-EB6E4E1A64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CC204EE-5C86-D407-D0E1-5AF5A69237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sz="4800" dirty="0"/>
              <a:t>In the </a:t>
            </a:r>
            <a:r>
              <a:rPr lang="fr-FR" sz="4800" dirty="0" err="1"/>
              <a:t>Beginning</a:t>
            </a:r>
            <a:endParaRPr lang="en-GB" sz="4800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D80AA82-3053-0A10-36D9-DB056125B3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99347"/>
            <a:ext cx="10515600" cy="4892770"/>
          </a:xfrm>
        </p:spPr>
        <p:txBody>
          <a:bodyPr>
            <a:normAutofit fontScale="92500" lnSpcReduction="10000"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en-US" dirty="0"/>
              <a:t>Initial design: PowerShell was organized as a set of cooperating services, everything would be replaceable</a:t>
            </a:r>
          </a:p>
          <a:p>
            <a:pPr lvl="1"/>
            <a:r>
              <a:rPr lang="en-US" dirty="0"/>
              <a:t>Like microservices but all in process</a:t>
            </a:r>
          </a:p>
          <a:p>
            <a:pPr lvl="1"/>
            <a:r>
              <a:rPr lang="en-US" dirty="0"/>
              <a:t>But out-of-proc microservices would’ve been cool</a:t>
            </a:r>
          </a:p>
          <a:p>
            <a:r>
              <a:rPr lang="en-US" dirty="0"/>
              <a:t>Each service performed a service (duh) for the engine</a:t>
            </a:r>
          </a:p>
          <a:p>
            <a:pPr lvl="1"/>
            <a:r>
              <a:rPr lang="en-US" dirty="0"/>
              <a:t>SessionState service</a:t>
            </a:r>
          </a:p>
          <a:p>
            <a:pPr lvl="1"/>
            <a:r>
              <a:rPr lang="en-US" dirty="0"/>
              <a:t>Error handling service</a:t>
            </a:r>
          </a:p>
          <a:p>
            <a:pPr lvl="1"/>
            <a:r>
              <a:rPr lang="en-US" dirty="0"/>
              <a:t>Formatting &amp; Output service</a:t>
            </a:r>
          </a:p>
          <a:p>
            <a:pPr lvl="1"/>
            <a:r>
              <a:rPr lang="en-US" dirty="0"/>
              <a:t>Language service</a:t>
            </a:r>
          </a:p>
          <a:p>
            <a:pPr lvl="1"/>
            <a:r>
              <a:rPr lang="en-US" dirty="0"/>
              <a:t>Type service (*)</a:t>
            </a:r>
            <a:endParaRPr lang="en-GB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1E24F7C-1EBD-DC8F-F729-72F4B510FF03}"/>
              </a:ext>
            </a:extLst>
          </p:cNvPr>
          <p:cNvSpPr/>
          <p:nvPr/>
        </p:nvSpPr>
        <p:spPr>
          <a:xfrm>
            <a:off x="10322286" y="4572000"/>
            <a:ext cx="1869713" cy="2286000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/>
              <a:t>This part of your slide will not be visible in post-production.</a:t>
            </a:r>
          </a:p>
          <a:p>
            <a:pPr algn="ctr"/>
            <a:endParaRPr lang="en-GB" sz="1400" dirty="0"/>
          </a:p>
          <a:p>
            <a:pPr algn="ctr"/>
            <a:r>
              <a:rPr lang="en-GB" sz="1400" b="1" dirty="0"/>
              <a:t> Please do not include anything here.</a:t>
            </a:r>
          </a:p>
          <a:p>
            <a:pPr algn="ctr"/>
            <a:endParaRPr lang="en-GB" sz="1400" dirty="0"/>
          </a:p>
          <a:p>
            <a:pPr algn="ctr"/>
            <a:r>
              <a:rPr lang="en-GB" sz="1400" u="sng" dirty="0"/>
              <a:t>Red rectangle to be deleted</a:t>
            </a:r>
          </a:p>
        </p:txBody>
      </p:sp>
    </p:spTree>
    <p:extLst>
      <p:ext uri="{BB962C8B-B14F-4D97-AF65-F5344CB8AC3E}">
        <p14:creationId xmlns:p14="http://schemas.microsoft.com/office/powerpoint/2010/main" val="8442956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31ECFA-F0C1-71BA-B521-C31904DDBE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3784"/>
            <a:ext cx="9733280" cy="1325563"/>
          </a:xfrm>
        </p:spPr>
        <p:txBody>
          <a:bodyPr>
            <a:normAutofit/>
          </a:bodyPr>
          <a:lstStyle/>
          <a:p>
            <a:r>
              <a:rPr lang="en-US" sz="4800" dirty="0"/>
              <a:t>In the Beginning (cont’d)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FB733F-9BE0-4DC8-C017-3D96AE98BE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99347"/>
            <a:ext cx="10515600" cy="4677616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Under this </a:t>
            </a:r>
            <a:r>
              <a:rPr lang="en-US" dirty="0" err="1"/>
              <a:t>miniservices</a:t>
            </a:r>
            <a:r>
              <a:rPr lang="en-US" dirty="0"/>
              <a:t> model, the user would only need to instantiate and pass the required services through dependency injection</a:t>
            </a:r>
          </a:p>
          <a:p>
            <a:pPr lvl="1"/>
            <a:r>
              <a:rPr lang="en-US" dirty="0"/>
              <a:t>The only non-optional service was the pipeline processor</a:t>
            </a:r>
          </a:p>
          <a:p>
            <a:r>
              <a:rPr lang="en-US" dirty="0"/>
              <a:t>Using all these services made it hard to work with</a:t>
            </a:r>
          </a:p>
          <a:p>
            <a:pPr lvl="1"/>
            <a:r>
              <a:rPr lang="en-US" dirty="0"/>
              <a:t>LEGO shell?</a:t>
            </a:r>
          </a:p>
          <a:p>
            <a:r>
              <a:rPr lang="en-US" dirty="0"/>
              <a:t>However, as the engine was developed, these services took a dependency on the language runtime (e.g. </a:t>
            </a:r>
            <a:r>
              <a:rPr lang="en-US" dirty="0" err="1"/>
              <a:t>ScriptBlocks</a:t>
            </a:r>
            <a:r>
              <a:rPr lang="en-US" dirty="0"/>
              <a:t> in Formatting/Output, Script Methods)</a:t>
            </a:r>
          </a:p>
          <a:p>
            <a:r>
              <a:rPr lang="en-US" dirty="0"/>
              <a:t>Ultimately we wrapped everything and called it a </a:t>
            </a:r>
            <a:r>
              <a:rPr lang="en-US" i="1" dirty="0" err="1"/>
              <a:t>RunSpace</a:t>
            </a:r>
            <a:endParaRPr lang="en-US" i="1" dirty="0"/>
          </a:p>
          <a:p>
            <a:pPr lvl="1"/>
            <a:r>
              <a:rPr lang="en-US" dirty="0" err="1"/>
              <a:t>RunSpace</a:t>
            </a:r>
            <a:r>
              <a:rPr lang="en-US" dirty="0"/>
              <a:t> == “A place to run PowerShell code”</a:t>
            </a:r>
          </a:p>
        </p:txBody>
      </p:sp>
    </p:spTree>
    <p:extLst>
      <p:ext uri="{BB962C8B-B14F-4D97-AF65-F5344CB8AC3E}">
        <p14:creationId xmlns:p14="http://schemas.microsoft.com/office/powerpoint/2010/main" val="9615793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4E3BD-05C0-0B0B-E153-F335248E2D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1159" y="175472"/>
            <a:ext cx="10040321" cy="1325563"/>
          </a:xfrm>
        </p:spPr>
        <p:txBody>
          <a:bodyPr>
            <a:normAutofit/>
          </a:bodyPr>
          <a:lstStyle/>
          <a:p>
            <a:r>
              <a:rPr lang="en-US" sz="4800" dirty="0"/>
              <a:t>Sessions and Remoting (Rating 4.5/5)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AD5FE7-E601-32FF-C8B9-A328E5D75B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8494"/>
            <a:ext cx="10515600" cy="5197287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A big feature of PowerShell 2 was remoting</a:t>
            </a:r>
          </a:p>
          <a:p>
            <a:pPr lvl="1"/>
            <a:r>
              <a:rPr lang="en-US" dirty="0"/>
              <a:t>Metadata-driven serialization</a:t>
            </a:r>
          </a:p>
          <a:p>
            <a:r>
              <a:rPr lang="en-US" dirty="0"/>
              <a:t>Initially, users would connect to a remote </a:t>
            </a:r>
            <a:r>
              <a:rPr lang="en-US" dirty="0" err="1"/>
              <a:t>RunSpace</a:t>
            </a:r>
            <a:endParaRPr lang="en-US" dirty="0"/>
          </a:p>
          <a:p>
            <a:r>
              <a:rPr lang="en-US" dirty="0"/>
              <a:t>BUT when the usability folks tested this, they found that users thought “</a:t>
            </a:r>
            <a:r>
              <a:rPr lang="en-US" dirty="0" err="1"/>
              <a:t>RunSpace</a:t>
            </a:r>
            <a:r>
              <a:rPr lang="en-US" dirty="0"/>
              <a:t>” was confusing and preferred “Session” which was already a familiar term.</a:t>
            </a:r>
          </a:p>
          <a:p>
            <a:r>
              <a:rPr lang="en-US" dirty="0"/>
              <a:t>What to do?</a:t>
            </a:r>
          </a:p>
          <a:p>
            <a:pPr lvl="1"/>
            <a:r>
              <a:rPr lang="en-US" dirty="0"/>
              <a:t>The ideal(?) fix would’ve been to change </a:t>
            </a:r>
            <a:r>
              <a:rPr lang="en-US" dirty="0" err="1"/>
              <a:t>RunSpace</a:t>
            </a:r>
            <a:r>
              <a:rPr lang="en-US" dirty="0"/>
              <a:t> to Session</a:t>
            </a:r>
          </a:p>
          <a:p>
            <a:pPr lvl="1"/>
            <a:r>
              <a:rPr lang="en-US" dirty="0"/>
              <a:t>Unfortunately, since V1 had already shipped, doing this would have been a massive breaking change</a:t>
            </a:r>
          </a:p>
          <a:p>
            <a:pPr lvl="1"/>
            <a:r>
              <a:rPr lang="en-US" dirty="0"/>
              <a:t>As a result of this, a new class ‘Session’ was added</a:t>
            </a:r>
          </a:p>
          <a:p>
            <a:pPr lvl="1"/>
            <a:r>
              <a:rPr lang="en-US" dirty="0"/>
              <a:t>So</a:t>
            </a:r>
            <a:r>
              <a:rPr lang="en-US" i="1" dirty="0"/>
              <a:t> Session</a:t>
            </a:r>
            <a:r>
              <a:rPr lang="en-US" dirty="0"/>
              <a:t> wraps </a:t>
            </a:r>
            <a:r>
              <a:rPr lang="en-US" i="1" dirty="0"/>
              <a:t>Runspace</a:t>
            </a:r>
            <a:r>
              <a:rPr lang="en-US" dirty="0"/>
              <a:t> which wraps </a:t>
            </a:r>
            <a:r>
              <a:rPr lang="en-US" i="1" dirty="0"/>
              <a:t>Engine</a:t>
            </a:r>
            <a:r>
              <a:rPr lang="en-US" dirty="0"/>
              <a:t> which wraps </a:t>
            </a:r>
            <a:r>
              <a:rPr lang="en-US" i="1" dirty="0"/>
              <a:t>SessionState</a:t>
            </a:r>
            <a:r>
              <a:rPr lang="en-US" dirty="0"/>
              <a:t> and the </a:t>
            </a:r>
            <a:r>
              <a:rPr lang="en-US" i="1" dirty="0"/>
              <a:t>Language</a:t>
            </a:r>
            <a:r>
              <a:rPr lang="en-US" dirty="0"/>
              <a:t> runtime.</a:t>
            </a:r>
          </a:p>
        </p:txBody>
      </p:sp>
    </p:spTree>
    <p:extLst>
      <p:ext uri="{BB962C8B-B14F-4D97-AF65-F5344CB8AC3E}">
        <p14:creationId xmlns:p14="http://schemas.microsoft.com/office/powerpoint/2010/main" val="24027184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994BAF-844F-4377-2A14-9F5D307553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06332"/>
            <a:ext cx="9733280" cy="1325563"/>
          </a:xfrm>
        </p:spPr>
        <p:txBody>
          <a:bodyPr>
            <a:normAutofit/>
          </a:bodyPr>
          <a:lstStyle/>
          <a:p>
            <a:r>
              <a:rPr lang="en-US" sz="4800" dirty="0"/>
              <a:t>Parameter Binding (Rating 4/5)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E103A-44D7-F6E9-AB98-B93F4B4BB6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37129"/>
            <a:ext cx="10515600" cy="5439335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Declarative parameter specification (*) interpreted at runtime</a:t>
            </a:r>
          </a:p>
          <a:p>
            <a:r>
              <a:rPr lang="en-US" dirty="0"/>
              <a:t>The binding algorithm does a parallel search through all of the parameter sets</a:t>
            </a:r>
          </a:p>
          <a:p>
            <a:pPr lvl="1"/>
            <a:r>
              <a:rPr lang="en-US" dirty="0"/>
              <a:t>Uses a bitmap to keep track of the still active sets.</a:t>
            </a:r>
          </a:p>
          <a:p>
            <a:pPr lvl="1"/>
            <a:r>
              <a:rPr lang="en-US" dirty="0"/>
              <a:t>At the end of the search there should only be 1 bit set.</a:t>
            </a:r>
          </a:p>
          <a:p>
            <a:r>
              <a:rPr lang="en-US" dirty="0"/>
              <a:t>Does two searches:</a:t>
            </a:r>
          </a:p>
          <a:p>
            <a:pPr lvl="1"/>
            <a:r>
              <a:rPr lang="en-US" dirty="0"/>
              <a:t>First uses direct assignment </a:t>
            </a:r>
          </a:p>
          <a:p>
            <a:pPr lvl="1"/>
            <a:r>
              <a:rPr lang="en-US" dirty="0"/>
              <a:t>Second uses type conversion</a:t>
            </a:r>
          </a:p>
          <a:p>
            <a:pPr lvl="1"/>
            <a:r>
              <a:rPr lang="en-US" dirty="0"/>
              <a:t>This was a hack that lasted 20+ years…</a:t>
            </a:r>
          </a:p>
          <a:p>
            <a:r>
              <a:rPr lang="en-US" dirty="0"/>
              <a:t>Dynamic parameters, ubiquitous parameters all make parameter binding very complicated and slow</a:t>
            </a:r>
          </a:p>
        </p:txBody>
      </p:sp>
    </p:spTree>
    <p:extLst>
      <p:ext uri="{BB962C8B-B14F-4D97-AF65-F5344CB8AC3E}">
        <p14:creationId xmlns:p14="http://schemas.microsoft.com/office/powerpoint/2010/main" val="407399507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153600-AD88-E5D7-6326-AD0B56F4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26A34B2-9CFA-EEEC-3423-EE845B7712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sz="4800" dirty="0"/>
              <a:t>Pipelining (Rating 3.5/5)</a:t>
            </a:r>
            <a:endParaRPr lang="en-GB" sz="4800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B4B65F2-BE80-9E24-1C58-8813DAB5AE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1465"/>
            <a:ext cx="10515600" cy="4703868"/>
          </a:xfrm>
        </p:spPr>
        <p:txBody>
          <a:bodyPr>
            <a:normAutofit fontScale="92500" lnSpcReduction="20000"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en-GB" dirty="0"/>
              <a:t>Traditional shells use one process per command</a:t>
            </a:r>
          </a:p>
          <a:p>
            <a:pPr lvl="1"/>
            <a:r>
              <a:rPr lang="en-GB" dirty="0"/>
              <a:t>This couldn’t work for PowerShell because of the overhead of process creation and, even worse, object de/serialization is expensive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GB" dirty="0"/>
              <a:t>We then considered using threads to implement concurrency, one thread per command but again, lots of overhead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GB" dirty="0"/>
              <a:t>Finally we settled on the single-thread Begin/Process/End approach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GB" dirty="0"/>
              <a:t>NOTE: We made cmdlet pipeline support explicit. You had to design your cmdlet to actively participate in pipeline input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16C94C3-D158-7BC4-10AA-F3F4FCAF27E8}"/>
              </a:ext>
            </a:extLst>
          </p:cNvPr>
          <p:cNvSpPr/>
          <p:nvPr/>
        </p:nvSpPr>
        <p:spPr>
          <a:xfrm flipH="1" flipV="1">
            <a:off x="12191999" y="6858000"/>
            <a:ext cx="548641" cy="436880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/>
              <a:t>This part of your slide will not be visible in post-production.</a:t>
            </a:r>
          </a:p>
          <a:p>
            <a:pPr algn="ctr"/>
            <a:endParaRPr lang="en-GB" sz="1400" dirty="0"/>
          </a:p>
          <a:p>
            <a:pPr algn="ctr"/>
            <a:r>
              <a:rPr lang="en-GB" sz="1400" b="1" dirty="0"/>
              <a:t> Please do not include anything here.</a:t>
            </a:r>
          </a:p>
          <a:p>
            <a:pPr algn="ctr"/>
            <a:endParaRPr lang="en-GB" sz="1400" dirty="0"/>
          </a:p>
          <a:p>
            <a:pPr algn="ctr"/>
            <a:r>
              <a:rPr lang="en-GB" sz="1400" u="sng" dirty="0"/>
              <a:t>Red rectangle to be deleted</a:t>
            </a:r>
          </a:p>
        </p:txBody>
      </p:sp>
    </p:spTree>
    <p:extLst>
      <p:ext uri="{BB962C8B-B14F-4D97-AF65-F5344CB8AC3E}">
        <p14:creationId xmlns:p14="http://schemas.microsoft.com/office/powerpoint/2010/main" val="27610691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4D1072-6C29-C047-4488-6F3458AFBD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015" y="0"/>
            <a:ext cx="9733280" cy="1325563"/>
          </a:xfrm>
        </p:spPr>
        <p:txBody>
          <a:bodyPr>
            <a:noAutofit/>
          </a:bodyPr>
          <a:lstStyle/>
          <a:p>
            <a:r>
              <a:rPr lang="en-US" sz="4000" dirty="0"/>
              <a:t>Streaming and Cardinality (Rating 3/5)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8D72D6-F83B-61E7-6030-6C5E164EB3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56352"/>
            <a:ext cx="10515600" cy="5259283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PowerShell </a:t>
            </a:r>
            <a:r>
              <a:rPr lang="en-US" i="1" dirty="0"/>
              <a:t>streams</a:t>
            </a:r>
            <a:r>
              <a:rPr lang="en-US" dirty="0"/>
              <a:t> everything which means it flattens collections of collections by one level. (it’s essentially </a:t>
            </a:r>
            <a:r>
              <a:rPr lang="en-US" i="1" dirty="0" err="1"/>
              <a:t>flatmap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This makes the most common scenarios really easy but makes some less common ones impossible.</a:t>
            </a:r>
          </a:p>
          <a:p>
            <a:pPr lvl="1"/>
            <a:r>
              <a:rPr lang="en-US" dirty="0"/>
              <a:t>You </a:t>
            </a:r>
            <a:r>
              <a:rPr lang="en-US" i="1" dirty="0"/>
              <a:t>cannot</a:t>
            </a:r>
            <a:r>
              <a:rPr lang="en-US" dirty="0"/>
              <a:t> reliably pass a collection type through PowerShell pipelines.</a:t>
            </a:r>
          </a:p>
          <a:p>
            <a:r>
              <a:rPr lang="en-US" dirty="0" err="1"/>
              <a:t>IEnumerables</a:t>
            </a:r>
            <a:r>
              <a:rPr lang="en-US" dirty="0"/>
              <a:t> as input are messed up. The following turns out to be somewhat evil:</a:t>
            </a:r>
          </a:p>
          <a:p>
            <a:pPr marL="0" indent="0">
              <a:buNone/>
            </a:pPr>
            <a:r>
              <a:rPr lang="en-US" sz="2100" dirty="0">
                <a:latin typeface="Cascadia Code" panose="020B0609020000020004" pitchFamily="49" charset="0"/>
                <a:cs typeface="Cascadia Code" panose="020B0609020000020004" pitchFamily="49" charset="0"/>
              </a:rPr>
              <a:t>     </a:t>
            </a:r>
            <a:r>
              <a:rPr lang="en-US" sz="21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[Parameter(</a:t>
            </a:r>
            <a:r>
              <a:rPr lang="en-US" sz="2100" dirty="0" err="1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ValueFromPipeline</a:t>
            </a:r>
            <a:r>
              <a:rPr lang="en-US" sz="21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= true)]</a:t>
            </a:r>
          </a:p>
          <a:p>
            <a:pPr marL="0" indent="0">
              <a:buNone/>
            </a:pPr>
            <a:r>
              <a:rPr lang="en-US" sz="21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    public </a:t>
            </a:r>
            <a:r>
              <a:rPr lang="en-US" sz="2100" dirty="0" err="1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PSObject</a:t>
            </a:r>
            <a:r>
              <a:rPr lang="en-US" sz="21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</a:t>
            </a:r>
            <a:r>
              <a:rPr lang="en-US" sz="2100" dirty="0" err="1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InputObject</a:t>
            </a:r>
            <a:r>
              <a:rPr lang="en-US" sz="21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{ get; set; } = </a:t>
            </a:r>
            <a:r>
              <a:rPr lang="en-US" sz="2100" dirty="0" err="1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AutomationNull.Value</a:t>
            </a:r>
            <a:r>
              <a:rPr lang="en-US" sz="21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;</a:t>
            </a:r>
          </a:p>
          <a:p>
            <a:r>
              <a:rPr lang="en-US" dirty="0">
                <a:cs typeface="Cascadia Code" panose="020B0609020000020004" pitchFamily="49" charset="0"/>
              </a:rPr>
              <a:t>Arrays are annoying:</a:t>
            </a:r>
          </a:p>
          <a:p>
            <a:pPr lvl="1"/>
            <a:r>
              <a:rPr lang="en-US" dirty="0">
                <a:cs typeface="Cascadia Code" panose="020B0609020000020004" pitchFamily="49" charset="0"/>
              </a:rPr>
              <a:t>No array literals, leading commas are weird.</a:t>
            </a:r>
          </a:p>
          <a:p>
            <a:pPr lvl="1"/>
            <a:r>
              <a:rPr lang="en-US" dirty="0">
                <a:cs typeface="Cascadia Code" panose="020B0609020000020004" pitchFamily="49" charset="0"/>
              </a:rPr>
              <a:t>Too much copying of contents</a:t>
            </a:r>
          </a:p>
          <a:p>
            <a:r>
              <a:rPr lang="en-US" dirty="0">
                <a:cs typeface="Cascadia Code" panose="020B0609020000020004" pitchFamily="49" charset="0"/>
              </a:rPr>
              <a:t>BUG?  When passing Braid vectors to sort</a:t>
            </a:r>
          </a:p>
          <a:p>
            <a:pPr marL="0" indent="0">
              <a:buNone/>
            </a:pPr>
            <a:r>
              <a:rPr lang="en-US" sz="26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	(</a:t>
            </a:r>
            <a:r>
              <a:rPr lang="en-US" sz="2600" dirty="0" err="1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ibf</a:t>
            </a:r>
            <a:r>
              <a:rPr lang="en-US" sz="26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vector 2 1 3 | sort-object) </a:t>
            </a:r>
          </a:p>
          <a:p>
            <a:pPr marL="0" indent="0">
              <a:buNone/>
            </a:pPr>
            <a:r>
              <a:rPr lang="en-US" dirty="0">
                <a:cs typeface="Cascadia Code" panose="020B0609020000020004" pitchFamily="49" charset="0"/>
              </a:rPr>
              <a:t>the vector gets passed as a single element instead of sorting it but</a:t>
            </a:r>
          </a:p>
          <a:p>
            <a:pPr marL="0" indent="0">
              <a:buNone/>
            </a:pPr>
            <a:r>
              <a:rPr lang="en-US" dirty="0">
                <a:cs typeface="Cascadia Code" panose="020B0609020000020004" pitchFamily="49" charset="0"/>
              </a:rPr>
              <a:t> 	</a:t>
            </a:r>
            <a:r>
              <a:rPr lang="en-US" sz="23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2300" dirty="0" err="1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ibf</a:t>
            </a:r>
            <a:r>
              <a:rPr lang="en-US" sz="2300" dirty="0">
                <a:solidFill>
                  <a:schemeClr val="accent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 vector 2 1 3 | write-output | sort-object) </a:t>
            </a:r>
            <a:r>
              <a:rPr lang="en-US" dirty="0">
                <a:cs typeface="Cascadia Code" panose="020B0609020000020004" pitchFamily="49" charset="0"/>
              </a:rPr>
              <a:t>works properly.</a:t>
            </a:r>
          </a:p>
        </p:txBody>
      </p:sp>
    </p:spTree>
    <p:extLst>
      <p:ext uri="{BB962C8B-B14F-4D97-AF65-F5344CB8AC3E}">
        <p14:creationId xmlns:p14="http://schemas.microsoft.com/office/powerpoint/2010/main" val="80177164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FACCBF-C92C-14A9-531E-CEFE168A78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800" dirty="0"/>
              <a:t>Language Syntax &amp; Quoting (4.8/5)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1AD011-15E6-CA5D-E18D-FD732C9E2F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92386" y="1524000"/>
            <a:ext cx="10515600" cy="4721013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Began with </a:t>
            </a:r>
            <a:r>
              <a:rPr lang="en-US" dirty="0" err="1"/>
              <a:t>Posix</a:t>
            </a:r>
            <a:r>
              <a:rPr lang="en-US" dirty="0"/>
              <a:t> Shell (</a:t>
            </a:r>
            <a:r>
              <a:rPr lang="en-US" dirty="0" err="1"/>
              <a:t>ksh</a:t>
            </a:r>
            <a:r>
              <a:rPr lang="en-US" dirty="0"/>
              <a:t>) grammar and Perl for extensions.</a:t>
            </a:r>
          </a:p>
          <a:p>
            <a:pPr lvl="1"/>
            <a:r>
              <a:rPr lang="en-US" dirty="0"/>
              <a:t>We had a YACC grammar for a while, but PowerShell is not an LALR(1) language.</a:t>
            </a:r>
          </a:p>
          <a:p>
            <a:r>
              <a:rPr lang="en-US" dirty="0"/>
              <a:t>Design reset very early on to use (a subset of) C# (and also Java/</a:t>
            </a:r>
            <a:r>
              <a:rPr lang="en-US" dirty="0" err="1"/>
              <a:t>Javascript</a:t>
            </a:r>
            <a:r>
              <a:rPr lang="en-US" dirty="0"/>
              <a:t>/C/C++) because we wanted programmers to like PowerShell too.</a:t>
            </a:r>
          </a:p>
          <a:p>
            <a:r>
              <a:rPr lang="en-US" dirty="0"/>
              <a:t>Bimodal parsing: command and expression modes</a:t>
            </a:r>
          </a:p>
          <a:p>
            <a:r>
              <a:rPr lang="en-US" dirty="0"/>
              <a:t>Single and double quoted strings, expansion, the quote character in strings backtick (`). People don’t like this.</a:t>
            </a:r>
          </a:p>
          <a:p>
            <a:r>
              <a:rPr lang="en-US" i="1" dirty="0"/>
              <a:t>Splatting hashtables instead of backquote. Humph</a:t>
            </a:r>
          </a:p>
        </p:txBody>
      </p:sp>
    </p:spTree>
    <p:extLst>
      <p:ext uri="{BB962C8B-B14F-4D97-AF65-F5344CB8AC3E}">
        <p14:creationId xmlns:p14="http://schemas.microsoft.com/office/powerpoint/2010/main" val="160051166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90197C-3D75-5169-8B75-7C31489E21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800" dirty="0"/>
              <a:t>Variables and Scoping (4/5)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315442-10A0-3357-D460-93214FE526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Scoping is about what variables your code can see.</a:t>
            </a:r>
          </a:p>
          <a:p>
            <a:r>
              <a:rPr lang="en-US" dirty="0"/>
              <a:t>Lexical Scoping (C#, Braid do this)</a:t>
            </a:r>
          </a:p>
          <a:p>
            <a:pPr lvl="1"/>
            <a:r>
              <a:rPr lang="en-US" dirty="0" err="1"/>
              <a:t>Visability</a:t>
            </a:r>
            <a:r>
              <a:rPr lang="en-US" dirty="0"/>
              <a:t> depends on </a:t>
            </a:r>
            <a:r>
              <a:rPr lang="en-US" i="1" dirty="0"/>
              <a:t>where</a:t>
            </a:r>
            <a:r>
              <a:rPr lang="en-US" dirty="0"/>
              <a:t> things are defined</a:t>
            </a:r>
          </a:p>
          <a:p>
            <a:r>
              <a:rPr lang="en-US" dirty="0"/>
              <a:t>Dynamic Scoping (PowerShell does this)</a:t>
            </a:r>
          </a:p>
          <a:p>
            <a:pPr lvl="1"/>
            <a:r>
              <a:rPr lang="en-US" dirty="0" err="1"/>
              <a:t>Visability</a:t>
            </a:r>
            <a:r>
              <a:rPr lang="en-US" dirty="0"/>
              <a:t> depends on </a:t>
            </a:r>
            <a:r>
              <a:rPr lang="en-US" i="1" dirty="0"/>
              <a:t>when</a:t>
            </a:r>
            <a:r>
              <a:rPr lang="en-US" dirty="0"/>
              <a:t> things are defined</a:t>
            </a:r>
          </a:p>
          <a:p>
            <a:pPr lvl="1"/>
            <a:r>
              <a:rPr lang="en-US" dirty="0"/>
              <a:t>Supports the configuration shell pattern</a:t>
            </a:r>
          </a:p>
          <a:p>
            <a:r>
              <a:rPr lang="en-US" dirty="0"/>
              <a:t>Module Scoping</a:t>
            </a:r>
          </a:p>
          <a:p>
            <a:pPr lvl="1"/>
            <a:r>
              <a:rPr lang="en-US" dirty="0" err="1"/>
              <a:t>Visability</a:t>
            </a:r>
            <a:r>
              <a:rPr lang="en-US" dirty="0"/>
              <a:t> depends on </a:t>
            </a:r>
            <a:r>
              <a:rPr lang="en-US" i="1" dirty="0"/>
              <a:t>how</a:t>
            </a:r>
            <a:r>
              <a:rPr lang="en-US" dirty="0"/>
              <a:t> things are defined</a:t>
            </a:r>
          </a:p>
        </p:txBody>
      </p:sp>
    </p:spTree>
    <p:extLst>
      <p:ext uri="{BB962C8B-B14F-4D97-AF65-F5344CB8AC3E}">
        <p14:creationId xmlns:p14="http://schemas.microsoft.com/office/powerpoint/2010/main" val="120792933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C57CEE-C43A-536C-F7A0-00DD1331E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800" dirty="0"/>
              <a:t>Types and Conversions (Rating 4.5/5)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B9C2C7-292E-565A-366A-67A4BEDB38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Designed to use a very small set of core types (literals)</a:t>
            </a:r>
          </a:p>
          <a:p>
            <a:pPr lvl="1"/>
            <a:r>
              <a:rPr lang="en-US" dirty="0"/>
              <a:t> numbers(!), strings, arrays(!) and hashtables</a:t>
            </a:r>
          </a:p>
          <a:p>
            <a:r>
              <a:rPr lang="en-US" dirty="0"/>
              <a:t>Type notation: </a:t>
            </a:r>
            <a:r>
              <a:rPr lang="en-US" sz="2800" dirty="0">
                <a:latin typeface="Cascadia Code" panose="020B0609020000020004" pitchFamily="49" charset="0"/>
                <a:cs typeface="Cascadia Code" panose="020B0609020000020004" pitchFamily="49" charset="0"/>
              </a:rPr>
              <a:t>[int] [int[]] [list[int]]</a:t>
            </a:r>
            <a:endParaRPr lang="en-US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pPr lvl="1"/>
            <a:r>
              <a:rPr lang="en-US" dirty="0"/>
              <a:t>Annoying because type literals only parse in expression mode. It would, for example, be nice to be able to use types as switch cases (could do this with a switch switch)</a:t>
            </a:r>
          </a:p>
          <a:p>
            <a:r>
              <a:rPr lang="en-US" i="1" dirty="0"/>
              <a:t>Safe</a:t>
            </a:r>
            <a:r>
              <a:rPr lang="en-US" dirty="0"/>
              <a:t> </a:t>
            </a:r>
            <a:r>
              <a:rPr lang="en-US" i="1" dirty="0"/>
              <a:t>sane</a:t>
            </a:r>
            <a:r>
              <a:rPr lang="en-US" dirty="0"/>
              <a:t> conversions always applied everywhere</a:t>
            </a:r>
          </a:p>
          <a:p>
            <a:pPr lvl="1"/>
            <a:r>
              <a:rPr lang="en-US" dirty="0"/>
              <a:t>No stupid or partial conversions to help prevent data loss.</a:t>
            </a:r>
          </a:p>
        </p:txBody>
      </p:sp>
    </p:spTree>
    <p:extLst>
      <p:ext uri="{BB962C8B-B14F-4D97-AF65-F5344CB8AC3E}">
        <p14:creationId xmlns:p14="http://schemas.microsoft.com/office/powerpoint/2010/main" val="41144542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D3F07-AA80-09CF-05F7-C3A07E7BF4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639" y="60960"/>
            <a:ext cx="9733280" cy="1053995"/>
          </a:xfrm>
        </p:spPr>
        <p:txBody>
          <a:bodyPr>
            <a:noAutofit/>
          </a:bodyPr>
          <a:lstStyle/>
          <a:p>
            <a:r>
              <a:rPr lang="en-US" sz="4800" dirty="0"/>
              <a:t>Errors &amp; Error Handling (Rating 3/5)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11CB23-B442-5C7A-51B9-85E6CE8FF4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4014" y="975359"/>
            <a:ext cx="10515600" cy="6834293"/>
          </a:xfrm>
        </p:spPr>
        <p:txBody>
          <a:bodyPr>
            <a:normAutofit/>
          </a:bodyPr>
          <a:lstStyle/>
          <a:p>
            <a:r>
              <a:rPr lang="en-US" sz="2800" dirty="0"/>
              <a:t>Multiple error types + error preferences makes the </a:t>
            </a:r>
            <a:r>
              <a:rPr lang="en-US" sz="2800" dirty="0" err="1"/>
              <a:t>behaviour</a:t>
            </a:r>
            <a:r>
              <a:rPr lang="en-US" sz="2800" dirty="0"/>
              <a:t> complicated:</a:t>
            </a:r>
          </a:p>
          <a:p>
            <a:pPr lvl="1"/>
            <a:r>
              <a:rPr lang="en-US" sz="2400" dirty="0"/>
              <a:t>Terminating and non-terminating errors, $?, $LASTEXITCODE</a:t>
            </a:r>
          </a:p>
          <a:p>
            <a:pPr lvl="1"/>
            <a:r>
              <a:rPr lang="en-US" sz="2400" dirty="0"/>
              <a:t>Not all Windows commands set the exit code properly</a:t>
            </a:r>
          </a:p>
          <a:p>
            <a:pPr lvl="1"/>
            <a:r>
              <a:rPr lang="en-US" sz="2400" dirty="0"/>
              <a:t>We had the idea of restarting an operation based on the error objects but as far as I know, this is not used</a:t>
            </a:r>
          </a:p>
          <a:p>
            <a:r>
              <a:rPr lang="en-US" sz="2800" dirty="0"/>
              <a:t>Redirection of stderr on Unix-like system</a:t>
            </a:r>
          </a:p>
          <a:p>
            <a:pPr lvl="1"/>
            <a:r>
              <a:rPr lang="en-US" sz="2400" dirty="0"/>
              <a:t>Uses </a:t>
            </a:r>
            <a:r>
              <a:rPr lang="en-US" sz="2000" dirty="0">
                <a:latin typeface="Cascadia Code" panose="020B0609020000020004" pitchFamily="49" charset="0"/>
                <a:cs typeface="Cascadia Code" panose="020B0609020000020004" pitchFamily="49" charset="0"/>
              </a:rPr>
              <a:t>stderr</a:t>
            </a:r>
            <a:r>
              <a:rPr lang="en-US" sz="2400" dirty="0"/>
              <a:t> as an alternate data stream, doesn’t work with PowerShell</a:t>
            </a:r>
          </a:p>
          <a:p>
            <a:r>
              <a:rPr lang="en-US" sz="2800" dirty="0"/>
              <a:t>Handling errors</a:t>
            </a:r>
          </a:p>
          <a:p>
            <a:pPr lvl="1"/>
            <a:r>
              <a:rPr lang="en-US" sz="2000" dirty="0">
                <a:latin typeface="Cascadia Code" panose="020B0609020000020004" pitchFamily="49" charset="0"/>
                <a:cs typeface="Cascadia Code" panose="020B0609020000020004" pitchFamily="49" charset="0"/>
              </a:rPr>
              <a:t>trap</a:t>
            </a:r>
            <a:r>
              <a:rPr lang="en-US" sz="2400" dirty="0"/>
              <a:t> vs </a:t>
            </a:r>
            <a:r>
              <a:rPr lang="en-US" sz="2000" dirty="0">
                <a:latin typeface="Cascadia Code" panose="020B0609020000020004" pitchFamily="49" charset="0"/>
                <a:cs typeface="Cascadia Code" panose="020B0609020000020004" pitchFamily="49" charset="0"/>
              </a:rPr>
              <a:t>try/catch/finally</a:t>
            </a:r>
            <a:r>
              <a:rPr lang="en-US" sz="2400" dirty="0"/>
              <a:t>, IO Redirection, “partial success”</a:t>
            </a:r>
          </a:p>
          <a:p>
            <a:r>
              <a:rPr lang="en-US" sz="2800" dirty="0"/>
              <a:t>A limitation: can’t make errors in scripts work like errors in compiled cmdlets</a:t>
            </a:r>
          </a:p>
        </p:txBody>
      </p:sp>
    </p:spTree>
    <p:extLst>
      <p:ext uri="{BB962C8B-B14F-4D97-AF65-F5344CB8AC3E}">
        <p14:creationId xmlns:p14="http://schemas.microsoft.com/office/powerpoint/2010/main" val="284134298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187FFB-5DBB-DBE8-F513-1CD13F3AC3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800" dirty="0"/>
              <a:t>Performance (1/5)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FCD60B-8CFF-39B2-0F16-AF74FD620F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0029"/>
            <a:ext cx="10515600" cy="4596934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PowerShell performance is </a:t>
            </a:r>
            <a:r>
              <a:rPr lang="en-US" i="1" dirty="0"/>
              <a:t>bad</a:t>
            </a:r>
            <a:r>
              <a:rPr lang="en-US" dirty="0"/>
              <a:t>. </a:t>
            </a:r>
            <a:r>
              <a:rPr lang="en-US" i="1" dirty="0"/>
              <a:t>Really bad</a:t>
            </a:r>
            <a:r>
              <a:rPr lang="en-US" dirty="0"/>
              <a:t>.</a:t>
            </a:r>
          </a:p>
          <a:p>
            <a:r>
              <a:rPr lang="en-US" dirty="0"/>
              <a:t>The language runtime was sped up about 10x with the DLR work but…</a:t>
            </a:r>
          </a:p>
          <a:p>
            <a:r>
              <a:rPr lang="en-US" dirty="0"/>
              <a:t>Pretty much everything goes through the pipeline processor</a:t>
            </a:r>
          </a:p>
          <a:p>
            <a:pPr lvl="1"/>
            <a:r>
              <a:rPr lang="en-US" dirty="0"/>
              <a:t>The full parameter binding process happens for </a:t>
            </a:r>
            <a:r>
              <a:rPr lang="en-US" i="1" dirty="0"/>
              <a:t>each</a:t>
            </a:r>
            <a:r>
              <a:rPr lang="en-US" dirty="0"/>
              <a:t> object that is processed</a:t>
            </a:r>
          </a:p>
          <a:p>
            <a:pPr lvl="1"/>
            <a:r>
              <a:rPr lang="en-US" dirty="0"/>
              <a:t>Returns a collection of PSObjects resulting in many unnecessary allocations</a:t>
            </a:r>
          </a:p>
          <a:p>
            <a:r>
              <a:rPr lang="en-US" dirty="0"/>
              <a:t>Recommended: use static methods for perf</a:t>
            </a:r>
          </a:p>
        </p:txBody>
      </p:sp>
    </p:spTree>
    <p:extLst>
      <p:ext uri="{BB962C8B-B14F-4D97-AF65-F5344CB8AC3E}">
        <p14:creationId xmlns:p14="http://schemas.microsoft.com/office/powerpoint/2010/main" val="232766486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7070B7-DA44-20F1-785A-475CE81356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0314"/>
            <a:ext cx="9733280" cy="1325563"/>
          </a:xfrm>
        </p:spPr>
        <p:txBody>
          <a:bodyPr>
            <a:normAutofit/>
          </a:bodyPr>
          <a:lstStyle/>
          <a:p>
            <a:r>
              <a:rPr lang="en-US" sz="4800" dirty="0"/>
              <a:t>A Last Tidbit: The </a:t>
            </a:r>
            <a:r>
              <a:rPr lang="en-US" sz="4800" dirty="0" err="1"/>
              <a:t>Minishell</a:t>
            </a:r>
            <a:r>
              <a:rPr lang="en-US" sz="4800" dirty="0"/>
              <a:t> Debacle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BA8AC8-F52F-34BB-F0DE-4E3DE8D4CC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1771"/>
            <a:ext cx="10515600" cy="4785192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During Longhorn/Vista, Windows Management said “No Extensibility, No Plugins” due to concerns about reliability and versioning.</a:t>
            </a:r>
          </a:p>
          <a:p>
            <a:r>
              <a:rPr lang="en-US" dirty="0"/>
              <a:t>We were going to have </a:t>
            </a:r>
            <a:r>
              <a:rPr lang="en-US" dirty="0" err="1"/>
              <a:t>MiniShells</a:t>
            </a:r>
            <a:r>
              <a:rPr lang="en-US" dirty="0"/>
              <a:t>, each linked with a different set of functionality which would have been a quoting nightmare.</a:t>
            </a:r>
          </a:p>
          <a:p>
            <a:pPr lvl="1"/>
            <a:r>
              <a:rPr lang="en-US" dirty="0" err="1"/>
              <a:t>powershell</a:t>
            </a:r>
            <a:r>
              <a:rPr lang="en-US" dirty="0"/>
              <a:t> { … }</a:t>
            </a:r>
          </a:p>
          <a:p>
            <a:pPr lvl="1"/>
            <a:r>
              <a:rPr lang="en-US" dirty="0" err="1"/>
              <a:t>powershell</a:t>
            </a:r>
            <a:r>
              <a:rPr lang="en-US" dirty="0"/>
              <a:t> –</a:t>
            </a:r>
            <a:r>
              <a:rPr lang="en-US" dirty="0" err="1"/>
              <a:t>EncodedCommand</a:t>
            </a:r>
            <a:r>
              <a:rPr lang="en-US" dirty="0"/>
              <a:t>  XXXXXXXXX</a:t>
            </a:r>
          </a:p>
          <a:p>
            <a:r>
              <a:rPr lang="en-US" dirty="0"/>
              <a:t>The idea sort of evolved into the Windows Compatibility module.</a:t>
            </a:r>
          </a:p>
          <a:p>
            <a:r>
              <a:rPr lang="en-US" dirty="0"/>
              <a:t>Fortunately cooler heads prevailed and we have a </a:t>
            </a:r>
            <a:r>
              <a:rPr lang="en-US" i="1" dirty="0" err="1"/>
              <a:t>SingleShell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6566415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49EE56-BFD7-643E-58AE-8DA4F2526E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800" dirty="0"/>
              <a:t>Conclusions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F9BF18-F830-E004-B22E-C3B4231485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Overall rating 3.6/5</a:t>
            </a:r>
          </a:p>
          <a:p>
            <a:r>
              <a:rPr lang="en-US" dirty="0"/>
              <a:t>There are some rough areas but for the most part I think we did ok.</a:t>
            </a:r>
          </a:p>
          <a:p>
            <a:r>
              <a:rPr lang="en-US" dirty="0"/>
              <a:t>How would you rate things?</a:t>
            </a:r>
          </a:p>
        </p:txBody>
      </p:sp>
    </p:spTree>
    <p:extLst>
      <p:ext uri="{BB962C8B-B14F-4D97-AF65-F5344CB8AC3E}">
        <p14:creationId xmlns:p14="http://schemas.microsoft.com/office/powerpoint/2010/main" val="131225638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3">
            <a:extLst>
              <a:ext uri="{FF2B5EF4-FFF2-40B4-BE49-F238E27FC236}">
                <a16:creationId xmlns:a16="http://schemas.microsoft.com/office/drawing/2014/main" id="{063F7B61-5334-421F-9456-A905D333F4B3}"/>
              </a:ext>
            </a:extLst>
          </p:cNvPr>
          <p:cNvSpPr txBox="1">
            <a:spLocks/>
          </p:cNvSpPr>
          <p:nvPr/>
        </p:nvSpPr>
        <p:spPr>
          <a:xfrm>
            <a:off x="831850" y="529389"/>
            <a:ext cx="10515600" cy="100463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b="1" kern="1200">
                <a:solidFill>
                  <a:srgbClr val="3B2B46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sz="4800" dirty="0"/>
              <a:t>Q&amp;A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E7911686-C4FE-022C-2490-99F4F5BFDF39}"/>
              </a:ext>
            </a:extLst>
          </p:cNvPr>
          <p:cNvSpPr txBox="1">
            <a:spLocks/>
          </p:cNvSpPr>
          <p:nvPr/>
        </p:nvSpPr>
        <p:spPr>
          <a:xfrm>
            <a:off x="831850" y="1653758"/>
            <a:ext cx="10515600" cy="15001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/>
              <a:t>15 minutes</a:t>
            </a:r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04697E65-3DA9-6EF3-472C-734FB98C38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1477" y="1770873"/>
            <a:ext cx="6729046" cy="359174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43484282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FC2B4B-CF61-3DC5-6221-F5F99F86F6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3">
            <a:extLst>
              <a:ext uri="{FF2B5EF4-FFF2-40B4-BE49-F238E27FC236}">
                <a16:creationId xmlns:a16="http://schemas.microsoft.com/office/drawing/2014/main" id="{0AFF23A2-578F-B7AD-CC96-F1E75AA0FD82}"/>
              </a:ext>
            </a:extLst>
          </p:cNvPr>
          <p:cNvSpPr txBox="1">
            <a:spLocks/>
          </p:cNvSpPr>
          <p:nvPr/>
        </p:nvSpPr>
        <p:spPr>
          <a:xfrm>
            <a:off x="831850" y="529389"/>
            <a:ext cx="10515600" cy="100463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b="1" kern="1200">
                <a:solidFill>
                  <a:srgbClr val="3B2B46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sz="4800" dirty="0"/>
              <a:t>GIVE ME FEEDBACK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98D9FEC-D0B6-03AA-2C12-1CA5AE4EB596}"/>
              </a:ext>
            </a:extLst>
          </p:cNvPr>
          <p:cNvSpPr/>
          <p:nvPr/>
        </p:nvSpPr>
        <p:spPr>
          <a:xfrm>
            <a:off x="3831771" y="2046514"/>
            <a:ext cx="3868058" cy="3868058"/>
          </a:xfrm>
          <a:prstGeom prst="rect">
            <a:avLst/>
          </a:prstGeom>
          <a:noFill/>
          <a:ln w="38100">
            <a:solidFill>
              <a:srgbClr val="3B2A47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n>
                <a:noFill/>
                <a:prstDash val="dash"/>
              </a:ln>
            </a:endParaRP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2CD424B4-E900-F6B6-EAA3-A874A8F70DAC}"/>
              </a:ext>
            </a:extLst>
          </p:cNvPr>
          <p:cNvSpPr txBox="1"/>
          <p:nvPr/>
        </p:nvSpPr>
        <p:spPr>
          <a:xfrm>
            <a:off x="4049486" y="3380378"/>
            <a:ext cx="346165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b="1" dirty="0">
                <a:latin typeface="Acumin Pro Black" panose="020B0904020202020204" pitchFamily="34" charset="0"/>
              </a:rPr>
              <a:t>INSERT YOUR SESSION QRCODE HERE</a:t>
            </a:r>
          </a:p>
        </p:txBody>
      </p:sp>
      <p:pic>
        <p:nvPicPr>
          <p:cNvPr id="2" name="Graphique 5">
            <a:extLst>
              <a:ext uri="{FF2B5EF4-FFF2-40B4-BE49-F238E27FC236}">
                <a16:creationId xmlns:a16="http://schemas.microsoft.com/office/drawing/2014/main" id="{8C7569A3-761E-DEAA-1C30-F448FEB741F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963433" y="1514958"/>
            <a:ext cx="1679652" cy="1865420"/>
          </a:xfrm>
          <a:prstGeom prst="rect">
            <a:avLst/>
          </a:prstGeom>
        </p:spPr>
      </p:pic>
      <p:pic>
        <p:nvPicPr>
          <p:cNvPr id="10" name="Picture 9" descr="The image depicts a QR code with a star symbol, symbolizing a QR code for a PowerShell design.&#10;&#10;AI-generated content may be incorrect.">
            <a:extLst>
              <a:ext uri="{FF2B5EF4-FFF2-40B4-BE49-F238E27FC236}">
                <a16:creationId xmlns:a16="http://schemas.microsoft.com/office/drawing/2014/main" id="{8FF9D350-C02B-4D72-F486-1971660042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1781" y="1514958"/>
            <a:ext cx="4635738" cy="4616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3274605"/>
      </p:ext>
    </p:extLst>
  </p:cSld>
  <p:clrMapOvr>
    <a:masterClrMapping/>
  </p:clrMapOvr>
</p:sld>
</file>

<file path=ppt/theme/theme1.xml><?xml version="1.0" encoding="utf-8"?>
<a:theme xmlns:a="http://schemas.openxmlformats.org/drawingml/2006/main" name="Titl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Blank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Speaker's slid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Content">
  <a:themeElements>
    <a:clrScheme name="PSConfEU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326198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0563C1"/>
      </a:folHlink>
    </a:clrScheme>
    <a:fontScheme name="PSConfEU2022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33502FDC476714EB47BD1BE2BFD7B3D" ma:contentTypeVersion="13" ma:contentTypeDescription="Create a new document." ma:contentTypeScope="" ma:versionID="0d4fb5ca5076182280cb93c7d6bdff79">
  <xsd:schema xmlns:xsd="http://www.w3.org/2001/XMLSchema" xmlns:xs="http://www.w3.org/2001/XMLSchema" xmlns:p="http://schemas.microsoft.com/office/2006/metadata/properties" xmlns:ns2="abdc9a1f-962e-4235-838d-61f9c438f4db" xmlns:ns3="de47e97d-64fd-4aef-b10e-fd7d6cfcfcf4" targetNamespace="http://schemas.microsoft.com/office/2006/metadata/properties" ma:root="true" ma:fieldsID="da14a0effa8c0f0120811d0692d695e7" ns2:_="" ns3:_="">
    <xsd:import namespace="abdc9a1f-962e-4235-838d-61f9c438f4db"/>
    <xsd:import namespace="de47e97d-64fd-4aef-b10e-fd7d6cfcfcf4"/>
    <xsd:element name="properties">
      <xsd:complexType>
        <xsd:sequence>
          <xsd:element name="documentManagement">
            <xsd:complexType>
              <xsd:all>
                <xsd:element ref="ns2:lcf76f155ced4ddcb4097134ff3c332f" minOccurs="0"/>
                <xsd:element ref="ns3:TaxCatchAll" minOccurs="0"/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ObjectDetectorVersion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bdc9a1f-962e-4235-838d-61f9c438f4db" elementFormDefault="qualified">
    <xsd:import namespace="http://schemas.microsoft.com/office/2006/documentManagement/types"/>
    <xsd:import namespace="http://schemas.microsoft.com/office/infopath/2007/PartnerControls"/>
    <xsd:element name="lcf76f155ced4ddcb4097134ff3c332f" ma:index="9" nillable="true" ma:taxonomy="true" ma:internalName="lcf76f155ced4ddcb4097134ff3c332f" ma:taxonomyFieldName="MediaServiceImageTags" ma:displayName="Image Tags" ma:readOnly="false" ma:fieldId="{5cf76f15-5ced-4ddc-b409-7134ff3c332f}" ma:taxonomyMulti="true" ma:sspId="bd613703-4b30-4a23-b3bf-9e58a81c4af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bjectDetectorVersions" ma:index="15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MediaServiceLocation" ma:index="20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e47e97d-64fd-4aef-b10e-fd7d6cfcfcf4" elementFormDefault="qualified">
    <xsd:import namespace="http://schemas.microsoft.com/office/2006/documentManagement/types"/>
    <xsd:import namespace="http://schemas.microsoft.com/office/infopath/2007/PartnerControls"/>
    <xsd:element name="TaxCatchAll" ma:index="10" nillable="true" ma:displayName="Taxonomy Catch All Column" ma:hidden="true" ma:list="{2f96598e-1e7b-44ab-a102-458ae76ccdba}" ma:internalName="TaxCatchAll" ma:showField="CatchAllData" ma:web="de47e97d-64fd-4aef-b10e-fd7d6cfcfcf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abdc9a1f-962e-4235-838d-61f9c438f4db">
      <Terms xmlns="http://schemas.microsoft.com/office/infopath/2007/PartnerControls"/>
    </lcf76f155ced4ddcb4097134ff3c332f>
    <TaxCatchAll xmlns="de47e97d-64fd-4aef-b10e-fd7d6cfcfcf4" xsi:nil="true"/>
  </documentManagement>
</p:properties>
</file>

<file path=customXml/itemProps1.xml><?xml version="1.0" encoding="utf-8"?>
<ds:datastoreItem xmlns:ds="http://schemas.openxmlformats.org/officeDocument/2006/customXml" ds:itemID="{2C38D965-436F-4DCC-97AA-50BEF4F7BE29}">
  <ds:schemaRefs>
    <ds:schemaRef ds:uri="abdc9a1f-962e-4235-838d-61f9c438f4db"/>
    <ds:schemaRef ds:uri="de47e97d-64fd-4aef-b10e-fd7d6cfcfcf4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57D9B22B-F436-4FE5-B6C0-65AB2260F59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A9C06E3-346E-408E-B352-32E922A070CE}">
  <ds:schemaRefs>
    <ds:schemaRef ds:uri="2347cc20-e10c-452d-848a-c18e83138525"/>
    <ds:schemaRef ds:uri="58c243a5-121d-4837-b81c-114e1b569ece"/>
    <ds:schemaRef ds:uri="77f18391-c91f-4725-9130-63caf76c1806"/>
    <ds:schemaRef ds:uri="85c0ce47-fe9c-4809-bf88-519c39a738e6"/>
    <ds:schemaRef ds:uri="abdc9a1f-962e-4235-838d-61f9c438f4db"/>
    <ds:schemaRef ds:uri="de47e97d-64fd-4aef-b10e-fd7d6cfcfcf4"/>
    <ds:schemaRef ds:uri="http://schemas.microsoft.com/office/2006/metadata/properties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10081</TotalTime>
  <Words>1437</Words>
  <Application>Microsoft Office PowerPoint</Application>
  <PresentationFormat>Widescreen</PresentationFormat>
  <Paragraphs>165</Paragraphs>
  <Slides>24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24</vt:i4>
      </vt:variant>
    </vt:vector>
  </HeadingPairs>
  <TitlesOfParts>
    <vt:vector size="36" baseType="lpstr">
      <vt:lpstr>Acumin Pro Black</vt:lpstr>
      <vt:lpstr>Arial</vt:lpstr>
      <vt:lpstr>Calibri</vt:lpstr>
      <vt:lpstr>Cascadia Code</vt:lpstr>
      <vt:lpstr>Segoe UI</vt:lpstr>
      <vt:lpstr>Segoe UI Light</vt:lpstr>
      <vt:lpstr>Stencil</vt:lpstr>
      <vt:lpstr>Wingdings</vt:lpstr>
      <vt:lpstr>Title</vt:lpstr>
      <vt:lpstr>Blank</vt:lpstr>
      <vt:lpstr>Speaker's slide</vt:lpstr>
      <vt:lpstr>Content</vt:lpstr>
      <vt:lpstr>Next Up:</vt:lpstr>
      <vt:lpstr>3</vt:lpstr>
      <vt:lpstr>2</vt:lpstr>
      <vt:lpstr>1</vt:lpstr>
      <vt:lpstr>Designing PowerShell</vt:lpstr>
      <vt:lpstr>Many thanks to our sponsors:</vt:lpstr>
      <vt:lpstr>Bruce Payette</vt:lpstr>
      <vt:lpstr>Agenda</vt:lpstr>
      <vt:lpstr>High-level PowerShell Design Goals</vt:lpstr>
      <vt:lpstr>In the Beginning</vt:lpstr>
      <vt:lpstr>In the Beginning (cont’d)</vt:lpstr>
      <vt:lpstr>Sessions and Remoting (Rating 4.5/5)</vt:lpstr>
      <vt:lpstr>Parameter Binding (Rating 4/5)</vt:lpstr>
      <vt:lpstr>Pipelining (Rating 3.5/5)</vt:lpstr>
      <vt:lpstr>Streaming and Cardinality (Rating 3/5)</vt:lpstr>
      <vt:lpstr>Language Syntax &amp; Quoting (4.8/5)</vt:lpstr>
      <vt:lpstr>Variables and Scoping (4/5)</vt:lpstr>
      <vt:lpstr>Types and Conversions (Rating 4.5/5)</vt:lpstr>
      <vt:lpstr>Errors &amp; Error Handling (Rating 3/5)</vt:lpstr>
      <vt:lpstr>Performance (1/5)</vt:lpstr>
      <vt:lpstr>A Last Tidbit: The Minishell Debacle</vt:lpstr>
      <vt:lpstr>Conclusions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Bruce Payette</cp:lastModifiedBy>
  <cp:revision>247</cp:revision>
  <dcterms:created xsi:type="dcterms:W3CDTF">2024-03-26T13:08:23Z</dcterms:created>
  <dcterms:modified xsi:type="dcterms:W3CDTF">2026-05-30T13:38:35Z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0x010100333502FDC476714EB47BD1BE2BFD7B3D</vt:lpwstr>
  </property>
  <property fmtid="{D5CDD505-2E9C-101B-9397-08002B2CF9AE}" pid="3" name="MediaServiceImageTags">
    <vt:lpwstr/>
  </property>
</Properties>
</file>