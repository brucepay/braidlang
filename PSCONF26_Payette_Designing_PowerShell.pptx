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33"/>
  </p:notesMasterIdLst>
  <p:handoutMasterIdLst>
    <p:handoutMasterId r:id="rId34"/>
  </p:handoutMasterIdLst>
  <p:sldIdLst>
    <p:sldId id="272" r:id="rId8"/>
    <p:sldId id="259" r:id="rId9"/>
    <p:sldId id="269" r:id="rId10"/>
    <p:sldId id="270" r:id="rId11"/>
    <p:sldId id="273" r:id="rId12"/>
    <p:sldId id="291" r:id="rId13"/>
    <p:sldId id="267" r:id="rId14"/>
    <p:sldId id="289" r:id="rId15"/>
    <p:sldId id="286" r:id="rId16"/>
    <p:sldId id="275" r:id="rId17"/>
    <p:sldId id="287" r:id="rId18"/>
    <p:sldId id="288" r:id="rId19"/>
    <p:sldId id="278" r:id="rId20"/>
    <p:sldId id="276" r:id="rId21"/>
    <p:sldId id="279" r:id="rId22"/>
    <p:sldId id="280" r:id="rId23"/>
    <p:sldId id="284" r:id="rId24"/>
    <p:sldId id="282" r:id="rId25"/>
    <p:sldId id="281" r:id="rId26"/>
    <p:sldId id="285" r:id="rId27"/>
    <p:sldId id="290" r:id="rId28"/>
    <p:sldId id="277" r:id="rId29"/>
    <p:sldId id="283" r:id="rId30"/>
    <p:sldId id="265" r:id="rId31"/>
    <p:sldId id="27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91"/>
            <p14:sldId id="267"/>
            <p14:sldId id="289"/>
            <p14:sldId id="286"/>
            <p14:sldId id="275"/>
            <p14:sldId id="287"/>
            <p14:sldId id="288"/>
            <p14:sldId id="278"/>
            <p14:sldId id="276"/>
            <p14:sldId id="279"/>
            <p14:sldId id="280"/>
            <p14:sldId id="284"/>
            <p14:sldId id="282"/>
            <p14:sldId id="281"/>
            <p14:sldId id="285"/>
            <p14:sldId id="290"/>
            <p14:sldId id="277"/>
            <p14:sldId id="283"/>
            <p14:sldId id="26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4ED"/>
    <a:srgbClr val="3B2A47"/>
    <a:srgbClr val="3B2B46"/>
    <a:srgbClr val="346297"/>
    <a:srgbClr val="000000"/>
    <a:srgbClr val="FFFFFF"/>
    <a:srgbClr val="346296"/>
    <a:srgbClr val="E64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9DF284-ECBD-EE42-323A-0CB3009BCB25}" v="1" dt="2026-03-15T16:37:1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7" d="100"/>
          <a:sy n="97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microsoft.com/office/2016/11/relationships/changesInfo" Target="changesInfos/changesInfo1.xml"/><Relationship Id="rId21" Type="http://schemas.openxmlformats.org/officeDocument/2006/relationships/slide" Target="slides/slide14.xml"/><Relationship Id="rId34" Type="http://schemas.openxmlformats.org/officeDocument/2006/relationships/handoutMaster" Target="handoutMasters/handoutMaster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presProps" Target="pres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fc23928-bba0-4562-a674-cd833cae88c5::" providerId="AD" clId="Web-{AE9DF284-ECBD-EE42-323A-0CB3009BCB25}"/>
    <pc:docChg chg="sldOrd">
      <pc:chgData name="Guest User" userId="S::urn:spo:tenantanon#3fc23928-bba0-4562-a674-cd833cae88c5::" providerId="AD" clId="Web-{AE9DF284-ECBD-EE42-323A-0CB3009BCB25}" dt="2026-03-15T16:37:15.482" v="0"/>
      <pc:docMkLst>
        <pc:docMk/>
      </pc:docMkLst>
      <pc:sldChg chg="ord">
        <pc:chgData name="Guest User" userId="S::urn:spo:tenantanon#3fc23928-bba0-4562-a674-cd833cae88c5::" providerId="AD" clId="Web-{AE9DF284-ECBD-EE42-323A-0CB3009BCB25}" dt="2026-03-15T16:37:15.482" v="0"/>
        <pc:sldMkLst>
          <pc:docMk/>
          <pc:sldMk cId="3315886587" sldId="272"/>
        </pc:sldMkLst>
      </pc:sldChg>
    </pc:docChg>
  </pc:docChgLst>
  <pc:docChgLst>
    <pc:chgData name="Thorsten Butz" userId="995738bf-6772-44af-a78c-76b53e4bf37d" providerId="ADAL" clId="{47724D17-2FBF-476D-95A4-639784F55674}"/>
    <pc:docChg chg="undo custSel mod modSld">
      <pc:chgData name="Thorsten Butz" userId="995738bf-6772-44af-a78c-76b53e4bf37d" providerId="ADAL" clId="{47724D17-2FBF-476D-95A4-639784F55674}" dt="2026-03-05T15:47:53.409" v="10" actId="692"/>
      <pc:docMkLst>
        <pc:docMk/>
      </pc:docMkLst>
      <pc:sldChg chg="addSp delSp modSp mod">
        <pc:chgData name="Thorsten Butz" userId="995738bf-6772-44af-a78c-76b53e4bf37d" providerId="ADAL" clId="{47724D17-2FBF-476D-95A4-639784F55674}" dt="2026-03-05T15:47:53.409" v="10" actId="692"/>
        <pc:sldMkLst>
          <pc:docMk/>
          <pc:sldMk cId="3984835757" sldId="261"/>
        </pc:sldMkLst>
        <pc:picChg chg="mod">
          <ac:chgData name="Thorsten Butz" userId="995738bf-6772-44af-a78c-76b53e4bf37d" providerId="ADAL" clId="{47724D17-2FBF-476D-95A4-639784F55674}" dt="2026-03-05T15:47:53.409" v="10" actId="692"/>
          <ac:picMkLst>
            <pc:docMk/>
            <pc:sldMk cId="3984835757" sldId="261"/>
            <ac:picMk id="8" creationId="{C4BDF3A9-64A1-2EA9-AABD-6B9AFBACBB04}"/>
          </ac:picMkLst>
        </pc:picChg>
      </pc:sldChg>
    </pc:docChg>
  </pc:docChgLst>
  <pc:docChgLst>
    <pc:chgData name="Geoffroy Dubreuil" userId="36186b9b-dc71-47e0-bff2-bd95e619117d" providerId="ADAL" clId="{77CD6894-02A7-403D-85B8-E33CDE72DEFB}"/>
    <pc:docChg chg="custSel modSld">
      <pc:chgData name="Geoffroy Dubreuil" userId="36186b9b-dc71-47e0-bff2-bd95e619117d" providerId="ADAL" clId="{77CD6894-02A7-403D-85B8-E33CDE72DEFB}" dt="2026-03-06T12:20:58.394" v="42" actId="113"/>
      <pc:docMkLst>
        <pc:docMk/>
      </pc:docMkLst>
      <pc:sldChg chg="addSp modSp mod">
        <pc:chgData name="Geoffroy Dubreuil" userId="36186b9b-dc71-47e0-bff2-bd95e619117d" providerId="ADAL" clId="{77CD6894-02A7-403D-85B8-E33CDE72DEFB}" dt="2026-03-06T12:20:58.394" v="42" actId="113"/>
        <pc:sldMkLst>
          <pc:docMk/>
          <pc:sldMk cId="1101361508" sldId="260"/>
        </pc:sldMkLst>
        <pc:spChg chg="add mod">
          <ac:chgData name="Geoffroy Dubreuil" userId="36186b9b-dc71-47e0-bff2-bd95e619117d" providerId="ADAL" clId="{77CD6894-02A7-403D-85B8-E33CDE72DEFB}" dt="2026-03-06T12:20:58.394" v="42" actId="113"/>
          <ac:spMkLst>
            <pc:docMk/>
            <pc:sldMk cId="1101361508" sldId="260"/>
            <ac:spMk id="4" creationId="{0EB8D984-3C84-80FA-2E8F-3981EC58C35C}"/>
          </ac:spMkLst>
        </pc:spChg>
      </pc:sldChg>
      <pc:sldChg chg="modSp mod">
        <pc:chgData name="Geoffroy Dubreuil" userId="36186b9b-dc71-47e0-bff2-bd95e619117d" providerId="ADAL" clId="{77CD6894-02A7-403D-85B8-E33CDE72DEFB}" dt="2026-03-05T15:46:09.927" v="29" actId="6549"/>
        <pc:sldMkLst>
          <pc:docMk/>
          <pc:sldMk cId="2831095747" sldId="271"/>
        </pc:sldMkLst>
        <pc:spChg chg="mod">
          <ac:chgData name="Geoffroy Dubreuil" userId="36186b9b-dc71-47e0-bff2-bd95e619117d" providerId="ADAL" clId="{77CD6894-02A7-403D-85B8-E33CDE72DEFB}" dt="2026-03-05T15:44:38.088" v="20" actId="255"/>
          <ac:spMkLst>
            <pc:docMk/>
            <pc:sldMk cId="2831095747" sldId="271"/>
            <ac:spMk id="2" creationId="{A196BBFD-A430-8F6F-DBB7-52C55DB3DA2F}"/>
          </ac:spMkLst>
        </pc:spChg>
        <pc:spChg chg="mod">
          <ac:chgData name="Geoffroy Dubreuil" userId="36186b9b-dc71-47e0-bff2-bd95e619117d" providerId="ADAL" clId="{77CD6894-02A7-403D-85B8-E33CDE72DEFB}" dt="2026-03-05T15:46:09.927" v="29" actId="6549"/>
          <ac:spMkLst>
            <pc:docMk/>
            <pc:sldMk cId="2831095747" sldId="271"/>
            <ac:spMk id="3" creationId="{A13D084F-E8FE-14E3-7A60-1AB8B95A44C2}"/>
          </ac:spMkLst>
        </pc:spChg>
      </pc:sldChg>
      <pc:sldChg chg="addSp modSp mod">
        <pc:chgData name="Geoffroy Dubreuil" userId="36186b9b-dc71-47e0-bff2-bd95e619117d" providerId="ADAL" clId="{77CD6894-02A7-403D-85B8-E33CDE72DEFB}" dt="2026-03-06T08:17:18.852" v="31" actId="1076"/>
        <pc:sldMkLst>
          <pc:docMk/>
          <pc:sldMk cId="923274605" sldId="274"/>
        </pc:sldMkLst>
        <pc:picChg chg="add mod">
          <ac:chgData name="Geoffroy Dubreuil" userId="36186b9b-dc71-47e0-bff2-bd95e619117d" providerId="ADAL" clId="{77CD6894-02A7-403D-85B8-E33CDE72DEFB}" dt="2026-03-06T08:17:18.852" v="31" actId="1076"/>
          <ac:picMkLst>
            <pc:docMk/>
            <pc:sldMk cId="923274605" sldId="274"/>
            <ac:picMk id="2" creationId="{8C7569A3-761E-DEAA-1C30-F448FEB741F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01/06/2026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AA65B-0377-68EB-BAF7-291EAB6D4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2284DE5-11FD-4C30-923B-0A9A930DE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7C45CDE-C7FC-A49B-2AC1-B95A95E2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A6E093-3BD0-7AAF-8444-38477BABB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392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314E4-A97F-BC4A-2EB0-6D254E19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C22F2DE-B0F7-3A81-80A8-633FA5DE0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B7A8D9-E5D3-E06C-BB9D-378C7F201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8EE177-09DD-4E2C-E54A-2AD4A7C36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3416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308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7.sv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8" name="Image 7" descr="Une image contenant Police, Graphique, typographie, graphisme&#10;&#10;Le contenu généré par l’IA peut être incorrect.">
            <a:extLst>
              <a:ext uri="{FF2B5EF4-FFF2-40B4-BE49-F238E27FC236}">
                <a16:creationId xmlns:a16="http://schemas.microsoft.com/office/drawing/2014/main" id="{B287398A-20D9-4E87-9997-CB57AB2CCEE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074646"/>
            <a:ext cx="2471121" cy="37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FC40251A-A850-BFFB-8B10-8DF9490B82FC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4BA6D3-5703-2B33-8381-A6B521E4EF59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5940FBC8-A0C6-2B5F-1902-D32A817C99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  <a:p>
            <a:endParaRPr lang="en-GB" b="1" dirty="0">
              <a:solidFill>
                <a:srgbClr val="3B2B46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12" name="Image 11" descr="Une image contenant Police, Graphique, capture d’écran, graphisme&#10;&#10;Le contenu généré par l’IA peut être incorrect.">
            <a:extLst>
              <a:ext uri="{FF2B5EF4-FFF2-40B4-BE49-F238E27FC236}">
                <a16:creationId xmlns:a16="http://schemas.microsoft.com/office/drawing/2014/main" id="{9DA822DC-EA6F-C834-636F-0CFA0983C12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37684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E16A90F8-D789-E1FC-28F1-B2BFBC4CC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662" y="6335963"/>
            <a:ext cx="365125" cy="36512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26EC41D-2CB6-0B12-C26A-46F016046178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14057C36-7CA7-EB30-FD33-9F60CDAC50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Segoe UI" panose="020B0502040204020203" pitchFamily="34" charset="0"/>
                <a:cs typeface="Segoe UI" panose="020B0502040204020203" pitchFamily="34" charset="0"/>
              </a:rPr>
              <a:t>Bruce Payette</a:t>
            </a:r>
            <a:endParaRPr lang="en-GB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DE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</a:t>
            </a:r>
            <a:r>
              <a:rPr lang="en-US" sz="6000" b="1" err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ext</a:t>
            </a:r>
            <a:r>
              <a:rPr lang="en-US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Up:</a:t>
            </a:r>
            <a:endParaRPr lang="en-DE" sz="6000" b="1">
              <a:solidFill>
                <a:srgbClr val="346296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3</a:t>
            </a:r>
            <a:endParaRPr lang="en-GB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latin typeface="Stencil" panose="040409050D0802020404" pitchFamily="82" charset="0"/>
              </a:rPr>
              <a:t>1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i="1" dirty="0"/>
              <a:t>Bruce Payette</a:t>
            </a:r>
            <a:endParaRPr lang="en-GB" b="1" i="1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dirty="0">
                <a:solidFill>
                  <a:srgbClr val="346296"/>
                </a:solidFill>
                <a:latin typeface="+mn-lt"/>
              </a:rPr>
              <a:t>Designing PowerShell</a:t>
            </a:r>
            <a:endParaRPr lang="en-DE" sz="6000" b="1" dirty="0">
              <a:solidFill>
                <a:srgbClr val="346296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6">
            <a:extLst>
              <a:ext uri="{FF2B5EF4-FFF2-40B4-BE49-F238E27FC236}">
                <a16:creationId xmlns:a16="http://schemas.microsoft.com/office/drawing/2014/main" id="{56B20C8F-B2CB-B1F9-8E7F-3897FE369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0963" y="2327350"/>
            <a:ext cx="8666977" cy="2650633"/>
          </a:xfrm>
          <a:prstGeom prst="rect">
            <a:avLst/>
          </a:prstGeom>
        </p:spPr>
      </p:pic>
      <p:sp>
        <p:nvSpPr>
          <p:cNvPr id="3" name="Titel 3">
            <a:extLst>
              <a:ext uri="{FF2B5EF4-FFF2-40B4-BE49-F238E27FC236}">
                <a16:creationId xmlns:a16="http://schemas.microsoft.com/office/drawing/2014/main" id="{E8D5F61D-8E53-AAB9-82E3-4B5C178B574B}"/>
              </a:ext>
            </a:extLst>
          </p:cNvPr>
          <p:cNvSpPr txBox="1">
            <a:spLocks/>
          </p:cNvSpPr>
          <p:nvPr/>
        </p:nvSpPr>
        <p:spPr>
          <a:xfrm>
            <a:off x="1101159" y="630961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Many </a:t>
            </a:r>
            <a:r>
              <a:rPr lang="fr-FR" sz="4000" dirty="0" err="1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thanks</a:t>
            </a:r>
            <a:r>
              <a:rPr lang="fr-FR" sz="4000" dirty="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 to </a:t>
            </a:r>
            <a:r>
              <a:rPr lang="fr-FR" sz="4000" dirty="0" err="1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our</a:t>
            </a:r>
            <a:r>
              <a:rPr lang="fr-FR" sz="4000" dirty="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 sponsors:</a:t>
            </a:r>
            <a:endParaRPr lang="en-DE" dirty="0">
              <a:solidFill>
                <a:srgbClr val="3B2A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7779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Founding member of the PowerShell team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Technical lead on the PowerShell language design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original PowerShell DSC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Braid language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Very </a:t>
            </a:r>
            <a:r>
              <a:rPr lang="en-US"/>
              <a:t>interested in </a:t>
            </a:r>
            <a:r>
              <a:rPr lang="en-US" dirty="0"/>
              <a:t>interactive programming languages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3B2A47"/>
                </a:solidFill>
                <a:latin typeface="+mn-lt"/>
                <a:ea typeface="+mn-ea"/>
                <a:cs typeface="+mn-cs"/>
              </a:rPr>
              <a:t>Bruce Payette</a:t>
            </a:r>
            <a:endParaRPr lang="en-DE" sz="6600" dirty="0">
              <a:solidFill>
                <a:srgbClr val="3B2A47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 descr="SPEAKER&#10;&#10;AI-generated content may be incorrect.">
            <a:extLst>
              <a:ext uri="{FF2B5EF4-FFF2-40B4-BE49-F238E27FC236}">
                <a16:creationId xmlns:a16="http://schemas.microsoft.com/office/drawing/2014/main" id="{908D552E-B9EB-791D-371D-DACABBF8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1" y="565441"/>
            <a:ext cx="3123261" cy="31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04E7EC-47DA-9454-9DDA-852838306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754" y="1568383"/>
            <a:ext cx="7886486" cy="43241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Introduction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Some background on PowerShell</a:t>
            </a:r>
          </a:p>
          <a:p>
            <a:r>
              <a:rPr lang="en-US" dirty="0"/>
              <a:t>Examining individual components and scenarios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Can’t possibly cover everything (20 years!!!)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Mostly covering stuff I worked directly 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Rating the success of each aspect on a scale of 1-5.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 throwing rocks but maybe a few pebbles?</a:t>
            </a:r>
          </a:p>
          <a:p>
            <a:r>
              <a:rPr lang="en-US" dirty="0"/>
              <a:t>Conclusions</a:t>
            </a:r>
          </a:p>
          <a:p>
            <a:r>
              <a:rPr lang="en-US" dirty="0"/>
              <a:t>Q &amp; A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5BA9BE-F967-098F-096C-34609AC32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580" y="302735"/>
            <a:ext cx="7886485" cy="1325563"/>
          </a:xfrm>
        </p:spPr>
        <p:txBody>
          <a:bodyPr>
            <a:normAutofit/>
          </a:bodyPr>
          <a:lstStyle/>
          <a:p>
            <a:r>
              <a:rPr lang="en-US" sz="4800" dirty="0">
                <a:latin typeface="+mn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6920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504D3-B6B4-60DB-458A-6EEC7771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High-level PowerShell 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48AE9-FCF0-3092-7025-A3C95ECE0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72" y="1157287"/>
            <a:ext cx="10532533" cy="5474547"/>
          </a:xfrm>
        </p:spPr>
        <p:txBody>
          <a:bodyPr>
            <a:normAutofit/>
          </a:bodyPr>
          <a:lstStyle/>
          <a:p>
            <a:r>
              <a:rPr lang="en-US" sz="2400" dirty="0"/>
              <a:t>Users are most important than conserving resources. This includes performance. </a:t>
            </a:r>
          </a:p>
          <a:p>
            <a:pPr lvl="1"/>
            <a:r>
              <a:rPr lang="en-US" sz="2400" dirty="0"/>
              <a:t>When scripting, common scenarios should be super easy, less common scenarios should be possible.</a:t>
            </a:r>
          </a:p>
          <a:p>
            <a:pPr lvl="1"/>
            <a:r>
              <a:rPr lang="en-US" sz="2400" dirty="0"/>
              <a:t>Simplify exposing OS functionality on the command line through cmdlets.</a:t>
            </a:r>
          </a:p>
          <a:p>
            <a:pPr lvl="1"/>
            <a:r>
              <a:rPr lang="en-US" sz="2400" dirty="0"/>
              <a:t>Radical support for copy and paste</a:t>
            </a:r>
          </a:p>
          <a:p>
            <a:r>
              <a:rPr lang="en-US" sz="2400" dirty="0"/>
              <a:t>Deep simplicity and deep consistency for a diverse audience</a:t>
            </a:r>
          </a:p>
          <a:p>
            <a:pPr lvl="1"/>
            <a:r>
              <a:rPr lang="en-US" sz="2400" dirty="0"/>
              <a:t>Consistent strong naming guidelines, especially for verbs, no plurals</a:t>
            </a:r>
          </a:p>
          <a:p>
            <a:pPr lvl="1"/>
            <a:r>
              <a:rPr lang="en-US" sz="2400" dirty="0"/>
              <a:t>Reflection, introspection and metadata</a:t>
            </a:r>
          </a:p>
          <a:p>
            <a:pPr lvl="1"/>
            <a:r>
              <a:rPr lang="en-US" sz="2400" dirty="0"/>
              <a:t>But beware of the “</a:t>
            </a:r>
            <a:r>
              <a:rPr lang="en-US" sz="2400" i="1" dirty="0"/>
              <a:t>foolish consistency”, </a:t>
            </a:r>
            <a:r>
              <a:rPr lang="en-US" sz="2400" dirty="0"/>
              <a:t>for example:</a:t>
            </a:r>
          </a:p>
          <a:p>
            <a:pPr lvl="2"/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ScriptBlock.InvokeReturnAsIs</a:t>
            </a:r>
            <a:r>
              <a:rPr lang="en-US" sz="1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 # </a:t>
            </a:r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spec’ed</a:t>
            </a:r>
            <a:r>
              <a:rPr lang="en-US" sz="1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as object, returns </a:t>
            </a:r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PSObject</a:t>
            </a:r>
            <a:endParaRPr lang="en-US" sz="2000" dirty="0">
              <a:solidFill>
                <a:schemeClr val="accent1"/>
              </a:solidFill>
            </a:endParaRPr>
          </a:p>
          <a:p>
            <a:pPr lvl="2"/>
            <a:r>
              <a:rPr lang="en-US" sz="2400" dirty="0">
                <a:solidFill>
                  <a:schemeClr val="accent1"/>
                </a:solidFill>
              </a:rPr>
              <a:t>The Registry provider (and providers in general to some extent.)</a:t>
            </a:r>
          </a:p>
          <a:p>
            <a:r>
              <a:rPr lang="en-US" sz="2400" dirty="0"/>
              <a:t>The sacred vow – “learn once, use forever”.</a:t>
            </a:r>
          </a:p>
          <a:p>
            <a:pPr lvl="1"/>
            <a:r>
              <a:rPr lang="en-US" sz="2400" dirty="0"/>
              <a:t>Makes backwards compatibility is super important. </a:t>
            </a:r>
          </a:p>
        </p:txBody>
      </p:sp>
    </p:spTree>
    <p:extLst>
      <p:ext uri="{BB962C8B-B14F-4D97-AF65-F5344CB8AC3E}">
        <p14:creationId xmlns:p14="http://schemas.microsoft.com/office/powerpoint/2010/main" val="2484647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C459-E31D-3344-22AA-EB6E4E1A6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204EE-5C86-D407-D0E1-5AF5A692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In the </a:t>
            </a:r>
            <a:r>
              <a:rPr lang="fr-FR" sz="4800" dirty="0" err="1"/>
              <a:t>Beginning</a:t>
            </a:r>
            <a:endParaRPr lang="en-GB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80AA82-3053-0A10-36D9-DB056125B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9347"/>
            <a:ext cx="10515600" cy="489277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Initial design: PowerShell was organized as a set of cooperating services, everything would be replaceable</a:t>
            </a:r>
          </a:p>
          <a:p>
            <a:pPr lvl="1"/>
            <a:r>
              <a:rPr lang="en-US" dirty="0"/>
              <a:t>Like microservices but all in process</a:t>
            </a:r>
          </a:p>
          <a:p>
            <a:pPr lvl="1"/>
            <a:r>
              <a:rPr lang="en-US" dirty="0"/>
              <a:t>But out-of-proc microservices would’ve been cool</a:t>
            </a:r>
          </a:p>
          <a:p>
            <a:r>
              <a:rPr lang="en-US" dirty="0"/>
              <a:t>Each service performed a service for the engine</a:t>
            </a:r>
          </a:p>
          <a:p>
            <a:pPr lvl="1"/>
            <a:r>
              <a:rPr lang="en-US" dirty="0"/>
              <a:t>SessionState service</a:t>
            </a:r>
          </a:p>
          <a:p>
            <a:pPr lvl="1"/>
            <a:r>
              <a:rPr lang="en-US" dirty="0"/>
              <a:t>Error handling service</a:t>
            </a:r>
          </a:p>
          <a:p>
            <a:pPr lvl="1"/>
            <a:r>
              <a:rPr lang="en-US" dirty="0"/>
              <a:t>Formatting &amp; Output service</a:t>
            </a:r>
          </a:p>
          <a:p>
            <a:pPr lvl="1"/>
            <a:r>
              <a:rPr lang="en-US" dirty="0"/>
              <a:t>Language service </a:t>
            </a:r>
          </a:p>
          <a:p>
            <a:pPr lvl="1"/>
            <a:r>
              <a:rPr lang="en-US" dirty="0"/>
              <a:t>Type service (*)</a:t>
            </a:r>
          </a:p>
          <a:p>
            <a:r>
              <a:rPr lang="en-US" dirty="0"/>
              <a:t>Everything is declarative Metadata driven (*)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E24F7C-1EBD-DC8F-F729-72F4B510FF03}"/>
              </a:ext>
            </a:extLst>
          </p:cNvPr>
          <p:cNvSpPr/>
          <p:nvPr/>
        </p:nvSpPr>
        <p:spPr>
          <a:xfrm>
            <a:off x="12098458" y="6506055"/>
            <a:ext cx="1869713" cy="228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844295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1ECFA-F0C1-71BA-B521-C31904DDB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784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In the Beginning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B733F-9BE0-4DC8-C017-3D96AE98B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9347"/>
            <a:ext cx="10515600" cy="467761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Under this </a:t>
            </a:r>
            <a:r>
              <a:rPr lang="en-US" dirty="0" err="1"/>
              <a:t>miniservices</a:t>
            </a:r>
            <a:r>
              <a:rPr lang="en-US" dirty="0"/>
              <a:t> model, the user would only need to instantiate and pass the required services through dependency injection</a:t>
            </a:r>
          </a:p>
          <a:p>
            <a:pPr lvl="1"/>
            <a:r>
              <a:rPr lang="en-US" dirty="0"/>
              <a:t>The only non-optional service was the pipeline processor</a:t>
            </a:r>
          </a:p>
          <a:p>
            <a:r>
              <a:rPr lang="en-US" dirty="0"/>
              <a:t>Composing all these services made it hard to work with</a:t>
            </a:r>
          </a:p>
          <a:p>
            <a:pPr lvl="1"/>
            <a:r>
              <a:rPr lang="en-US" dirty="0"/>
              <a:t>LEGO shell? Nah.</a:t>
            </a:r>
          </a:p>
          <a:p>
            <a:r>
              <a:rPr lang="en-US" dirty="0"/>
              <a:t>However, as the engine was developed, these services took a dependency on the language runtime (e.g. </a:t>
            </a:r>
            <a:r>
              <a:rPr lang="en-US" dirty="0" err="1"/>
              <a:t>ScriptBlocks</a:t>
            </a:r>
            <a:r>
              <a:rPr lang="en-US" dirty="0"/>
              <a:t> in Formatting/Output, Script Methods)</a:t>
            </a:r>
          </a:p>
          <a:p>
            <a:r>
              <a:rPr lang="en-US" dirty="0"/>
              <a:t>Ultimately we wrapped everything and called it a </a:t>
            </a:r>
            <a:r>
              <a:rPr lang="en-US" i="1" dirty="0" err="1"/>
              <a:t>RunSpace</a:t>
            </a:r>
            <a:endParaRPr lang="en-US" i="1" dirty="0"/>
          </a:p>
          <a:p>
            <a:pPr lvl="1"/>
            <a:r>
              <a:rPr lang="en-US" dirty="0"/>
              <a:t>PowerShell </a:t>
            </a:r>
            <a:r>
              <a:rPr lang="en-US" dirty="0" err="1"/>
              <a:t>RunSpace</a:t>
            </a:r>
            <a:r>
              <a:rPr lang="en-US" dirty="0"/>
              <a:t> == “A space to run PowerShell code”</a:t>
            </a:r>
          </a:p>
        </p:txBody>
      </p:sp>
    </p:spTree>
    <p:extLst>
      <p:ext uri="{BB962C8B-B14F-4D97-AF65-F5344CB8AC3E}">
        <p14:creationId xmlns:p14="http://schemas.microsoft.com/office/powerpoint/2010/main" val="961579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4E3BD-05C0-0B0B-E153-F335248E2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159" y="175472"/>
            <a:ext cx="10040321" cy="1325563"/>
          </a:xfrm>
        </p:spPr>
        <p:txBody>
          <a:bodyPr>
            <a:normAutofit/>
          </a:bodyPr>
          <a:lstStyle/>
          <a:p>
            <a:r>
              <a:rPr lang="en-US" sz="4800" dirty="0"/>
              <a:t>Sessions and Remoting (Rating 4.5/5)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D5FE7-E601-32FF-C8B9-A328E5D75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8494"/>
            <a:ext cx="10515600" cy="5197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big feature of PowerShell 2 was remoting</a:t>
            </a:r>
          </a:p>
          <a:p>
            <a:pPr lvl="1"/>
            <a:r>
              <a:rPr lang="en-US" dirty="0"/>
              <a:t>Metadata-driven serialization</a:t>
            </a:r>
          </a:p>
          <a:p>
            <a:r>
              <a:rPr lang="en-US" dirty="0"/>
              <a:t>Initially, users would connect to a remote Runspace</a:t>
            </a:r>
          </a:p>
          <a:p>
            <a:r>
              <a:rPr lang="en-US" dirty="0"/>
              <a:t>BUT when the usability folks tested this, they found that users thought “Runspace” was confusing and preferred “Session” which was already a familiar term.</a:t>
            </a:r>
          </a:p>
          <a:p>
            <a:r>
              <a:rPr lang="en-US" dirty="0"/>
              <a:t>What to do?</a:t>
            </a:r>
          </a:p>
          <a:p>
            <a:pPr lvl="1"/>
            <a:r>
              <a:rPr lang="en-US" dirty="0"/>
              <a:t>The ideal(?) fix would’ve been to change Runspace to Session</a:t>
            </a:r>
          </a:p>
          <a:p>
            <a:pPr lvl="1"/>
            <a:r>
              <a:rPr lang="en-US" dirty="0"/>
              <a:t>Unfortunately, since V1 had already shipped, doing this would have been a massive breaking change</a:t>
            </a:r>
          </a:p>
          <a:p>
            <a:pPr lvl="1"/>
            <a:r>
              <a:rPr lang="en-US" dirty="0"/>
              <a:t>As a result of this, a new class ‘Session’ was added</a:t>
            </a:r>
          </a:p>
          <a:p>
            <a:pPr lvl="1"/>
            <a:r>
              <a:rPr lang="en-US" dirty="0"/>
              <a:t>So</a:t>
            </a:r>
            <a:r>
              <a:rPr lang="en-US" i="1" dirty="0"/>
              <a:t> Session</a:t>
            </a:r>
            <a:r>
              <a:rPr lang="en-US" dirty="0"/>
              <a:t> wraps </a:t>
            </a:r>
            <a:r>
              <a:rPr lang="en-US" i="1" dirty="0"/>
              <a:t>Runspace</a:t>
            </a:r>
            <a:r>
              <a:rPr lang="en-US" dirty="0"/>
              <a:t> which wraps </a:t>
            </a:r>
            <a:r>
              <a:rPr lang="en-US" i="1" dirty="0"/>
              <a:t>Engine</a:t>
            </a:r>
            <a:r>
              <a:rPr lang="en-US" dirty="0"/>
              <a:t> which wraps </a:t>
            </a:r>
            <a:r>
              <a:rPr lang="en-US" i="1" dirty="0"/>
              <a:t>SessionState</a:t>
            </a:r>
            <a:r>
              <a:rPr lang="en-US" dirty="0"/>
              <a:t> and the </a:t>
            </a:r>
            <a:r>
              <a:rPr lang="en-US" i="1" dirty="0"/>
              <a:t>Language</a:t>
            </a:r>
            <a:r>
              <a:rPr lang="en-US" dirty="0"/>
              <a:t> runtime.</a:t>
            </a:r>
          </a:p>
        </p:txBody>
      </p:sp>
    </p:spTree>
    <p:extLst>
      <p:ext uri="{BB962C8B-B14F-4D97-AF65-F5344CB8AC3E}">
        <p14:creationId xmlns:p14="http://schemas.microsoft.com/office/powerpoint/2010/main" val="2402718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4BAF-844F-4377-2A14-9F5D30755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332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Parameter Binding (Rating 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E103A-44D7-F6E9-AB98-B93F4B4BB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7129"/>
            <a:ext cx="10515600" cy="543933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Meta-data driven declarative parameter specification interpreted at runtime</a:t>
            </a:r>
          </a:p>
          <a:p>
            <a:r>
              <a:rPr lang="en-US" dirty="0"/>
              <a:t>The binding algorithm does a parallel search through all of the parameter sets</a:t>
            </a:r>
          </a:p>
          <a:p>
            <a:pPr lvl="1"/>
            <a:r>
              <a:rPr lang="en-US" dirty="0"/>
              <a:t>Uses a 32 bit bitmap to keep track of the still active sets.</a:t>
            </a:r>
          </a:p>
          <a:p>
            <a:pPr lvl="1"/>
            <a:r>
              <a:rPr lang="en-US" dirty="0"/>
              <a:t>At the end of the search there should only be 1 bit set.</a:t>
            </a:r>
          </a:p>
          <a:p>
            <a:r>
              <a:rPr lang="en-US" dirty="0"/>
              <a:t>Does two searches:</a:t>
            </a:r>
          </a:p>
          <a:p>
            <a:pPr lvl="1"/>
            <a:r>
              <a:rPr lang="en-US" dirty="0"/>
              <a:t>First uses direct assignment </a:t>
            </a:r>
          </a:p>
          <a:p>
            <a:pPr lvl="1"/>
            <a:r>
              <a:rPr lang="en-US" dirty="0"/>
              <a:t>Second uses type conversion</a:t>
            </a:r>
          </a:p>
          <a:p>
            <a:pPr lvl="1"/>
            <a:r>
              <a:rPr lang="en-US" dirty="0"/>
              <a:t>This was a hack that lasted 20+ years…</a:t>
            </a:r>
          </a:p>
          <a:p>
            <a:r>
              <a:rPr lang="en-US" dirty="0"/>
              <a:t>Dynamic parameters, ubiquitous parameters all make parameter binding very complicated and slow</a:t>
            </a:r>
          </a:p>
        </p:txBody>
      </p:sp>
    </p:spTree>
    <p:extLst>
      <p:ext uri="{BB962C8B-B14F-4D97-AF65-F5344CB8AC3E}">
        <p14:creationId xmlns:p14="http://schemas.microsoft.com/office/powerpoint/2010/main" val="4073995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53600-AD88-E5D7-6326-AD0B56F4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A34B2-9CFA-EEEC-3423-EE845B771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Pipelining (Rating 3.5/5)</a:t>
            </a:r>
            <a:endParaRPr lang="en-GB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4B65F2-BE80-9E24-1C58-8813DAB5A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1465"/>
            <a:ext cx="10515600" cy="4703868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Traditional shells use one process per command</a:t>
            </a:r>
          </a:p>
          <a:p>
            <a:pPr lvl="1"/>
            <a:r>
              <a:rPr lang="en-GB" dirty="0"/>
              <a:t>This couldn’t work for PowerShell because of the overhead of process creation and, even worse, object de/serialization is expensive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We then considered using threads to implement concurrency, one thread per command but again, lots of overhead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Finally we settled on the single-thread Begin/Process/End approach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NOTE: We made cmdlet pipeline support explicit. You had to design your cmdlet to actively participate in pipeline input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6C94C3-D158-7BC4-10AA-F3F4FCAF27E8}"/>
              </a:ext>
            </a:extLst>
          </p:cNvPr>
          <p:cNvSpPr/>
          <p:nvPr/>
        </p:nvSpPr>
        <p:spPr>
          <a:xfrm flipH="1" flipV="1">
            <a:off x="12191999" y="6858000"/>
            <a:ext cx="548641" cy="43688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2761069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1072-6C29-C047-4488-6F3458AF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015" y="0"/>
            <a:ext cx="9733280" cy="1325563"/>
          </a:xfrm>
        </p:spPr>
        <p:txBody>
          <a:bodyPr>
            <a:noAutofit/>
          </a:bodyPr>
          <a:lstStyle/>
          <a:p>
            <a:r>
              <a:rPr lang="en-US" sz="4000" dirty="0"/>
              <a:t>Streaming and Collections (Rating 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D72D6-F83B-61E7-6030-6C5E164EB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6352"/>
            <a:ext cx="10515600" cy="525928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PowerShell </a:t>
            </a:r>
            <a:r>
              <a:rPr lang="en-US" i="1" dirty="0"/>
              <a:t>streams</a:t>
            </a:r>
            <a:r>
              <a:rPr lang="en-US" dirty="0"/>
              <a:t> everything which means it flattens collections of collections by one level.</a:t>
            </a:r>
          </a:p>
          <a:p>
            <a:r>
              <a:rPr lang="en-US" dirty="0"/>
              <a:t>This makes the most common scenarios really easy but makes some less common ones impossible.</a:t>
            </a:r>
          </a:p>
          <a:p>
            <a:pPr lvl="1"/>
            <a:r>
              <a:rPr lang="en-US" dirty="0"/>
              <a:t>You </a:t>
            </a:r>
            <a:r>
              <a:rPr lang="en-US" i="1" dirty="0"/>
              <a:t>cannot</a:t>
            </a:r>
            <a:r>
              <a:rPr lang="en-US" dirty="0"/>
              <a:t> reliably pass a collection type through PowerShell pipelines.</a:t>
            </a:r>
          </a:p>
          <a:p>
            <a:r>
              <a:rPr lang="en-US" dirty="0" err="1"/>
              <a:t>IEnumerables</a:t>
            </a:r>
            <a:r>
              <a:rPr lang="en-US" dirty="0"/>
              <a:t> as input are messed up. The following turns out to be somewhat evil:</a:t>
            </a:r>
          </a:p>
          <a:p>
            <a:pPr marL="0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[Parameter(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ValueFromPipeline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true)]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public 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PSObject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InputObject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{ get; set; } = 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AutomationNull.Value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r>
              <a:rPr lang="en-US" dirty="0">
                <a:cs typeface="Cascadia Code" panose="020B0609020000020004" pitchFamily="49" charset="0"/>
              </a:rPr>
              <a:t>Arrays are annoying:</a:t>
            </a:r>
          </a:p>
          <a:p>
            <a:pPr lvl="1"/>
            <a:r>
              <a:rPr lang="en-US" dirty="0">
                <a:cs typeface="Cascadia Code" panose="020B0609020000020004" pitchFamily="49" charset="0"/>
              </a:rPr>
              <a:t>No array literals, leading commas are weird.</a:t>
            </a:r>
          </a:p>
          <a:p>
            <a:pPr lvl="1"/>
            <a:r>
              <a:rPr lang="en-US" dirty="0">
                <a:cs typeface="Cascadia Code" panose="020B0609020000020004" pitchFamily="49" charset="0"/>
              </a:rPr>
              <a:t>Too much copying of contents (+= !!!)</a:t>
            </a:r>
          </a:p>
          <a:p>
            <a:r>
              <a:rPr lang="en-US" dirty="0">
                <a:cs typeface="Cascadia Code" panose="020B0609020000020004" pitchFamily="49" charset="0"/>
              </a:rPr>
              <a:t>BUG?  When passing Braid vectors to sort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(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vector 2 1 3 | sort-object) </a:t>
            </a:r>
          </a:p>
          <a:p>
            <a:pPr marL="0" indent="0">
              <a:buNone/>
            </a:pPr>
            <a:r>
              <a:rPr lang="en-US" dirty="0">
                <a:cs typeface="Cascadia Code" panose="020B0609020000020004" pitchFamily="49" charset="0"/>
              </a:rPr>
              <a:t>the vector gets passed as a single element instead of sorting it but</a:t>
            </a:r>
          </a:p>
          <a:p>
            <a:pPr marL="0" indent="0">
              <a:buNone/>
            </a:pPr>
            <a:r>
              <a:rPr lang="en-US" dirty="0">
                <a:cs typeface="Cascadia Code" panose="020B0609020000020004" pitchFamily="49" charset="0"/>
              </a:rPr>
              <a:t> 	</a:t>
            </a:r>
            <a:r>
              <a:rPr lang="en-US" sz="23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3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3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vector 2 1 3 | write-output | sort-object) </a:t>
            </a:r>
            <a:r>
              <a:rPr lang="en-US" dirty="0">
                <a:cs typeface="Cascadia Code" panose="020B0609020000020004" pitchFamily="49" charset="0"/>
              </a:rPr>
              <a:t>works properly.</a:t>
            </a:r>
          </a:p>
        </p:txBody>
      </p:sp>
    </p:spTree>
    <p:extLst>
      <p:ext uri="{BB962C8B-B14F-4D97-AF65-F5344CB8AC3E}">
        <p14:creationId xmlns:p14="http://schemas.microsoft.com/office/powerpoint/2010/main" val="801771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ACCBF-C92C-14A9-531E-CEFE168A7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46" y="-102236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Language Syntax &amp; Quoting (4.8/5)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AD011-15E6-CA5D-E18D-FD732C9E2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120" y="1223327"/>
            <a:ext cx="10515600" cy="531971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Began with </a:t>
            </a:r>
            <a:r>
              <a:rPr lang="en-US" dirty="0" err="1"/>
              <a:t>Posix</a:t>
            </a:r>
            <a:r>
              <a:rPr lang="en-US" dirty="0"/>
              <a:t> Shell (</a:t>
            </a:r>
            <a:r>
              <a:rPr lang="en-US" dirty="0" err="1"/>
              <a:t>ksh</a:t>
            </a:r>
            <a:r>
              <a:rPr lang="en-US" dirty="0"/>
              <a:t>) grammar and Perl for extensions.</a:t>
            </a:r>
          </a:p>
          <a:p>
            <a:pPr lvl="1"/>
            <a:r>
              <a:rPr lang="en-US" dirty="0"/>
              <a:t>Design reset very early on to use (a subset of) C# because we wanted programmers to like PowerShell too.</a:t>
            </a:r>
          </a:p>
          <a:p>
            <a:r>
              <a:rPr lang="en-US" dirty="0"/>
              <a:t>Bimodal parsing: command and expression modes</a:t>
            </a:r>
          </a:p>
          <a:p>
            <a:r>
              <a:rPr lang="en-US" dirty="0"/>
              <a:t>Single and double quoted strings, string expansion, the quote character in strings backtick (`). People don’t like this.</a:t>
            </a:r>
            <a:endParaRPr lang="en-US" i="1" dirty="0"/>
          </a:p>
          <a:p>
            <a:r>
              <a:rPr lang="en-US" dirty="0" err="1"/>
              <a:t>ScriptBlocks</a:t>
            </a:r>
            <a:r>
              <a:rPr lang="en-US" dirty="0"/>
              <a:t>, voidable statements, proxy functions</a:t>
            </a:r>
          </a:p>
          <a:p>
            <a:r>
              <a:rPr lang="en-US" i="1" dirty="0"/>
              <a:t>Splatting hashtables instead of backquote. Humph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11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0197C-3D75-5169-8B75-7C31489E2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Variables and Scoping (4/5)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15442-10A0-3357-D460-93214FE52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Scoping is about what variables your code can see.</a:t>
            </a:r>
          </a:p>
          <a:p>
            <a:r>
              <a:rPr lang="en-US" dirty="0"/>
              <a:t>Lexical Scoping (C#, Braid do this)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where</a:t>
            </a:r>
            <a:r>
              <a:rPr lang="en-US" dirty="0"/>
              <a:t> things are defined</a:t>
            </a:r>
          </a:p>
          <a:p>
            <a:r>
              <a:rPr lang="en-US" dirty="0"/>
              <a:t>Dynamic Scoping (PowerShell does this)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when</a:t>
            </a:r>
            <a:r>
              <a:rPr lang="en-US" dirty="0"/>
              <a:t> things are defined</a:t>
            </a:r>
          </a:p>
          <a:p>
            <a:pPr lvl="1"/>
            <a:r>
              <a:rPr lang="en-US" dirty="0"/>
              <a:t>Supports the configuration shell pattern</a:t>
            </a:r>
          </a:p>
          <a:p>
            <a:r>
              <a:rPr lang="en-US" dirty="0"/>
              <a:t>Module Scoping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how</a:t>
            </a:r>
            <a:r>
              <a:rPr lang="en-US" dirty="0"/>
              <a:t> things are defined</a:t>
            </a:r>
          </a:p>
        </p:txBody>
      </p:sp>
    </p:spTree>
    <p:extLst>
      <p:ext uri="{BB962C8B-B14F-4D97-AF65-F5344CB8AC3E}">
        <p14:creationId xmlns:p14="http://schemas.microsoft.com/office/powerpoint/2010/main" val="1207929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57CEE-C43A-536C-F7A0-00DD1331E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Types and Conversions (Rating 4.5/5)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9C2C7-292E-565A-366A-67A4BEDB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147" y="1554691"/>
            <a:ext cx="10515600" cy="46767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Designed to use a very small set of core types (literals)</a:t>
            </a:r>
          </a:p>
          <a:p>
            <a:pPr lvl="1"/>
            <a:r>
              <a:rPr lang="en-US" dirty="0"/>
              <a:t>Numbers(!), strings, arrays(!) and hashtables</a:t>
            </a:r>
          </a:p>
          <a:p>
            <a:pPr lvl="1"/>
            <a:r>
              <a:rPr lang="en-US" dirty="0"/>
              <a:t>Boolean (true &amp; false)</a:t>
            </a:r>
          </a:p>
          <a:p>
            <a:r>
              <a:rPr lang="en-US" dirty="0"/>
              <a:t>Type notation: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[int] [int[]] [list[int]]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dirty="0"/>
              <a:t>Annoying because type literals only parse in expression mode. It would, for example, be nice to be able to use types as switch cases (could do this with a switch switch)</a:t>
            </a:r>
          </a:p>
          <a:p>
            <a:r>
              <a:rPr lang="en-US" i="1" dirty="0"/>
              <a:t>Safe</a:t>
            </a:r>
            <a:r>
              <a:rPr lang="en-US" dirty="0"/>
              <a:t> </a:t>
            </a:r>
            <a:r>
              <a:rPr lang="en-US" i="1" dirty="0"/>
              <a:t>sane</a:t>
            </a:r>
            <a:r>
              <a:rPr lang="en-US" dirty="0"/>
              <a:t> conversions always </a:t>
            </a:r>
            <a:r>
              <a:rPr lang="en-US" i="1" dirty="0"/>
              <a:t>applied everywhere</a:t>
            </a:r>
          </a:p>
          <a:p>
            <a:pPr lvl="1"/>
            <a:r>
              <a:rPr lang="en-US" dirty="0"/>
              <a:t>No stupid or partial conversions to help prevent data loss.</a:t>
            </a:r>
          </a:p>
          <a:p>
            <a:pPr lvl="1"/>
            <a:r>
              <a:rPr lang="en-US" dirty="0"/>
              <a:t>Is ‘0025’ on the </a:t>
            </a:r>
            <a:r>
              <a:rPr lang="en-US" dirty="0" err="1"/>
              <a:t>cmd</a:t>
            </a:r>
            <a:r>
              <a:rPr lang="en-US" dirty="0"/>
              <a:t> line a string or an integer? </a:t>
            </a:r>
          </a:p>
        </p:txBody>
      </p:sp>
    </p:spTree>
    <p:extLst>
      <p:ext uri="{BB962C8B-B14F-4D97-AF65-F5344CB8AC3E}">
        <p14:creationId xmlns:p14="http://schemas.microsoft.com/office/powerpoint/2010/main" val="4114454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D3F07-AA80-09CF-05F7-C3A07E7BF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39" y="60960"/>
            <a:ext cx="9733280" cy="1053995"/>
          </a:xfrm>
        </p:spPr>
        <p:txBody>
          <a:bodyPr>
            <a:noAutofit/>
          </a:bodyPr>
          <a:lstStyle/>
          <a:p>
            <a:r>
              <a:rPr lang="en-US" sz="4800" dirty="0"/>
              <a:t>Errors &amp; Error Handling (Rating 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1CB23-B442-5C7A-51B9-85E6CE8FF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014" y="975359"/>
            <a:ext cx="10515600" cy="6834293"/>
          </a:xfrm>
        </p:spPr>
        <p:txBody>
          <a:bodyPr>
            <a:normAutofit/>
          </a:bodyPr>
          <a:lstStyle/>
          <a:p>
            <a:r>
              <a:rPr lang="en-US" sz="2800" dirty="0"/>
              <a:t>Multiple error types + error preferences makes the </a:t>
            </a:r>
            <a:r>
              <a:rPr lang="en-US" sz="2800" dirty="0" err="1"/>
              <a:t>behaviour</a:t>
            </a:r>
            <a:r>
              <a:rPr lang="en-US" sz="2800" dirty="0"/>
              <a:t> complicated:</a:t>
            </a:r>
          </a:p>
          <a:p>
            <a:pPr lvl="1"/>
            <a:r>
              <a:rPr lang="en-US" sz="2400" dirty="0"/>
              <a:t>Terminating and non-terminating errors, exceptions, $?, $LASTEXITCODE</a:t>
            </a:r>
          </a:p>
          <a:p>
            <a:pPr lvl="1"/>
            <a:r>
              <a:rPr lang="en-US" sz="2400" dirty="0"/>
              <a:t>Not all Windows commands set the exit code properly</a:t>
            </a:r>
          </a:p>
          <a:p>
            <a:pPr lvl="1"/>
            <a:r>
              <a:rPr lang="en-US" sz="2400" dirty="0"/>
              <a:t>Non-terminating errors allowed the idea of restarting an operation based on the error objects but as far as I know, this is not used</a:t>
            </a:r>
          </a:p>
          <a:p>
            <a:r>
              <a:rPr lang="en-US" sz="2800" dirty="0"/>
              <a:t>Redirection of stderr on Unix-like system</a:t>
            </a:r>
          </a:p>
          <a:p>
            <a:pPr lvl="1"/>
            <a:r>
              <a:rPr lang="en-US" sz="2400" dirty="0"/>
              <a:t>Uses 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stderr</a:t>
            </a:r>
            <a:r>
              <a:rPr lang="en-US" sz="2400" dirty="0"/>
              <a:t> as an alternate data stream, doesn’t work with PowerShell</a:t>
            </a:r>
          </a:p>
          <a:p>
            <a:r>
              <a:rPr lang="en-US" sz="2800" dirty="0"/>
              <a:t>Handling errors and exceptions</a:t>
            </a:r>
          </a:p>
          <a:p>
            <a:pPr lvl="1"/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trap</a:t>
            </a:r>
            <a:r>
              <a:rPr lang="en-US" sz="2400" dirty="0"/>
              <a:t> vs 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try/catch/finally</a:t>
            </a:r>
            <a:r>
              <a:rPr lang="en-US" sz="2400" dirty="0"/>
              <a:t>, IO Redirection, “partial success”</a:t>
            </a:r>
          </a:p>
          <a:p>
            <a:r>
              <a:rPr lang="en-US" sz="2800" dirty="0"/>
              <a:t>A limitation: can’t make errors in scripts work like errors in compiled cmdlets</a:t>
            </a:r>
          </a:p>
        </p:txBody>
      </p:sp>
    </p:spTree>
    <p:extLst>
      <p:ext uri="{BB962C8B-B14F-4D97-AF65-F5344CB8AC3E}">
        <p14:creationId xmlns:p14="http://schemas.microsoft.com/office/powerpoint/2010/main" val="2841342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7FFB-5DBB-DBE8-F513-1CD13F3A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Performance (1/5)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CD60B-8CFF-39B2-0F16-AF74FD620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029"/>
            <a:ext cx="10515600" cy="45969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PowerShell performance is </a:t>
            </a:r>
            <a:r>
              <a:rPr lang="en-US" i="1" dirty="0"/>
              <a:t>bad</a:t>
            </a:r>
            <a:r>
              <a:rPr lang="en-US" dirty="0"/>
              <a:t>. </a:t>
            </a:r>
            <a:r>
              <a:rPr lang="en-US" i="1" dirty="0"/>
              <a:t>Really bad</a:t>
            </a:r>
            <a:r>
              <a:rPr lang="en-US" dirty="0"/>
              <a:t>.</a:t>
            </a:r>
          </a:p>
          <a:p>
            <a:r>
              <a:rPr lang="en-US" i="1" dirty="0"/>
              <a:t>Language</a:t>
            </a:r>
            <a:r>
              <a:rPr lang="en-US" dirty="0"/>
              <a:t> execution was sped up about 10x with the DLR work but…</a:t>
            </a:r>
          </a:p>
          <a:p>
            <a:r>
              <a:rPr lang="en-US" dirty="0"/>
              <a:t>Pretty much everything goes through the pipeline processor</a:t>
            </a:r>
          </a:p>
          <a:p>
            <a:pPr lvl="1"/>
            <a:r>
              <a:rPr lang="en-US" dirty="0"/>
              <a:t>The full parameter binding process happens for </a:t>
            </a:r>
            <a:r>
              <a:rPr lang="en-US" i="1" dirty="0"/>
              <a:t>each</a:t>
            </a:r>
            <a:r>
              <a:rPr lang="en-US" dirty="0"/>
              <a:t> object that’s processed resulting in lots of allocations</a:t>
            </a:r>
          </a:p>
          <a:p>
            <a:pPr lvl="1"/>
            <a:r>
              <a:rPr lang="en-US" dirty="0"/>
              <a:t>Returns a collection of (weak ref) PSObjects resulting in even more unnecessary allocations</a:t>
            </a:r>
          </a:p>
          <a:p>
            <a:r>
              <a:rPr lang="en-US" dirty="0"/>
              <a:t>Recommended: use static methods for perf</a:t>
            </a:r>
          </a:p>
        </p:txBody>
      </p:sp>
    </p:spTree>
    <p:extLst>
      <p:ext uri="{BB962C8B-B14F-4D97-AF65-F5344CB8AC3E}">
        <p14:creationId xmlns:p14="http://schemas.microsoft.com/office/powerpoint/2010/main" val="2327664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AFA3B-5A3F-2D6B-96E6-37B826603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259" y="88833"/>
            <a:ext cx="9733280" cy="1325563"/>
          </a:xfrm>
        </p:spPr>
        <p:txBody>
          <a:bodyPr/>
          <a:lstStyle/>
          <a:p>
            <a:r>
              <a:rPr lang="en-US" dirty="0"/>
              <a:t>More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5AC93-D038-EA0C-EF6F-D3029E9A2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6213"/>
            <a:ext cx="10515600" cy="497969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Domain Specific Vocabularies</a:t>
            </a:r>
          </a:p>
          <a:p>
            <a:pPr lvl="1"/>
            <a:r>
              <a:rPr lang="en-US" dirty="0"/>
              <a:t>vs Domain Specific Languages</a:t>
            </a:r>
          </a:p>
          <a:p>
            <a:r>
              <a:rPr lang="en-US" dirty="0"/>
              <a:t>Presentation Name vs Concrete Name</a:t>
            </a:r>
          </a:p>
          <a:p>
            <a:r>
              <a:rPr lang="en-US" dirty="0"/>
              <a:t>Early-bound Classes</a:t>
            </a:r>
          </a:p>
          <a:p>
            <a:pPr lvl="1"/>
            <a:r>
              <a:rPr lang="en-US" dirty="0"/>
              <a:t>Goal: “Python complete” (but with ‘hidden’ members)</a:t>
            </a:r>
          </a:p>
          <a:p>
            <a:r>
              <a:rPr lang="en-US" dirty="0"/>
              <a:t>Result of *every* statement goes to output</a:t>
            </a:r>
          </a:p>
          <a:p>
            <a:pPr lvl="1"/>
            <a:r>
              <a:rPr lang="en-US" dirty="0"/>
              <a:t>Instead of only the last statement in the block (like Braid)</a:t>
            </a:r>
          </a:p>
          <a:p>
            <a:r>
              <a:rPr lang="en-US" dirty="0"/>
              <a:t>Principle: never automatically turn text into code</a:t>
            </a:r>
          </a:p>
          <a:p>
            <a:pPr lvl="1"/>
            <a:r>
              <a:rPr lang="en-US" dirty="0"/>
              <a:t>Except for $</a:t>
            </a:r>
            <a:r>
              <a:rPr lang="en-US" dirty="0" err="1"/>
              <a:t>function:foo</a:t>
            </a:r>
            <a:r>
              <a:rPr lang="en-US" dirty="0"/>
              <a:t> = ‘$_ * 2’</a:t>
            </a:r>
          </a:p>
          <a:p>
            <a:r>
              <a:rPr lang="en-US" dirty="0"/>
              <a:t>Commands calling commands (splatting, </a:t>
            </a:r>
            <a:r>
              <a:rPr lang="en-US" dirty="0" err="1"/>
              <a:t>PSBoundParameter</a:t>
            </a:r>
            <a:r>
              <a:rPr lang="en-US" dirty="0"/>
              <a:t>)</a:t>
            </a:r>
          </a:p>
          <a:p>
            <a:r>
              <a:rPr lang="en-US" dirty="0"/>
              <a:t>Keywords: filter, trap</a:t>
            </a:r>
          </a:p>
        </p:txBody>
      </p:sp>
    </p:spTree>
    <p:extLst>
      <p:ext uri="{BB962C8B-B14F-4D97-AF65-F5344CB8AC3E}">
        <p14:creationId xmlns:p14="http://schemas.microsoft.com/office/powerpoint/2010/main" val="15402904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070B7-DA44-20F1-785A-475CE8135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314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A Last Tidbit: The </a:t>
            </a:r>
            <a:r>
              <a:rPr lang="en-US" sz="4800" dirty="0" err="1"/>
              <a:t>Minishell</a:t>
            </a:r>
            <a:r>
              <a:rPr lang="en-US" sz="4800" dirty="0"/>
              <a:t> Debacle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A8AC8-F52F-34BB-F0DE-4E3DE8D4C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1771"/>
            <a:ext cx="10515600" cy="478519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During Longhorn/Vista, Windows Core Architecture said “No Extensibility, No Plugins” due to concerns about reliability and versioning.</a:t>
            </a:r>
          </a:p>
          <a:p>
            <a:r>
              <a:rPr lang="en-US" dirty="0"/>
              <a:t>We were going to have </a:t>
            </a:r>
            <a:r>
              <a:rPr lang="en-US" dirty="0" err="1"/>
              <a:t>MiniShells</a:t>
            </a:r>
            <a:r>
              <a:rPr lang="en-US" dirty="0"/>
              <a:t>, each linked with a different set of functionality which would have been a quoting nightmare.</a:t>
            </a:r>
          </a:p>
          <a:p>
            <a:pPr lvl="1"/>
            <a:r>
              <a:rPr lang="en-US" dirty="0" err="1"/>
              <a:t>powershell</a:t>
            </a:r>
            <a:r>
              <a:rPr lang="en-US" dirty="0"/>
              <a:t> { … }</a:t>
            </a:r>
          </a:p>
          <a:p>
            <a:pPr lvl="1"/>
            <a:r>
              <a:rPr lang="en-US" dirty="0" err="1"/>
              <a:t>powershell</a:t>
            </a:r>
            <a:r>
              <a:rPr lang="en-US" dirty="0"/>
              <a:t> –</a:t>
            </a:r>
            <a:r>
              <a:rPr lang="en-US" dirty="0" err="1"/>
              <a:t>EncodedCommand</a:t>
            </a:r>
            <a:r>
              <a:rPr lang="en-US" dirty="0"/>
              <a:t>  XXXXXXXXX</a:t>
            </a:r>
          </a:p>
          <a:p>
            <a:r>
              <a:rPr lang="en-US" dirty="0"/>
              <a:t>The idea sort of evolved into the Windows Compatibility module.</a:t>
            </a:r>
          </a:p>
          <a:p>
            <a:r>
              <a:rPr lang="en-US" dirty="0"/>
              <a:t>Fortunately cooler heads prevailed and we have a </a:t>
            </a:r>
            <a:r>
              <a:rPr lang="en-US" i="1" dirty="0" err="1"/>
              <a:t>SingleShell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56641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9EE56-BFD7-643E-58AE-8DA4F252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9BF18-F830-E004-B22E-C3B423148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Overall rating ~3.6/5</a:t>
            </a:r>
          </a:p>
          <a:p>
            <a:r>
              <a:rPr lang="en-US" dirty="0"/>
              <a:t>There are some rough areas but for the most part I think we did ok.</a:t>
            </a:r>
          </a:p>
          <a:p>
            <a:r>
              <a:rPr lang="en-US" dirty="0"/>
              <a:t>How would you rate things?</a:t>
            </a:r>
          </a:p>
        </p:txBody>
      </p:sp>
    </p:spTree>
    <p:extLst>
      <p:ext uri="{BB962C8B-B14F-4D97-AF65-F5344CB8AC3E}">
        <p14:creationId xmlns:p14="http://schemas.microsoft.com/office/powerpoint/2010/main" val="1312256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C2B4B-CF61-3DC5-6221-F5F99F86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AFF23A2-578F-B7AD-CC96-F1E75AA0FD82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GIVE ME FEEDBACK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D9FEC-D0B6-03AA-2C12-1CA5AE4EB596}"/>
              </a:ext>
            </a:extLst>
          </p:cNvPr>
          <p:cNvSpPr/>
          <p:nvPr/>
        </p:nvSpPr>
        <p:spPr>
          <a:xfrm>
            <a:off x="3831771" y="2046514"/>
            <a:ext cx="3868058" cy="3868058"/>
          </a:xfrm>
          <a:prstGeom prst="rect">
            <a:avLst/>
          </a:prstGeom>
          <a:noFill/>
          <a:ln w="38100">
            <a:solidFill>
              <a:srgbClr val="3B2A47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noFill/>
                <a:prstDash val="dash"/>
              </a:ln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D424B4-E900-F6B6-EAA3-A874A8F70DAC}"/>
              </a:ext>
            </a:extLst>
          </p:cNvPr>
          <p:cNvSpPr txBox="1"/>
          <p:nvPr/>
        </p:nvSpPr>
        <p:spPr>
          <a:xfrm>
            <a:off x="4049486" y="3380378"/>
            <a:ext cx="346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Acumin Pro Black" panose="020B0904020202020204" pitchFamily="34" charset="0"/>
              </a:rPr>
              <a:t>INSERT YOUR SESSION QRCODE HERE</a:t>
            </a:r>
          </a:p>
        </p:txBody>
      </p:sp>
      <p:pic>
        <p:nvPicPr>
          <p:cNvPr id="2" name="Graphique 5">
            <a:extLst>
              <a:ext uri="{FF2B5EF4-FFF2-40B4-BE49-F238E27FC236}">
                <a16:creationId xmlns:a16="http://schemas.microsoft.com/office/drawing/2014/main" id="{8C7569A3-761E-DEAA-1C30-F448FEB7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3433" y="1514958"/>
            <a:ext cx="1679652" cy="1865420"/>
          </a:xfrm>
          <a:prstGeom prst="rect">
            <a:avLst/>
          </a:prstGeom>
        </p:spPr>
      </p:pic>
      <p:pic>
        <p:nvPicPr>
          <p:cNvPr id="10" name="Picture 9" descr="The image depicts a QR code with a star symbol, symbolizing a QR code for a PowerShell design.&#10;&#10;AI-generated content may be incorrect.">
            <a:extLst>
              <a:ext uri="{FF2B5EF4-FFF2-40B4-BE49-F238E27FC236}">
                <a16:creationId xmlns:a16="http://schemas.microsoft.com/office/drawing/2014/main" id="{8FF9D350-C02B-4D72-F486-19716600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781" y="1514958"/>
            <a:ext cx="4635738" cy="461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274605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502FDC476714EB47BD1BE2BFD7B3D" ma:contentTypeVersion="13" ma:contentTypeDescription="Create a new document." ma:contentTypeScope="" ma:versionID="0d4fb5ca5076182280cb93c7d6bdff79">
  <xsd:schema xmlns:xsd="http://www.w3.org/2001/XMLSchema" xmlns:xs="http://www.w3.org/2001/XMLSchema" xmlns:p="http://schemas.microsoft.com/office/2006/metadata/properties" xmlns:ns2="abdc9a1f-962e-4235-838d-61f9c438f4db" xmlns:ns3="de47e97d-64fd-4aef-b10e-fd7d6cfcfcf4" targetNamespace="http://schemas.microsoft.com/office/2006/metadata/properties" ma:root="true" ma:fieldsID="da14a0effa8c0f0120811d0692d695e7" ns2:_="" ns3:_="">
    <xsd:import namespace="abdc9a1f-962e-4235-838d-61f9c438f4db"/>
    <xsd:import namespace="de47e97d-64fd-4aef-b10e-fd7d6cfcfcf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dc9a1f-962e-4235-838d-61f9c438f4d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7e97d-64fd-4aef-b10e-fd7d6cfcfcf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f96598e-1e7b-44ab-a102-458ae76ccdba}" ma:internalName="TaxCatchAll" ma:showField="CatchAllData" ma:web="de47e97d-64fd-4aef-b10e-fd7d6cfcfcf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dc9a1f-962e-4235-838d-61f9c438f4db">
      <Terms xmlns="http://schemas.microsoft.com/office/infopath/2007/PartnerControls"/>
    </lcf76f155ced4ddcb4097134ff3c332f>
    <TaxCatchAll xmlns="de47e97d-64fd-4aef-b10e-fd7d6cfcfcf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38D965-436F-4DCC-97AA-50BEF4F7BE29}">
  <ds:schemaRefs>
    <ds:schemaRef ds:uri="abdc9a1f-962e-4235-838d-61f9c438f4db"/>
    <ds:schemaRef ds:uri="de47e97d-64fd-4aef-b10e-fd7d6cfcfc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A9C06E3-346E-408E-B352-32E922A070CE}">
  <ds:schemaRefs>
    <ds:schemaRef ds:uri="2347cc20-e10c-452d-848a-c18e83138525"/>
    <ds:schemaRef ds:uri="58c243a5-121d-4837-b81c-114e1b569ece"/>
    <ds:schemaRef ds:uri="77f18391-c91f-4725-9130-63caf76c1806"/>
    <ds:schemaRef ds:uri="85c0ce47-fe9c-4809-bf88-519c39a738e6"/>
    <ds:schemaRef ds:uri="abdc9a1f-962e-4235-838d-61f9c438f4db"/>
    <ds:schemaRef ds:uri="de47e97d-64fd-4aef-b10e-fd7d6cfcfcf4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12093</TotalTime>
  <Words>1547</Words>
  <Application>Microsoft Office PowerPoint</Application>
  <PresentationFormat>Widescreen</PresentationFormat>
  <Paragraphs>183</Paragraphs>
  <Slides>25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25</vt:i4>
      </vt:variant>
    </vt:vector>
  </HeadingPairs>
  <TitlesOfParts>
    <vt:vector size="37" baseType="lpstr">
      <vt:lpstr>Acumin Pro Black</vt:lpstr>
      <vt:lpstr>Arial</vt:lpstr>
      <vt:lpstr>Calibri</vt:lpstr>
      <vt:lpstr>Cascadia Code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Designing PowerShell</vt:lpstr>
      <vt:lpstr>PowerPoint Presentation</vt:lpstr>
      <vt:lpstr>Bruce Payette</vt:lpstr>
      <vt:lpstr>Agenda</vt:lpstr>
      <vt:lpstr>High-level PowerShell Design Goals</vt:lpstr>
      <vt:lpstr>In the Beginning</vt:lpstr>
      <vt:lpstr>In the Beginning (cont’d)</vt:lpstr>
      <vt:lpstr>Sessions and Remoting (Rating 4.5/5)</vt:lpstr>
      <vt:lpstr>Parameter Binding (Rating 4/5)</vt:lpstr>
      <vt:lpstr>Pipelining (Rating 3.5/5)</vt:lpstr>
      <vt:lpstr>Streaming and Collections (Rating 3/5)</vt:lpstr>
      <vt:lpstr>Language Syntax &amp; Quoting (4.8/5)</vt:lpstr>
      <vt:lpstr>Variables and Scoping (4/5)</vt:lpstr>
      <vt:lpstr>Types and Conversions (Rating 4.5/5)</vt:lpstr>
      <vt:lpstr>Errors &amp; Error Handling (Rating 3/5)</vt:lpstr>
      <vt:lpstr>Performance (1/5)</vt:lpstr>
      <vt:lpstr>More Stuff</vt:lpstr>
      <vt:lpstr>A Last Tidbit: The Minishell Debacle</vt:lpstr>
      <vt:lpstr>Conclusions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Bruce Payette</cp:lastModifiedBy>
  <cp:revision>339</cp:revision>
  <dcterms:created xsi:type="dcterms:W3CDTF">2024-03-26T13:08:23Z</dcterms:created>
  <dcterms:modified xsi:type="dcterms:W3CDTF">2026-06-02T06:36:28Z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0x010100333502FDC476714EB47BD1BE2BFD7B3D</vt:lpwstr>
  </property>
  <property fmtid="{D5CDD505-2E9C-101B-9397-08002B2CF9AE}" pid="3" name="MediaServiceImageTags">
    <vt:lpwstr/>
  </property>
</Properties>
</file>